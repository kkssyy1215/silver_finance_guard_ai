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55b81f7cea0d4a5a" /><Relationship Type="http://schemas.openxmlformats.org/officeDocument/2006/relationships/extended-properties" Target="/docProps/app.xml" Id="R2af06dc63cd04ee4" /><Relationship Type="http://schemas.openxmlformats.org/officeDocument/2006/relationships/officeDocument" Target="/ppt/presentation.xml" Id="R481b228a4bcd4ad9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298fe249cdf642c4"/>
  </p:sldMasterIdLst>
  <p:notesMasterIdLst>
    <p:notesMasterId xmlns:r="http://schemas.openxmlformats.org/officeDocument/2006/relationships" r:id="R3b0c0d6ed9d444ad"/>
  </p:notesMasterIdLst>
  <p:sldIdLst>
    <p:sldId xmlns:r="http://schemas.openxmlformats.org/officeDocument/2006/relationships" id="256" r:id="R4173092826ce45ab"/>
    <p:sldId xmlns:r="http://schemas.openxmlformats.org/officeDocument/2006/relationships" id="257" r:id="Rdfd45e69d763438a"/>
    <p:sldId xmlns:r="http://schemas.openxmlformats.org/officeDocument/2006/relationships" id="258" r:id="Rb111c55adac84bd6"/>
    <p:sldId xmlns:r="http://schemas.openxmlformats.org/officeDocument/2006/relationships" id="259" r:id="Re84cf6693a874fb6"/>
    <p:sldId xmlns:r="http://schemas.openxmlformats.org/officeDocument/2006/relationships" id="260" r:id="Ra99eeb0aac654899"/>
    <p:sldId xmlns:r="http://schemas.openxmlformats.org/officeDocument/2006/relationships" id="261" r:id="R737f663a052e4c9b"/>
    <p:sldId xmlns:r="http://schemas.openxmlformats.org/officeDocument/2006/relationships" id="262" r:id="R00869394c9784de3"/>
    <p:sldId xmlns:r="http://schemas.openxmlformats.org/officeDocument/2006/relationships" id="263" r:id="Rb25c36b712cd4388"/>
    <p:sldId xmlns:r="http://schemas.openxmlformats.org/officeDocument/2006/relationships" id="264" r:id="R7d902d08b49c411c"/>
    <p:sldId xmlns:r="http://schemas.openxmlformats.org/officeDocument/2006/relationships" id="265" r:id="R5b177d9d998e4f91"/>
    <p:sldId xmlns:r="http://schemas.openxmlformats.org/officeDocument/2006/relationships" id="266" r:id="R66cd05d2f85d453c"/>
    <p:sldId xmlns:r="http://schemas.openxmlformats.org/officeDocument/2006/relationships" id="267" r:id="Rc11c1d0ecdd64259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dc7c2223021849d3" /><Relationship Type="http://schemas.openxmlformats.org/officeDocument/2006/relationships/slideMaster" Target="/ppt/slideMasters/slideMaster1.xml" Id="R298fe249cdf642c4" /><Relationship Type="http://schemas.openxmlformats.org/officeDocument/2006/relationships/notesMaster" Target="/ppt/notesMasters/notesMaster1.xml" Id="R3b0c0d6ed9d444ad" /><Relationship Type="http://schemas.openxmlformats.org/officeDocument/2006/relationships/presProps" Target="/ppt/presProps.xml" Id="Re6d6952fa6d842cb" /><Relationship Type="http://schemas.openxmlformats.org/officeDocument/2006/relationships/tableStyles" Target="/ppt/tableStyles.xml" Id="R3fef57c36b364d2f" /><Relationship Type="http://schemas.openxmlformats.org/officeDocument/2006/relationships/slide" Target="/ppt/slides/slide1.xml" Id="R4173092826ce45ab" /><Relationship Type="http://schemas.openxmlformats.org/officeDocument/2006/relationships/slide" Target="/ppt/slides/slide2.xml" Id="Rdfd45e69d763438a" /><Relationship Type="http://schemas.openxmlformats.org/officeDocument/2006/relationships/slide" Target="/ppt/slides/slide3.xml" Id="Rb111c55adac84bd6" /><Relationship Type="http://schemas.openxmlformats.org/officeDocument/2006/relationships/slide" Target="/ppt/slides/slide4.xml" Id="Re84cf6693a874fb6" /><Relationship Type="http://schemas.openxmlformats.org/officeDocument/2006/relationships/slide" Target="/ppt/slides/slide5.xml" Id="Ra99eeb0aac654899" /><Relationship Type="http://schemas.openxmlformats.org/officeDocument/2006/relationships/slide" Target="/ppt/slides/slide6.xml" Id="R737f663a052e4c9b" /><Relationship Type="http://schemas.openxmlformats.org/officeDocument/2006/relationships/slide" Target="/ppt/slides/slide7.xml" Id="R00869394c9784de3" /><Relationship Type="http://schemas.openxmlformats.org/officeDocument/2006/relationships/slide" Target="/ppt/slides/slide8.xml" Id="Rb25c36b712cd4388" /><Relationship Type="http://schemas.openxmlformats.org/officeDocument/2006/relationships/slide" Target="/ppt/slides/slide9.xml" Id="R7d902d08b49c411c" /><Relationship Type="http://schemas.openxmlformats.org/officeDocument/2006/relationships/slide" Target="/ppt/slides/slide10.xml" Id="R5b177d9d998e4f91" /><Relationship Type="http://schemas.openxmlformats.org/officeDocument/2006/relationships/slide" Target="/ppt/slides/slide11.xml" Id="R66cd05d2f85d453c" /><Relationship Type="http://schemas.openxmlformats.org/officeDocument/2006/relationships/slide" Target="/ppt/slides/slide12.xml" Id="Rc11c1d0ecdd64259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b1f3feb4195244f5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5e609df33634c36" /><Relationship Type="http://schemas.openxmlformats.org/officeDocument/2006/relationships/notesMaster" Target="/ppt/notesMasters/notesMaster1.xml" Id="R40ee7b453e3c4c9f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8aa4672130fb4d51" /><Relationship Type="http://schemas.openxmlformats.org/officeDocument/2006/relationships/notesMaster" Target="/ppt/notesMasters/notesMaster1.xml" Id="R989132fad3044241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0abd8452730c4db3" /><Relationship Type="http://schemas.openxmlformats.org/officeDocument/2006/relationships/notesMaster" Target="/ppt/notesMasters/notesMaster1.xml" Id="Ra640b5d5d2bd4eb4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fa6e9033f6b14d5d" /><Relationship Type="http://schemas.openxmlformats.org/officeDocument/2006/relationships/notesMaster" Target="/ppt/notesMasters/notesMaster1.xml" Id="Rd718543ad1bf4bee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5bf1ea778a294bc0" /><Relationship Type="http://schemas.openxmlformats.org/officeDocument/2006/relationships/notesMaster" Target="/ppt/notesMasters/notesMaster1.xml" Id="R6f32de25537d454f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6c74b82fe5f54e9b" /><Relationship Type="http://schemas.openxmlformats.org/officeDocument/2006/relationships/notesMaster" Target="/ppt/notesMasters/notesMaster1.xml" Id="R1e7be1a4fca14ab6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e5346bb6846b4450" /><Relationship Type="http://schemas.openxmlformats.org/officeDocument/2006/relationships/notesMaster" Target="/ppt/notesMasters/notesMaster1.xml" Id="R68faeebfb0a84c65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99d8f6903e734d53" /><Relationship Type="http://schemas.openxmlformats.org/officeDocument/2006/relationships/notesMaster" Target="/ppt/notesMasters/notesMaster1.xml" Id="R229d96d3d1f9445a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b9645518d9694c3c" /><Relationship Type="http://schemas.openxmlformats.org/officeDocument/2006/relationships/notesMaster" Target="/ppt/notesMasters/notesMaster1.xml" Id="Re7a03b0055c24d37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11bcd65169824df9" /><Relationship Type="http://schemas.openxmlformats.org/officeDocument/2006/relationships/notesMaster" Target="/ppt/notesMasters/notesMaster1.xml" Id="Re96d99a1785d418f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44091e67876c4658" /><Relationship Type="http://schemas.openxmlformats.org/officeDocument/2006/relationships/notesMaster" Target="/ppt/notesMasters/notesMaster1.xml" Id="Re9536e0b692c4f8c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6c4ed9efe77d40e2" /><Relationship Type="http://schemas.openxmlformats.org/officeDocument/2006/relationships/notesMaster" Target="/ppt/notesMasters/notesMaster1.xml" Id="R8915b5831b4d49d0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프로젝트 저장소: https://github.com/kkssyy1215/Silver_Finance_Guard_AI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금융소비자보호법 6대 판매원칙, 금융위원회</a:t>
            </a:r>
          </a:p>
          <a:p xmlns:a="http://schemas.openxmlformats.org/drawingml/2006/main">
            <a:r>
              <a:t>- 금융상품 가입 전 소비자 주의사항, 금융위원회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프로젝트 기능 명세 및 구현 코드: https://github.com/kkssyy1215/Silver_Finance_Guard_AI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프로토타입 사용자 흐름: https://silver-finance-guard-ai.onrender.com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실버 금융가드 AI 프로토타입 화면: https://silver-finance-guard-ai.onrender.com</a:t>
            </a:r>
          </a:p>
          <a:p xmlns:a="http://schemas.openxmlformats.org/drawingml/2006/main">
            <a:r>
              <a:t>- 공정거래위원회 은행 표준약관 3종(2024-09-27)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예금보험공사 착오송금 반환지원제도 FAQ(2024-07-29)</a:t>
            </a:r>
          </a:p>
          <a:p xmlns:a="http://schemas.openxmlformats.org/drawingml/2006/main">
            <a:r>
              <a:t>- 경찰청·금융위원회 보이스피싱 대응 안내</a:t>
            </a:r>
          </a:p>
          <a:p xmlns:a="http://schemas.openxmlformats.org/drawingml/2006/main">
            <a:r>
              <a:t>- 실버 금융가드 AI 프로토타입: https://silver-finance-guard-ai.onrender.com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공공데이터포털 이용허락범위 제한 없음 데이터</a:t>
            </a:r>
          </a:p>
          <a:p xmlns:a="http://schemas.openxmlformats.org/drawingml/2006/main">
            <a:r>
              <a:t>- 금융위원회 금융용어사전</a:t>
            </a:r>
          </a:p>
          <a:p xmlns:a="http://schemas.openxmlformats.org/drawingml/2006/main">
            <a:r>
              <a:t>- 소비자24 상담 사례</a:t>
            </a:r>
          </a:p>
          <a:p xmlns:a="http://schemas.openxmlformats.org/drawingml/2006/main">
            <a:r>
              <a:t>- 한국언론진흥재단 뉴스 빅데이터 메타데이터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구현 코드와 Docker 배포 설정: https://github.com/kkssyy1215/Silver_Finance_Guard_AI</a:t>
            </a:r>
          </a:p>
          <a:p xmlns:a="http://schemas.openxmlformats.org/drawingml/2006/main">
            <a:r>
              <a:t>- 배포 서비스: https://silver-finance-guard-ai.onrender.com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실버 금융가드 AI 고대비 프로토타입: https://silver-finance-guard-ai.onrender.com</a:t>
            </a:r>
          </a:p>
          <a:p xmlns:a="http://schemas.openxmlformats.org/drawingml/2006/main">
            <a:r>
              <a:t>- 웹 접근성 원칙을 참고한 프로젝트 자체 UX 설계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프로젝트 내부 평가표: backend/app/data/evaluation/risk_detection_report.json</a:t>
            </a:r>
          </a:p>
          <a:p xmlns:a="http://schemas.openxmlformats.org/drawingml/2006/main">
            <a:r>
              <a:t>- 프로젝트 자동 테스트 및 npm audit 실행 결과(2026-08-01)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GitHub 저장소: https://github.com/kkssyy1215/Silver_Finance_Guard_AI</a:t>
            </a:r>
          </a:p>
          <a:p xmlns:a="http://schemas.openxmlformats.org/drawingml/2006/main">
            <a:r>
              <a:t>- Render 공개 배포: https://silver-finance-guard-ai.onrender.com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제출용 프로토타입: https://silver-finance-guard-ai.onrender.com</a:t>
            </a:r>
          </a:p>
          <a:p xmlns:a="http://schemas.openxmlformats.org/drawingml/2006/main">
            <a:r>
              <a:t>- 소스 코드: https://github.com/kkssyy1215/Silver_Finance_Guard_AI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37396a5fa1f4e07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90f8a6e2fc804e43" /><Relationship Type="http://schemas.openxmlformats.org/officeDocument/2006/relationships/slideLayout" Target="/ppt/slideLayouts/slideLayout1.xml" Id="Rb3685dccdcb743c1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3685dccdcb743c1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d30ae280591435f" /><Relationship Type="http://schemas.openxmlformats.org/officeDocument/2006/relationships/notesSlide" Target="/ppt/notesSlides/notesSlide1.xml" Id="R99674b88d8ac4b0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8c8cd7e5cf54a19" /><Relationship Type="http://schemas.openxmlformats.org/officeDocument/2006/relationships/notesSlide" Target="/ppt/notesSlides/notesSlide2.xml" Id="R4a64e3d978574957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d210f7a54164ac8" /><Relationship Type="http://schemas.openxmlformats.org/officeDocument/2006/relationships/notesSlide" Target="/ppt/notesSlides/notesSlide3.xml" Id="Re900c61aca66478f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6b8e8519db74f1f" /><Relationship Type="http://schemas.openxmlformats.org/officeDocument/2006/relationships/notesSlide" Target="/ppt/notesSlides/notesSlide4.xml" Id="R0f99ecdd62a7469b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eda042de84b4892" /><Relationship Type="http://schemas.openxmlformats.org/officeDocument/2006/relationships/image" Target="/ppt/media/image.jpeg" Id="R9d127540e1734322" /><Relationship Type="http://schemas.openxmlformats.org/officeDocument/2006/relationships/notesSlide" Target="/ppt/notesSlides/notesSlide5.xml" Id="R8d5f61a94bf746f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bae425651ae4be5" /><Relationship Type="http://schemas.openxmlformats.org/officeDocument/2006/relationships/image" Target="/ppt/media/image2.jpeg" Id="R3fbfa4b189ce4555" /><Relationship Type="http://schemas.openxmlformats.org/officeDocument/2006/relationships/notesSlide" Target="/ppt/notesSlides/notesSlide6.xml" Id="Raa17569178bd49ad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43184b9c57a429d" /><Relationship Type="http://schemas.openxmlformats.org/officeDocument/2006/relationships/notesSlide" Target="/ppt/notesSlides/notesSlide7.xml" Id="Rf35450bf852e4480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cf26f0ed8b34e9c" /><Relationship Type="http://schemas.openxmlformats.org/officeDocument/2006/relationships/notesSlide" Target="/ppt/notesSlides/notesSlide8.xml" Id="R84caa30886244695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28098e9b6de4381" /><Relationship Type="http://schemas.openxmlformats.org/officeDocument/2006/relationships/image" Target="/ppt/media/image3.jpeg" Id="R432f5aa79fec44ba" /><Relationship Type="http://schemas.openxmlformats.org/officeDocument/2006/relationships/notesSlide" Target="/ppt/notesSlides/notesSlide9.xml" Id="R1c96add4ef8b4d02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b343412041e44c3" /><Relationship Type="http://schemas.openxmlformats.org/officeDocument/2006/relationships/notesSlide" Target="/ppt/notesSlides/notesSlide10.xml" Id="Ra6d06e555b164a3e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f1cb42579484055" /><Relationship Type="http://schemas.openxmlformats.org/officeDocument/2006/relationships/notesSlide" Target="/ppt/notesSlides/notesSlide11.xml" Id="R64c3b0b582494113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68358a088fd47b1" /><Relationship Type="http://schemas.openxmlformats.org/officeDocument/2006/relationships/notesSlide" Target="/ppt/notesSlides/notesSlide12.xml" Id="Rf0545761a4454fbd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cover-kicker">
            <a:extLst xmlns:a="http://schemas.openxmlformats.org/drawingml/2006/main">
              <a:ext uri="{FF2B5EF4-FFF2-40B4-BE49-F238E27FC236}">
                <a16:creationId xmlns:a16="http://schemas.microsoft.com/office/drawing/2014/main" id="{2084A6FD-C41D-42B1-8E03-061D70A59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19100"/>
            <a:ext cx="619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B6B57"/>
                </a:solidFill>
                <a:latin typeface="Nanum Gothic"/>
                <a:ea typeface="Nanum Gothic"/>
                <a:cs typeface="Nanum Gothic"/>
              </a:defRPr>
            </a:pPr>
            <a:r>
              <a:rPr sz="1350" b="1">
                <a:solidFill>
                  <a:srgbClr val="0B6B57"/>
                </a:solidFill>
                <a:latin typeface="Nanum Gothic"/>
                <a:ea typeface="Nanum Gothic"/>
                <a:cs typeface="Nanum Gothic"/>
              </a:rPr>
              <a:t>KB AI CHALLENGE · 기술설명서</a:t>
            </a:r>
          </a:p>
        </p:txBody>
      </p:sp>
      <p:sp>
        <p:nvSpPr>
          <p:cNvPr id="2" name="cover-title">
            <a:extLst xmlns:a="http://schemas.openxmlformats.org/drawingml/2006/main">
              <a:ext uri="{FF2B5EF4-FFF2-40B4-BE49-F238E27FC236}">
                <a16:creationId xmlns:a16="http://schemas.microsoft.com/office/drawing/2014/main" id="{101ADB9B-EB91-4275-923E-082267BD9E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714500"/>
            <a:ext cx="81915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5550" b="1">
                <a:solidFill>
                  <a:srgbClr val="111820"/>
                </a:solidFill>
                <a:latin typeface="Nanum Gothic"/>
                <a:ea typeface="Nanum Gothic"/>
                <a:cs typeface="Nanum Gothic"/>
              </a:defRPr>
            </a:pPr>
            <a:r>
              <a:rPr sz="5550" b="1">
                <a:solidFill>
                  <a:srgbClr val="111820"/>
                </a:solidFill>
                <a:latin typeface="Nanum Gothic"/>
                <a:ea typeface="Nanum Gothic"/>
                <a:cs typeface="Nanum Gothic"/>
              </a:rPr>
              <a:t>실버 금융가드 AI</a:t>
            </a:r>
          </a:p>
        </p:txBody>
      </p:sp>
      <p:sp>
        <p:nvSpPr>
          <p:cNvPr id="3" name="cover-subtitle">
            <a:extLst xmlns:a="http://schemas.openxmlformats.org/drawingml/2006/main">
              <a:ext uri="{FF2B5EF4-FFF2-40B4-BE49-F238E27FC236}">
                <a16:creationId xmlns:a16="http://schemas.microsoft.com/office/drawing/2014/main" id="{2B37B931-4523-4002-BE5F-A091591BD5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952750"/>
            <a:ext cx="80962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625" b="0">
                <a:solidFill>
                  <a:srgbClr val="111820"/>
                </a:solidFill>
                <a:latin typeface="Nanum Gothic"/>
                <a:ea typeface="Nanum Gothic"/>
                <a:cs typeface="Nanum Gothic"/>
              </a:defRPr>
            </a:pPr>
            <a:r>
              <a:rPr sz="2625" b="0">
                <a:solidFill>
                  <a:srgbClr val="111820"/>
                </a:solidFill>
                <a:latin typeface="Nanum Gothic"/>
                <a:ea typeface="Nanum Gothic"/>
                <a:cs typeface="Nanum Gothic"/>
              </a:rPr>
              <a:t>가입 전 위험은 미리 찾고,</a:t>
            </a:r>
          </a:p>
          <a:p xmlns:a="http://schemas.openxmlformats.org/drawingml/2006/main">
            <a:pPr algn="l">
              <a:defRPr sz="2625" b="0">
                <a:solidFill>
                  <a:srgbClr val="111820"/>
                </a:solidFill>
                <a:latin typeface="Nanum Gothic"/>
                <a:ea typeface="Nanum Gothic"/>
                <a:cs typeface="Nanum Gothic"/>
              </a:defRPr>
            </a:pPr>
            <a:r>
              <a:rPr sz="2625" b="0">
                <a:solidFill>
                  <a:srgbClr val="111820"/>
                </a:solidFill>
                <a:latin typeface="Nanum Gothic"/>
                <a:ea typeface="Nanum Gothic"/>
                <a:cs typeface="Nanum Gothic"/>
              </a:rPr>
              <a:t>금융사고는 골든타임 안에 대응합니다.</a:t>
            </a:r>
          </a:p>
        </p:txBody>
      </p:sp>
      <p:sp>
        <p:nvSpPr>
          <p:cNvPr id="4" name="cover-accent">
            <a:extLst xmlns:a="http://schemas.openxmlformats.org/drawingml/2006/main">
              <a:ext uri="{FF2B5EF4-FFF2-40B4-BE49-F238E27FC236}">
                <a16:creationId xmlns:a16="http://schemas.microsoft.com/office/drawing/2014/main" id="{25BDF02C-9344-49DB-8AC0-E2295EE94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0"/>
            <a:ext cx="2667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4A7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cover-vertical">
            <a:extLst xmlns:a="http://schemas.openxmlformats.org/drawingml/2006/main">
              <a:ext uri="{FF2B5EF4-FFF2-40B4-BE49-F238E27FC236}">
                <a16:creationId xmlns:a16="http://schemas.microsoft.com/office/drawing/2014/main" id="{D59B0E3D-8DE2-4339-B471-FC5576E068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1952625"/>
            <a:ext cx="200025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2250" b="1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PREVENT</a:t>
            </a:r>
          </a:p>
          <a:p xmlns:a="http://schemas.openxmlformats.org/drawingml/2006/main">
            <a:pPr algn="ctr">
              <a:defRPr sz="2250" b="1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2250" b="1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RESPOND</a:t>
            </a:r>
          </a:p>
          <a:p xmlns:a="http://schemas.openxmlformats.org/drawingml/2006/main">
            <a:pPr algn="ctr">
              <a:defRPr sz="2250" b="1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2250" b="1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PROTECT</a:t>
            </a:r>
          </a:p>
        </p:txBody>
      </p:sp>
      <p:sp>
        <p:nvSpPr>
          <p:cNvPr id="6" name="cover-date">
            <a:extLst xmlns:a="http://schemas.openxmlformats.org/drawingml/2006/main">
              <a:ext uri="{FF2B5EF4-FFF2-40B4-BE49-F238E27FC236}">
                <a16:creationId xmlns:a16="http://schemas.microsoft.com/office/drawing/2014/main" id="{65743A83-1B66-46DD-A6FA-574E6CF34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096000"/>
            <a:ext cx="190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8636F"/>
                </a:solidFill>
                <a:latin typeface="Nanum Gothic"/>
                <a:ea typeface="Nanum Gothic"/>
                <a:cs typeface="Nanum Gothic"/>
              </a:defRPr>
            </a:pPr>
            <a:r>
              <a:rPr sz="1200" b="0">
                <a:solidFill>
                  <a:srgbClr val="58636F"/>
                </a:solidFill>
                <a:latin typeface="Nanum Gothic"/>
                <a:ea typeface="Nanum Gothic"/>
                <a:cs typeface="Nanum Gothic"/>
              </a:rPr>
              <a:t>2026.08.01</a:t>
            </a:r>
          </a:p>
        </p:txBody>
      </p:sp>
    </p:spTree>
    <p:extLst>
      <p:ext uri="{BB962C8B-B14F-4D97-AF65-F5344CB8AC3E}">
        <p14:creationId xmlns:p14="http://schemas.microsoft.com/office/powerpoint/2010/main" val="314009091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kicker-2">
            <a:extLst xmlns:a="http://schemas.openxmlformats.org/drawingml/2006/main">
              <a:ext uri="{FF2B5EF4-FFF2-40B4-BE49-F238E27FC236}">
                <a16:creationId xmlns:a16="http://schemas.microsoft.com/office/drawing/2014/main" id="{C754E391-E604-429C-BF1D-2FFC87080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857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B6B57"/>
                </a:solidFill>
                <a:latin typeface="Nanum Gothic"/>
                <a:ea typeface="Nanum Gothic"/>
                <a:cs typeface="Nanum Gothic"/>
              </a:defRPr>
            </a:pPr>
            <a:r>
              <a:rPr sz="1125" b="1">
                <a:solidFill>
                  <a:srgbClr val="0B6B57"/>
                </a:solidFill>
                <a:latin typeface="Nanum Gothic"/>
                <a:ea typeface="Nanum Gothic"/>
                <a:cs typeface="Nanum Gothic"/>
              </a:rPr>
              <a:t>문제 정의와 필요성</a:t>
            </a:r>
          </a:p>
        </p:txBody>
      </p:sp>
      <p:sp>
        <p:nvSpPr>
          <p:cNvPr id="2" name="title-2">
            <a:extLst xmlns:a="http://schemas.openxmlformats.org/drawingml/2006/main">
              <a:ext uri="{FF2B5EF4-FFF2-40B4-BE49-F238E27FC236}">
                <a16:creationId xmlns:a16="http://schemas.microsoft.com/office/drawing/2014/main" id="{930DF209-78FD-42EC-83FB-CB95D9164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28650"/>
            <a:ext cx="10668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525" b="1">
                <a:solidFill>
                  <a:srgbClr val="111820"/>
                </a:solidFill>
                <a:latin typeface="Nanum Gothic"/>
                <a:ea typeface="Nanum Gothic"/>
                <a:cs typeface="Nanum Gothic"/>
              </a:defRPr>
            </a:pPr>
            <a:r>
              <a:rPr sz="3525" b="1">
                <a:solidFill>
                  <a:srgbClr val="111820"/>
                </a:solidFill>
                <a:latin typeface="Nanum Gothic"/>
                <a:ea typeface="Nanum Gothic"/>
                <a:cs typeface="Nanum Gothic"/>
              </a:rPr>
              <a:t>금융 피해는 이해하지 못한 순간부터 시작됩니다</a:t>
            </a:r>
          </a:p>
        </p:txBody>
      </p:sp>
      <p:cxnSp>
        <p:nvCxnSpPr>
          <p:cNvPr id="17" name="rule-2"/>
          <p:cNvCxnSpPr/>
          <p:nvPr/>
        </p:nvCxnSpPr>
        <p:spPr>
          <a:xfrm xmlns:a="http://schemas.openxmlformats.org/drawingml/2006/main">
            <a:off x="495300" y="1333500"/>
            <a:ext cx="112014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8CDD3"/>
            </a:solidFill>
            <a:prstDash val="solid"/>
          </a:ln>
        </p:spPr>
      </p:cxnSp>
      <p:sp>
        <p:nvSpPr>
          <p:cNvPr id="4" name="page-2">
            <a:extLst xmlns:a="http://schemas.openxmlformats.org/drawingml/2006/main">
              <a:ext uri="{FF2B5EF4-FFF2-40B4-BE49-F238E27FC236}">
                <a16:creationId xmlns:a16="http://schemas.microsoft.com/office/drawing/2014/main" id="{0E11BA64-21EC-41E0-B064-A464B020C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381750"/>
            <a:ext cx="419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8636F"/>
                </a:solidFill>
                <a:latin typeface="Nanum Gothic"/>
                <a:ea typeface="Nanum Gothic"/>
                <a:cs typeface="Nanum Gothic"/>
              </a:defRPr>
            </a:pPr>
            <a:r>
              <a:rPr sz="975" b="0">
                <a:solidFill>
                  <a:srgbClr val="58636F"/>
                </a:solidFill>
                <a:latin typeface="Nanum Gothic"/>
                <a:ea typeface="Nanum Gothic"/>
                <a:cs typeface="Nanum Gothic"/>
              </a:rPr>
              <a:t>02</a:t>
            </a:r>
          </a:p>
        </p:txBody>
      </p:sp>
      <p:sp>
        <p:nvSpPr>
          <p:cNvPr id="5" name="problem-num-0">
            <a:extLst xmlns:a="http://schemas.openxmlformats.org/drawingml/2006/main">
              <a:ext uri="{FF2B5EF4-FFF2-40B4-BE49-F238E27FC236}">
                <a16:creationId xmlns:a16="http://schemas.microsoft.com/office/drawing/2014/main" id="{03569CF1-BD19-41C2-BB72-34DF4C3AC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952625"/>
            <a:ext cx="762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750" b="1">
                <a:solidFill>
                  <a:srgbClr val="1B4A73"/>
                </a:solidFill>
                <a:latin typeface="Nanum Gothic"/>
                <a:ea typeface="Nanum Gothic"/>
                <a:cs typeface="Nanum Gothic"/>
              </a:defRPr>
            </a:pPr>
            <a:r>
              <a:rPr sz="3750" b="1">
                <a:solidFill>
                  <a:srgbClr val="1B4A73"/>
                </a:solidFill>
                <a:latin typeface="Nanum Gothic"/>
                <a:ea typeface="Nanum Gothic"/>
                <a:cs typeface="Nanum Gothic"/>
              </a:rPr>
              <a:t>01</a:t>
            </a:r>
          </a:p>
        </p:txBody>
      </p:sp>
      <p:sp>
        <p:nvSpPr>
          <p:cNvPr id="6" name="problem-title-0">
            <a:extLst xmlns:a="http://schemas.openxmlformats.org/drawingml/2006/main">
              <a:ext uri="{FF2B5EF4-FFF2-40B4-BE49-F238E27FC236}">
                <a16:creationId xmlns:a16="http://schemas.microsoft.com/office/drawing/2014/main" id="{FEBC00ED-08D4-4794-8D53-1B42A4C64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724150"/>
            <a:ext cx="285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11820"/>
                </a:solidFill>
                <a:latin typeface="Nanum Gothic"/>
                <a:ea typeface="Nanum Gothic"/>
                <a:cs typeface="Nanum Gothic"/>
              </a:defRPr>
            </a:pPr>
            <a:r>
              <a:rPr sz="2025" b="1">
                <a:solidFill>
                  <a:srgbClr val="111820"/>
                </a:solidFill>
                <a:latin typeface="Nanum Gothic"/>
                <a:ea typeface="Nanum Gothic"/>
                <a:cs typeface="Nanum Gothic"/>
              </a:rPr>
              <a:t>가입 전</a:t>
            </a:r>
          </a:p>
        </p:txBody>
      </p:sp>
      <p:sp>
        <p:nvSpPr>
          <p:cNvPr id="7" name="problem-copy-0">
            <a:extLst xmlns:a="http://schemas.openxmlformats.org/drawingml/2006/main">
              <a:ext uri="{FF2B5EF4-FFF2-40B4-BE49-F238E27FC236}">
                <a16:creationId xmlns:a16="http://schemas.microsoft.com/office/drawing/2014/main" id="{00E35522-CE4C-4F94-A7CA-7B6F2BD5B6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257550"/>
            <a:ext cx="30480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8636F"/>
                </a:solidFill>
                <a:latin typeface="Nanum Gothic"/>
                <a:ea typeface="Nanum Gothic"/>
                <a:cs typeface="Nanum Gothic"/>
              </a:defRPr>
            </a:pPr>
            <a:r>
              <a:rPr sz="1725" b="0">
                <a:solidFill>
                  <a:srgbClr val="58636F"/>
                </a:solidFill>
                <a:latin typeface="Nanum Gothic"/>
                <a:ea typeface="Nanum Gothic"/>
                <a:cs typeface="Nanum Gothic"/>
              </a:rPr>
              <a:t>긴 약관과 어려운 용어 때문에</a:t>
            </a:r>
          </a:p>
          <a:p xmlns:a="http://schemas.openxmlformats.org/drawingml/2006/main">
            <a:pPr algn="l">
              <a:defRPr sz="1725" b="0">
                <a:solidFill>
                  <a:srgbClr val="58636F"/>
                </a:solidFill>
                <a:latin typeface="Nanum Gothic"/>
                <a:ea typeface="Nanum Gothic"/>
                <a:cs typeface="Nanum Gothic"/>
              </a:defRPr>
            </a:pPr>
            <a:r>
              <a:rPr sz="1725" b="0">
                <a:solidFill>
                  <a:srgbClr val="58636F"/>
                </a:solidFill>
                <a:latin typeface="Nanum Gothic"/>
                <a:ea typeface="Nanum Gothic"/>
                <a:cs typeface="Nanum Gothic"/>
              </a:rPr>
              <a:t>불리한 조건을 놓칩니다.</a:t>
            </a:r>
          </a:p>
        </p:txBody>
      </p:sp>
      <p:sp>
        <p:nvSpPr>
          <p:cNvPr id="8" name="problem-num-1">
            <a:extLst xmlns:a="http://schemas.openxmlformats.org/drawingml/2006/main">
              <a:ext uri="{FF2B5EF4-FFF2-40B4-BE49-F238E27FC236}">
                <a16:creationId xmlns:a16="http://schemas.microsoft.com/office/drawing/2014/main" id="{C21F61FF-1887-42FA-920B-E557F1E26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05275" y="1952625"/>
            <a:ext cx="762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750" b="1">
                <a:solidFill>
                  <a:srgbClr val="1B4A73"/>
                </a:solidFill>
                <a:latin typeface="Nanum Gothic"/>
                <a:ea typeface="Nanum Gothic"/>
                <a:cs typeface="Nanum Gothic"/>
              </a:defRPr>
            </a:pPr>
            <a:r>
              <a:rPr sz="3750" b="1">
                <a:solidFill>
                  <a:srgbClr val="1B4A73"/>
                </a:solidFill>
                <a:latin typeface="Nanum Gothic"/>
                <a:ea typeface="Nanum Gothic"/>
                <a:cs typeface="Nanum Gothic"/>
              </a:rPr>
              <a:t>02</a:t>
            </a:r>
          </a:p>
        </p:txBody>
      </p:sp>
      <p:sp>
        <p:nvSpPr>
          <p:cNvPr id="9" name="problem-title-1">
            <a:extLst xmlns:a="http://schemas.openxmlformats.org/drawingml/2006/main">
              <a:ext uri="{FF2B5EF4-FFF2-40B4-BE49-F238E27FC236}">
                <a16:creationId xmlns:a16="http://schemas.microsoft.com/office/drawing/2014/main" id="{470CAABC-AE91-4099-ACCC-8BF856655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05275" y="2724150"/>
            <a:ext cx="285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11820"/>
                </a:solidFill>
                <a:latin typeface="Nanum Gothic"/>
                <a:ea typeface="Nanum Gothic"/>
                <a:cs typeface="Nanum Gothic"/>
              </a:defRPr>
            </a:pPr>
            <a:r>
              <a:rPr sz="2025" b="1">
                <a:solidFill>
                  <a:srgbClr val="111820"/>
                </a:solidFill>
                <a:latin typeface="Nanum Gothic"/>
                <a:ea typeface="Nanum Gothic"/>
                <a:cs typeface="Nanum Gothic"/>
              </a:rPr>
              <a:t>상담 중</a:t>
            </a:r>
          </a:p>
        </p:txBody>
      </p:sp>
      <p:sp>
        <p:nvSpPr>
          <p:cNvPr id="10" name="problem-copy-1">
            <a:extLst xmlns:a="http://schemas.openxmlformats.org/drawingml/2006/main">
              <a:ext uri="{FF2B5EF4-FFF2-40B4-BE49-F238E27FC236}">
                <a16:creationId xmlns:a16="http://schemas.microsoft.com/office/drawing/2014/main" id="{4D0DC0AD-D450-4C26-A1D7-84C14D2C4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05275" y="3257550"/>
            <a:ext cx="30480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8636F"/>
                </a:solidFill>
                <a:latin typeface="Nanum Gothic"/>
                <a:ea typeface="Nanum Gothic"/>
                <a:cs typeface="Nanum Gothic"/>
              </a:defRPr>
            </a:pPr>
            <a:r>
              <a:rPr sz="1725" b="0">
                <a:solidFill>
                  <a:srgbClr val="58636F"/>
                </a:solidFill>
                <a:latin typeface="Nanum Gothic"/>
                <a:ea typeface="Nanum Gothic"/>
                <a:cs typeface="Nanum Gothic"/>
              </a:rPr>
              <a:t>설명 누락과 과장 표현을</a:t>
            </a:r>
          </a:p>
          <a:p xmlns:a="http://schemas.openxmlformats.org/drawingml/2006/main">
            <a:pPr algn="l">
              <a:defRPr sz="1725" b="0">
                <a:solidFill>
                  <a:srgbClr val="58636F"/>
                </a:solidFill>
                <a:latin typeface="Nanum Gothic"/>
                <a:ea typeface="Nanum Gothic"/>
                <a:cs typeface="Nanum Gothic"/>
              </a:defRPr>
            </a:pPr>
            <a:r>
              <a:rPr sz="1725" b="0">
                <a:solidFill>
                  <a:srgbClr val="58636F"/>
                </a:solidFill>
                <a:latin typeface="Nanum Gothic"/>
                <a:ea typeface="Nanum Gothic"/>
                <a:cs typeface="Nanum Gothic"/>
              </a:rPr>
              <a:t>그 자리에서 판단하기 어렵습니다.</a:t>
            </a:r>
          </a:p>
        </p:txBody>
      </p:sp>
      <p:sp>
        <p:nvSpPr>
          <p:cNvPr id="11" name="problem-num-2">
            <a:extLst xmlns:a="http://schemas.openxmlformats.org/drawingml/2006/main">
              <a:ext uri="{FF2B5EF4-FFF2-40B4-BE49-F238E27FC236}">
                <a16:creationId xmlns:a16="http://schemas.microsoft.com/office/drawing/2014/main" id="{57DAC384-13B8-4710-ABE7-B29C84FE5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1952625"/>
            <a:ext cx="762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750" b="1">
                <a:solidFill>
                  <a:srgbClr val="B53225"/>
                </a:solidFill>
                <a:latin typeface="Nanum Gothic"/>
                <a:ea typeface="Nanum Gothic"/>
                <a:cs typeface="Nanum Gothic"/>
              </a:defRPr>
            </a:pPr>
            <a:r>
              <a:rPr sz="3750" b="1">
                <a:solidFill>
                  <a:srgbClr val="B53225"/>
                </a:solidFill>
                <a:latin typeface="Nanum Gothic"/>
                <a:ea typeface="Nanum Gothic"/>
                <a:cs typeface="Nanum Gothic"/>
              </a:rPr>
              <a:t>03</a:t>
            </a:r>
          </a:p>
        </p:txBody>
      </p:sp>
      <p:sp>
        <p:nvSpPr>
          <p:cNvPr id="12" name="problem-title-2">
            <a:extLst xmlns:a="http://schemas.openxmlformats.org/drawingml/2006/main">
              <a:ext uri="{FF2B5EF4-FFF2-40B4-BE49-F238E27FC236}">
                <a16:creationId xmlns:a16="http://schemas.microsoft.com/office/drawing/2014/main" id="{DCCAE0EE-6F0D-4EB6-B3BD-6C0A050F3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2724150"/>
            <a:ext cx="285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11820"/>
                </a:solidFill>
                <a:latin typeface="Nanum Gothic"/>
                <a:ea typeface="Nanum Gothic"/>
                <a:cs typeface="Nanum Gothic"/>
              </a:defRPr>
            </a:pPr>
            <a:r>
              <a:rPr sz="2025" b="1">
                <a:solidFill>
                  <a:srgbClr val="111820"/>
                </a:solidFill>
                <a:latin typeface="Nanum Gothic"/>
                <a:ea typeface="Nanum Gothic"/>
                <a:cs typeface="Nanum Gothic"/>
              </a:rPr>
              <a:t>사고 직후</a:t>
            </a:r>
          </a:p>
        </p:txBody>
      </p:sp>
      <p:sp>
        <p:nvSpPr>
          <p:cNvPr id="13" name="problem-copy-2">
            <a:extLst xmlns:a="http://schemas.openxmlformats.org/drawingml/2006/main">
              <a:ext uri="{FF2B5EF4-FFF2-40B4-BE49-F238E27FC236}">
                <a16:creationId xmlns:a16="http://schemas.microsoft.com/office/drawing/2014/main" id="{9B130FE4-BA73-447C-8749-AB6E46E0C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3257550"/>
            <a:ext cx="30480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8636F"/>
                </a:solidFill>
                <a:latin typeface="Nanum Gothic"/>
                <a:ea typeface="Nanum Gothic"/>
                <a:cs typeface="Nanum Gothic"/>
              </a:defRPr>
            </a:pPr>
            <a:r>
              <a:rPr sz="1725" b="0">
                <a:solidFill>
                  <a:srgbClr val="58636F"/>
                </a:solidFill>
                <a:latin typeface="Nanum Gothic"/>
                <a:ea typeface="Nanum Gothic"/>
                <a:cs typeface="Nanum Gothic"/>
              </a:rPr>
              <a:t>당황한 상태에서 신고 순서와</a:t>
            </a:r>
          </a:p>
          <a:p xmlns:a="http://schemas.openxmlformats.org/drawingml/2006/main">
            <a:pPr algn="l">
              <a:defRPr sz="1725" b="0">
                <a:solidFill>
                  <a:srgbClr val="58636F"/>
                </a:solidFill>
                <a:latin typeface="Nanum Gothic"/>
                <a:ea typeface="Nanum Gothic"/>
                <a:cs typeface="Nanum Gothic"/>
              </a:defRPr>
            </a:pPr>
            <a:r>
              <a:rPr sz="1725" b="0">
                <a:solidFill>
                  <a:srgbClr val="58636F"/>
                </a:solidFill>
                <a:latin typeface="Nanum Gothic"/>
                <a:ea typeface="Nanum Gothic"/>
                <a:cs typeface="Nanum Gothic"/>
              </a:rPr>
              <a:t>필요 서류를 찾느라 시간을 잃습니다.</a:t>
            </a:r>
          </a:p>
        </p:txBody>
      </p:sp>
      <p:sp>
        <p:nvSpPr>
          <p:cNvPr id="14" name="problem-thesis">
            <a:extLst xmlns:a="http://schemas.openxmlformats.org/drawingml/2006/main">
              <a:ext uri="{FF2B5EF4-FFF2-40B4-BE49-F238E27FC236}">
                <a16:creationId xmlns:a16="http://schemas.microsoft.com/office/drawing/2014/main" id="{8A1B3FE9-1186-47C9-8EC2-F95822919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334000"/>
            <a:ext cx="11049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0B6B57"/>
                </a:solidFill>
                <a:latin typeface="Nanum Gothic"/>
                <a:ea typeface="Nanum Gothic"/>
                <a:cs typeface="Nanum Gothic"/>
              </a:defRPr>
            </a:pPr>
            <a:r>
              <a:rPr sz="2025" b="1">
                <a:solidFill>
                  <a:srgbClr val="0B6B57"/>
                </a:solidFill>
                <a:latin typeface="Nanum Gothic"/>
                <a:ea typeface="Nanum Gothic"/>
                <a:cs typeface="Nanum Gothic"/>
              </a:rPr>
              <a:t>고령층에게 필요한 것은 더 많은 정보가 아니라, 지금 이해하고 바로 행동할 수 있는 안내입니다.</a:t>
            </a:r>
          </a:p>
        </p:txBody>
      </p:sp>
    </p:spTree>
    <p:extLst>
      <p:ext uri="{BB962C8B-B14F-4D97-AF65-F5344CB8AC3E}">
        <p14:creationId xmlns:p14="http://schemas.microsoft.com/office/powerpoint/2010/main" val="880200405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kicker-3">
            <a:extLst xmlns:a="http://schemas.openxmlformats.org/drawingml/2006/main">
              <a:ext uri="{FF2B5EF4-FFF2-40B4-BE49-F238E27FC236}">
                <a16:creationId xmlns:a16="http://schemas.microsoft.com/office/drawing/2014/main" id="{CFDD3F0D-A95A-4E73-AEDB-54D80E1C3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857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B6B57"/>
                </a:solidFill>
                <a:latin typeface="Nanum Gothic"/>
                <a:ea typeface="Nanum Gothic"/>
                <a:cs typeface="Nanum Gothic"/>
              </a:defRPr>
            </a:pPr>
            <a:r>
              <a:rPr sz="1125" b="1">
                <a:solidFill>
                  <a:srgbClr val="0B6B57"/>
                </a:solidFill>
                <a:latin typeface="Nanum Gothic"/>
                <a:ea typeface="Nanum Gothic"/>
                <a:cs typeface="Nanum Gothic"/>
              </a:rPr>
              <a:t>아이디어의 창의성 및 효과</a:t>
            </a:r>
          </a:p>
        </p:txBody>
      </p:sp>
      <p:sp>
        <p:nvSpPr>
          <p:cNvPr id="2" name="title-3">
            <a:extLst xmlns:a="http://schemas.openxmlformats.org/drawingml/2006/main">
              <a:ext uri="{FF2B5EF4-FFF2-40B4-BE49-F238E27FC236}">
                <a16:creationId xmlns:a16="http://schemas.microsoft.com/office/drawing/2014/main" id="{E616FA51-F2DB-4FA8-8B80-0A522F43E2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28650"/>
            <a:ext cx="10668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525" b="1">
                <a:solidFill>
                  <a:srgbClr val="111820"/>
                </a:solidFill>
                <a:latin typeface="Nanum Gothic"/>
                <a:ea typeface="Nanum Gothic"/>
                <a:cs typeface="Nanum Gothic"/>
              </a:defRPr>
            </a:pPr>
            <a:r>
              <a:rPr sz="3525" b="1">
                <a:solidFill>
                  <a:srgbClr val="111820"/>
                </a:solidFill>
                <a:latin typeface="Nanum Gothic"/>
                <a:ea typeface="Nanum Gothic"/>
                <a:cs typeface="Nanum Gothic"/>
              </a:rPr>
              <a:t>예방과 대응을 한 흐름으로 연결했습니다</a:t>
            </a:r>
          </a:p>
        </p:txBody>
      </p:sp>
      <p:cxnSp>
        <p:nvCxnSpPr>
          <p:cNvPr id="16" name="rule-3"/>
          <p:cNvCxnSpPr/>
          <p:nvPr/>
        </p:nvCxnSpPr>
        <p:spPr>
          <a:xfrm xmlns:a="http://schemas.openxmlformats.org/drawingml/2006/main">
            <a:off x="495300" y="1333500"/>
            <a:ext cx="112014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8CDD3"/>
            </a:solidFill>
            <a:prstDash val="solid"/>
          </a:ln>
        </p:spPr>
      </p:cxnSp>
      <p:sp>
        <p:nvSpPr>
          <p:cNvPr id="4" name="page-3">
            <a:extLst xmlns:a="http://schemas.openxmlformats.org/drawingml/2006/main">
              <a:ext uri="{FF2B5EF4-FFF2-40B4-BE49-F238E27FC236}">
                <a16:creationId xmlns:a16="http://schemas.microsoft.com/office/drawing/2014/main" id="{5FCF0F19-C02D-43D4-BC36-958089C44B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381750"/>
            <a:ext cx="419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8636F"/>
                </a:solidFill>
                <a:latin typeface="Nanum Gothic"/>
                <a:ea typeface="Nanum Gothic"/>
                <a:cs typeface="Nanum Gothic"/>
              </a:defRPr>
            </a:pPr>
            <a:r>
              <a:rPr sz="975" b="0">
                <a:solidFill>
                  <a:srgbClr val="58636F"/>
                </a:solidFill>
                <a:latin typeface="Nanum Gothic"/>
                <a:ea typeface="Nanum Gothic"/>
                <a:cs typeface="Nanum Gothic"/>
              </a:rPr>
              <a:t>03</a:t>
            </a:r>
          </a:p>
        </p:txBody>
      </p:sp>
      <p:sp>
        <p:nvSpPr>
          <p:cNvPr id="5" name="thesis-left">
            <a:extLst xmlns:a="http://schemas.openxmlformats.org/drawingml/2006/main">
              <a:ext uri="{FF2B5EF4-FFF2-40B4-BE49-F238E27FC236}">
                <a16:creationId xmlns:a16="http://schemas.microsoft.com/office/drawing/2014/main" id="{FE06C853-1B7F-4024-BDDB-7AA81F2C4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952625"/>
            <a:ext cx="4972050" cy="3124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2F8"/>
          </a:solidFill>
          <a:ln xmlns:a="http://schemas.openxmlformats.org/drawingml/2006/main" w="9525">
            <a:solidFill>
              <a:srgbClr val="1B4A73"/>
            </a:solidFill>
            <a:prstDash val="solid"/>
          </a:ln>
        </p:spPr>
      </p:sp>
      <p:sp>
        <p:nvSpPr>
          <p:cNvPr id="6" name="thesis-right">
            <a:extLst xmlns:a="http://schemas.openxmlformats.org/drawingml/2006/main">
              <a:ext uri="{FF2B5EF4-FFF2-40B4-BE49-F238E27FC236}">
                <a16:creationId xmlns:a16="http://schemas.microsoft.com/office/drawing/2014/main" id="{A5933002-CF3F-4A41-8666-E52561D2F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1952625"/>
            <a:ext cx="4972050" cy="3124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1F2"/>
          </a:solidFill>
          <a:ln xmlns:a="http://schemas.openxmlformats.org/drawingml/2006/main" w="9525">
            <a:solidFill>
              <a:srgbClr val="C8CDD3"/>
            </a:solidFill>
            <a:prstDash val="solid"/>
          </a:ln>
        </p:spPr>
      </p:sp>
      <p:sp>
        <p:nvSpPr>
          <p:cNvPr id="7" name="thesis-left-title">
            <a:extLst xmlns:a="http://schemas.openxmlformats.org/drawingml/2006/main">
              <a:ext uri="{FF2B5EF4-FFF2-40B4-BE49-F238E27FC236}">
                <a16:creationId xmlns:a16="http://schemas.microsoft.com/office/drawing/2014/main" id="{C798A3AE-82E6-42CB-A780-CFDF1AB3C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333625"/>
            <a:ext cx="400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475" b="1">
                <a:solidFill>
                  <a:srgbClr val="1B4A73"/>
                </a:solidFill>
                <a:latin typeface="Nanum Gothic"/>
                <a:ea typeface="Nanum Gothic"/>
                <a:cs typeface="Nanum Gothic"/>
              </a:defRPr>
            </a:pPr>
            <a:r>
              <a:rPr sz="2475" b="1">
                <a:solidFill>
                  <a:srgbClr val="1B4A73"/>
                </a:solidFill>
                <a:latin typeface="Nanum Gothic"/>
                <a:ea typeface="Nanum Gothic"/>
                <a:cs typeface="Nanum Gothic"/>
              </a:rPr>
              <a:t>가입 전 예방</a:t>
            </a:r>
          </a:p>
        </p:txBody>
      </p:sp>
      <p:sp>
        <p:nvSpPr>
          <p:cNvPr id="8" name="thesis-left-body">
            <a:extLst xmlns:a="http://schemas.openxmlformats.org/drawingml/2006/main">
              <a:ext uri="{FF2B5EF4-FFF2-40B4-BE49-F238E27FC236}">
                <a16:creationId xmlns:a16="http://schemas.microsoft.com/office/drawing/2014/main" id="{AA8C0225-8274-41EB-B94E-B227127B66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048000"/>
            <a:ext cx="409575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111820"/>
                </a:solidFill>
                <a:latin typeface="Nanum Gothic"/>
                <a:ea typeface="Nanum Gothic"/>
                <a:cs typeface="Nanum Gothic"/>
              </a:defRPr>
            </a:pPr>
            <a:r>
              <a:rPr sz="1950" b="0">
                <a:solidFill>
                  <a:srgbClr val="111820"/>
                </a:solidFill>
                <a:latin typeface="Nanum Gothic"/>
                <a:ea typeface="Nanum Gothic"/>
                <a:cs typeface="Nanum Gothic"/>
              </a:rPr>
              <a:t>약관·문자·상담 내용을 읽고</a:t>
            </a:r>
          </a:p>
          <a:p xmlns:a="http://schemas.openxmlformats.org/drawingml/2006/main">
            <a:pPr algn="l">
              <a:defRPr sz="1950" b="0">
                <a:solidFill>
                  <a:srgbClr val="111820"/>
                </a:solidFill>
                <a:latin typeface="Nanum Gothic"/>
                <a:ea typeface="Nanum Gothic"/>
                <a:cs typeface="Nanum Gothic"/>
              </a:defRPr>
            </a:pPr>
            <a:r>
              <a:rPr sz="1950" b="0">
                <a:solidFill>
                  <a:srgbClr val="111820"/>
                </a:solidFill>
                <a:latin typeface="Nanum Gothic"/>
                <a:ea typeface="Nanum Gothic"/>
                <a:cs typeface="Nanum Gothic"/>
              </a:rPr>
              <a:t>위험 표현, 이유, 확인 질문을</a:t>
            </a:r>
          </a:p>
          <a:p xmlns:a="http://schemas.openxmlformats.org/drawingml/2006/main">
            <a:pPr algn="l">
              <a:defRPr sz="1950" b="0">
                <a:solidFill>
                  <a:srgbClr val="111820"/>
                </a:solidFill>
                <a:latin typeface="Nanum Gothic"/>
                <a:ea typeface="Nanum Gothic"/>
                <a:cs typeface="Nanum Gothic"/>
              </a:defRPr>
            </a:pPr>
            <a:r>
              <a:rPr sz="1950" b="0">
                <a:solidFill>
                  <a:srgbClr val="111820"/>
                </a:solidFill>
                <a:latin typeface="Nanum Gothic"/>
                <a:ea typeface="Nanum Gothic"/>
                <a:cs typeface="Nanum Gothic"/>
              </a:rPr>
              <a:t>한 화면에서 보여줍니다.</a:t>
            </a:r>
          </a:p>
        </p:txBody>
      </p:sp>
      <p:sp>
        <p:nvSpPr>
          <p:cNvPr id="9" name="thesis-right-title">
            <a:extLst xmlns:a="http://schemas.openxmlformats.org/drawingml/2006/main">
              <a:ext uri="{FF2B5EF4-FFF2-40B4-BE49-F238E27FC236}">
                <a16:creationId xmlns:a16="http://schemas.microsoft.com/office/drawing/2014/main" id="{E70068E6-0C92-4030-91F7-4A39B89CF0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38975" y="2333625"/>
            <a:ext cx="400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475" b="1">
                <a:solidFill>
                  <a:srgbClr val="B53225"/>
                </a:solidFill>
                <a:latin typeface="Nanum Gothic"/>
                <a:ea typeface="Nanum Gothic"/>
                <a:cs typeface="Nanum Gothic"/>
              </a:defRPr>
            </a:pPr>
            <a:r>
              <a:rPr sz="2475" b="1">
                <a:solidFill>
                  <a:srgbClr val="B53225"/>
                </a:solidFill>
                <a:latin typeface="Nanum Gothic"/>
                <a:ea typeface="Nanum Gothic"/>
                <a:cs typeface="Nanum Gothic"/>
              </a:rPr>
              <a:t>사고 후 대응</a:t>
            </a:r>
          </a:p>
        </p:txBody>
      </p:sp>
      <p:sp>
        <p:nvSpPr>
          <p:cNvPr id="10" name="thesis-right-body">
            <a:extLst xmlns:a="http://schemas.openxmlformats.org/drawingml/2006/main">
              <a:ext uri="{FF2B5EF4-FFF2-40B4-BE49-F238E27FC236}">
                <a16:creationId xmlns:a16="http://schemas.microsoft.com/office/drawing/2014/main" id="{5E5742D0-2266-47F6-A55D-42DF6D4BC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38975" y="3048000"/>
            <a:ext cx="419100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111820"/>
                </a:solidFill>
                <a:latin typeface="Nanum Gothic"/>
                <a:ea typeface="Nanum Gothic"/>
                <a:cs typeface="Nanum Gothic"/>
              </a:defRPr>
            </a:pPr>
            <a:r>
              <a:rPr sz="1950" b="0">
                <a:solidFill>
                  <a:srgbClr val="111820"/>
                </a:solidFill>
                <a:latin typeface="Nanum Gothic"/>
                <a:ea typeface="Nanum Gothic"/>
                <a:cs typeface="Nanum Gothic"/>
              </a:rPr>
              <a:t>착오송금·보이스피싱 상황을 분류하고</a:t>
            </a:r>
          </a:p>
          <a:p xmlns:a="http://schemas.openxmlformats.org/drawingml/2006/main">
            <a:pPr algn="l">
              <a:defRPr sz="1950" b="0">
                <a:solidFill>
                  <a:srgbClr val="111820"/>
                </a:solidFill>
                <a:latin typeface="Nanum Gothic"/>
                <a:ea typeface="Nanum Gothic"/>
                <a:cs typeface="Nanum Gothic"/>
              </a:defRPr>
            </a:pPr>
            <a:r>
              <a:rPr sz="1950" b="0">
                <a:solidFill>
                  <a:srgbClr val="111820"/>
                </a:solidFill>
                <a:latin typeface="Nanum Gothic"/>
                <a:ea typeface="Nanum Gothic"/>
                <a:cs typeface="Nanum Gothic"/>
              </a:rPr>
              <a:t>전화, 행동 순서, 증빙, 민원 초안을</a:t>
            </a:r>
          </a:p>
          <a:p xmlns:a="http://schemas.openxmlformats.org/drawingml/2006/main">
            <a:pPr algn="l">
              <a:defRPr sz="1950" b="0">
                <a:solidFill>
                  <a:srgbClr val="111820"/>
                </a:solidFill>
                <a:latin typeface="Nanum Gothic"/>
                <a:ea typeface="Nanum Gothic"/>
                <a:cs typeface="Nanum Gothic"/>
              </a:defRPr>
            </a:pPr>
            <a:r>
              <a:rPr sz="1950" b="0">
                <a:solidFill>
                  <a:srgbClr val="111820"/>
                </a:solidFill>
                <a:latin typeface="Nanum Gothic"/>
                <a:ea typeface="Nanum Gothic"/>
                <a:cs typeface="Nanum Gothic"/>
              </a:rPr>
              <a:t>골든타임 기준으로 안내합니다.</a:t>
            </a:r>
          </a:p>
        </p:txBody>
      </p:sp>
      <p:cxnSp>
        <p:nvCxnSpPr>
          <p:cNvPr id="24" name="thesis-bridge"/>
          <p:cNvCxnSpPr/>
          <p:nvPr/>
        </p:nvCxnSpPr>
        <p:spPr>
          <a:xfrm xmlns:a="http://schemas.openxmlformats.org/drawingml/2006/main">
            <a:off x="5476875" y="3505200"/>
            <a:ext cx="1190625" cy="0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rgbClr val="0B6B57"/>
            </a:solidFill>
            <a:prstDash val="solid"/>
          </a:ln>
        </p:spPr>
      </p:cxnSp>
      <p:sp>
        <p:nvSpPr>
          <p:cNvPr id="12" name="thesis-bridge-text">
            <a:extLst xmlns:a="http://schemas.openxmlformats.org/drawingml/2006/main">
              <a:ext uri="{FF2B5EF4-FFF2-40B4-BE49-F238E27FC236}">
                <a16:creationId xmlns:a16="http://schemas.microsoft.com/office/drawing/2014/main" id="{CB1C93DA-A540-416E-BC86-8E7D4735B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24475" y="3810000"/>
            <a:ext cx="152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B6B57"/>
                </a:solidFill>
                <a:latin typeface="Nanum Gothic"/>
                <a:ea typeface="Nanum Gothic"/>
                <a:cs typeface="Nanum Gothic"/>
              </a:defRPr>
            </a:pPr>
            <a:r>
              <a:rPr sz="1500" b="1">
                <a:solidFill>
                  <a:srgbClr val="0B6B57"/>
                </a:solidFill>
                <a:latin typeface="Nanum Gothic"/>
                <a:ea typeface="Nanum Gothic"/>
                <a:cs typeface="Nanum Gothic"/>
              </a:rPr>
              <a:t>보호자 공유</a:t>
            </a:r>
          </a:p>
        </p:txBody>
      </p:sp>
      <p:sp>
        <p:nvSpPr>
          <p:cNvPr id="13" name="thesis-summary">
            <a:extLst xmlns:a="http://schemas.openxmlformats.org/drawingml/2006/main">
              <a:ext uri="{FF2B5EF4-FFF2-40B4-BE49-F238E27FC236}">
                <a16:creationId xmlns:a16="http://schemas.microsoft.com/office/drawing/2014/main" id="{7E214E5E-D7B4-46E6-B542-A931270AF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505450"/>
            <a:ext cx="111918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820"/>
                </a:solidFill>
                <a:latin typeface="Nanum Gothic"/>
                <a:ea typeface="Nanum Gothic"/>
                <a:cs typeface="Nanum Gothic"/>
              </a:defRPr>
            </a:pPr>
            <a:r>
              <a:rPr sz="1800" b="1">
                <a:solidFill>
                  <a:srgbClr val="111820"/>
                </a:solidFill>
                <a:latin typeface="Nanum Gothic"/>
                <a:ea typeface="Nanum Gothic"/>
                <a:cs typeface="Nanum Gothic"/>
              </a:rPr>
              <a:t>차별점: 피해 이후의 민원 도우미에 머물지 않고, 가입 전 경고부터 사고 후 권리구제까지 이어집니다.</a:t>
            </a:r>
          </a:p>
        </p:txBody>
      </p:sp>
    </p:spTree>
    <p:extLst>
      <p:ext uri="{BB962C8B-B14F-4D97-AF65-F5344CB8AC3E}">
        <p14:creationId xmlns:p14="http://schemas.microsoft.com/office/powerpoint/2010/main" val="153579359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kicker-4">
            <a:extLst xmlns:a="http://schemas.openxmlformats.org/drawingml/2006/main">
              <a:ext uri="{FF2B5EF4-FFF2-40B4-BE49-F238E27FC236}">
                <a16:creationId xmlns:a16="http://schemas.microsoft.com/office/drawing/2014/main" id="{E10EC891-3938-4D99-8770-43B18E13E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857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B6B57"/>
                </a:solidFill>
                <a:latin typeface="Nanum Gothic"/>
                <a:ea typeface="Nanum Gothic"/>
                <a:cs typeface="Nanum Gothic"/>
              </a:defRPr>
            </a:pPr>
            <a:r>
              <a:rPr sz="1125" b="1">
                <a:solidFill>
                  <a:srgbClr val="0B6B57"/>
                </a:solidFill>
                <a:latin typeface="Nanum Gothic"/>
                <a:ea typeface="Nanum Gothic"/>
                <a:cs typeface="Nanum Gothic"/>
              </a:rPr>
              <a:t>사용 흐름</a:t>
            </a:r>
          </a:p>
        </p:txBody>
      </p:sp>
      <p:sp>
        <p:nvSpPr>
          <p:cNvPr id="2" name="title-4">
            <a:extLst xmlns:a="http://schemas.openxmlformats.org/drawingml/2006/main">
              <a:ext uri="{FF2B5EF4-FFF2-40B4-BE49-F238E27FC236}">
                <a16:creationId xmlns:a16="http://schemas.microsoft.com/office/drawing/2014/main" id="{41D35927-2ECC-4ECA-A628-DDCF7EB00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28650"/>
            <a:ext cx="10668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525" b="1">
                <a:solidFill>
                  <a:srgbClr val="111820"/>
                </a:solidFill>
                <a:latin typeface="Nanum Gothic"/>
                <a:ea typeface="Nanum Gothic"/>
                <a:cs typeface="Nanum Gothic"/>
              </a:defRPr>
            </a:pPr>
            <a:r>
              <a:rPr sz="3525" b="1">
                <a:solidFill>
                  <a:srgbClr val="111820"/>
                </a:solidFill>
                <a:latin typeface="Nanum Gothic"/>
                <a:ea typeface="Nanum Gothic"/>
                <a:cs typeface="Nanum Gothic"/>
              </a:rPr>
              <a:t>어르신은 세 단계만 따라가면 됩니다</a:t>
            </a:r>
          </a:p>
        </p:txBody>
      </p:sp>
      <p:cxnSp>
        <p:nvCxnSpPr>
          <p:cNvPr id="18" name="rule-4"/>
          <p:cNvCxnSpPr/>
          <p:nvPr/>
        </p:nvCxnSpPr>
        <p:spPr>
          <a:xfrm xmlns:a="http://schemas.openxmlformats.org/drawingml/2006/main">
            <a:off x="495300" y="1333500"/>
            <a:ext cx="112014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8CDD3"/>
            </a:solidFill>
            <a:prstDash val="solid"/>
          </a:ln>
        </p:spPr>
      </p:cxnSp>
      <p:sp>
        <p:nvSpPr>
          <p:cNvPr id="4" name="page-4">
            <a:extLst xmlns:a="http://schemas.openxmlformats.org/drawingml/2006/main">
              <a:ext uri="{FF2B5EF4-FFF2-40B4-BE49-F238E27FC236}">
                <a16:creationId xmlns:a16="http://schemas.microsoft.com/office/drawing/2014/main" id="{9D28F354-CE69-4DDF-B2FE-13F858CD8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381750"/>
            <a:ext cx="419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8636F"/>
                </a:solidFill>
                <a:latin typeface="Nanum Gothic"/>
                <a:ea typeface="Nanum Gothic"/>
                <a:cs typeface="Nanum Gothic"/>
              </a:defRPr>
            </a:pPr>
            <a:r>
              <a:rPr sz="975" b="0">
                <a:solidFill>
                  <a:srgbClr val="58636F"/>
                </a:solidFill>
                <a:latin typeface="Nanum Gothic"/>
                <a:ea typeface="Nanum Gothic"/>
                <a:cs typeface="Nanum Gothic"/>
              </a:rPr>
              <a:t>04</a:t>
            </a:r>
          </a:p>
        </p:txBody>
      </p:sp>
      <p:cxnSp>
        <p:nvCxnSpPr>
          <p:cNvPr id="20" name="journey-line"/>
          <p:cNvCxnSpPr/>
          <p:nvPr/>
        </p:nvCxnSpPr>
        <p:spPr>
          <a:xfrm xmlns:a="http://schemas.openxmlformats.org/drawingml/2006/main">
            <a:off x="1143000" y="3333750"/>
            <a:ext cx="97155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11820"/>
            </a:solidFill>
            <a:prstDash val="solid"/>
          </a:ln>
        </p:spPr>
      </p:cxnSp>
      <p:sp>
        <p:nvSpPr>
          <p:cNvPr id="6" name="journey-dot-0">
            <a:extLst xmlns:a="http://schemas.openxmlformats.org/drawingml/2006/main">
              <a:ext uri="{FF2B5EF4-FFF2-40B4-BE49-F238E27FC236}">
                <a16:creationId xmlns:a16="http://schemas.microsoft.com/office/drawing/2014/main" id="{08980402-B85B-4A3F-9590-E1D98A5B1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209925"/>
            <a:ext cx="247650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4A7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journey-label-0">
            <a:extLst xmlns:a="http://schemas.openxmlformats.org/drawingml/2006/main">
              <a:ext uri="{FF2B5EF4-FFF2-40B4-BE49-F238E27FC236}">
                <a16:creationId xmlns:a16="http://schemas.microsoft.com/office/drawing/2014/main" id="{CEF6F216-EA01-4B23-A847-1B4B3EEFB5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333625"/>
            <a:ext cx="2381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11820"/>
                </a:solidFill>
                <a:latin typeface="Nanum Gothic"/>
                <a:ea typeface="Nanum Gothic"/>
                <a:cs typeface="Nanum Gothic"/>
              </a:defRPr>
            </a:pPr>
            <a:r>
              <a:rPr sz="2325" b="1">
                <a:solidFill>
                  <a:srgbClr val="111820"/>
                </a:solidFill>
                <a:latin typeface="Nanum Gothic"/>
                <a:ea typeface="Nanum Gothic"/>
                <a:cs typeface="Nanum Gothic"/>
              </a:rPr>
              <a:t>1. 넣기</a:t>
            </a:r>
          </a:p>
        </p:txBody>
      </p:sp>
      <p:sp>
        <p:nvSpPr>
          <p:cNvPr id="8" name="journey-body-0">
            <a:extLst xmlns:a="http://schemas.openxmlformats.org/drawingml/2006/main">
              <a:ext uri="{FF2B5EF4-FFF2-40B4-BE49-F238E27FC236}">
                <a16:creationId xmlns:a16="http://schemas.microsoft.com/office/drawing/2014/main" id="{CE5231BF-1951-4BD4-84AE-CA018EEBF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810000"/>
            <a:ext cx="271462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8636F"/>
                </a:solidFill>
                <a:latin typeface="Nanum Gothic"/>
                <a:ea typeface="Nanum Gothic"/>
                <a:cs typeface="Nanum Gothic"/>
              </a:defRPr>
            </a:pPr>
            <a:r>
              <a:rPr sz="1800" b="0">
                <a:solidFill>
                  <a:srgbClr val="58636F"/>
                </a:solidFill>
                <a:latin typeface="Nanum Gothic"/>
                <a:ea typeface="Nanum Gothic"/>
                <a:cs typeface="Nanum Gothic"/>
              </a:rPr>
              <a:t>사진·PDF·문자·음성</a:t>
            </a:r>
          </a:p>
        </p:txBody>
      </p:sp>
      <p:sp>
        <p:nvSpPr>
          <p:cNvPr id="9" name="journey-dot-1">
            <a:extLst xmlns:a="http://schemas.openxmlformats.org/drawingml/2006/main">
              <a:ext uri="{FF2B5EF4-FFF2-40B4-BE49-F238E27FC236}">
                <a16:creationId xmlns:a16="http://schemas.microsoft.com/office/drawing/2014/main" id="{237BD84A-6CD4-4C03-B67E-9CDF35A7B8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209925"/>
            <a:ext cx="247650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4A7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journey-label-1">
            <a:extLst xmlns:a="http://schemas.openxmlformats.org/drawingml/2006/main">
              <a:ext uri="{FF2B5EF4-FFF2-40B4-BE49-F238E27FC236}">
                <a16:creationId xmlns:a16="http://schemas.microsoft.com/office/drawing/2014/main" id="{3E2A9780-2512-415A-9E7C-75DFBA15A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2333625"/>
            <a:ext cx="2381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11820"/>
                </a:solidFill>
                <a:latin typeface="Nanum Gothic"/>
                <a:ea typeface="Nanum Gothic"/>
                <a:cs typeface="Nanum Gothic"/>
              </a:defRPr>
            </a:pPr>
            <a:r>
              <a:rPr sz="2325" b="1">
                <a:solidFill>
                  <a:srgbClr val="111820"/>
                </a:solidFill>
                <a:latin typeface="Nanum Gothic"/>
                <a:ea typeface="Nanum Gothic"/>
                <a:cs typeface="Nanum Gothic"/>
              </a:rPr>
              <a:t>2. 이해하기</a:t>
            </a:r>
          </a:p>
        </p:txBody>
      </p:sp>
      <p:sp>
        <p:nvSpPr>
          <p:cNvPr id="11" name="journey-body-1">
            <a:extLst xmlns:a="http://schemas.openxmlformats.org/drawingml/2006/main">
              <a:ext uri="{FF2B5EF4-FFF2-40B4-BE49-F238E27FC236}">
                <a16:creationId xmlns:a16="http://schemas.microsoft.com/office/drawing/2014/main" id="{35EAB282-5C06-4C34-AD75-83B12328CB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810000"/>
            <a:ext cx="271462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8636F"/>
                </a:solidFill>
                <a:latin typeface="Nanum Gothic"/>
                <a:ea typeface="Nanum Gothic"/>
                <a:cs typeface="Nanum Gothic"/>
              </a:defRPr>
            </a:pPr>
            <a:r>
              <a:rPr sz="1800" b="0">
                <a:solidFill>
                  <a:srgbClr val="58636F"/>
                </a:solidFill>
                <a:latin typeface="Nanum Gothic"/>
                <a:ea typeface="Nanum Gothic"/>
                <a:cs typeface="Nanum Gothic"/>
              </a:rPr>
              <a:t>쉬운 말·위험 이유·질문</a:t>
            </a:r>
          </a:p>
        </p:txBody>
      </p:sp>
      <p:sp>
        <p:nvSpPr>
          <p:cNvPr id="12" name="journey-dot-2">
            <a:extLst xmlns:a="http://schemas.openxmlformats.org/drawingml/2006/main">
              <a:ext uri="{FF2B5EF4-FFF2-40B4-BE49-F238E27FC236}">
                <a16:creationId xmlns:a16="http://schemas.microsoft.com/office/drawing/2014/main" id="{2590E23F-9938-4996-AEA8-2464456A0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209925"/>
            <a:ext cx="247650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5322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journey-label-2">
            <a:extLst xmlns:a="http://schemas.openxmlformats.org/drawingml/2006/main">
              <a:ext uri="{FF2B5EF4-FFF2-40B4-BE49-F238E27FC236}">
                <a16:creationId xmlns:a16="http://schemas.microsoft.com/office/drawing/2014/main" id="{6036C4B4-46B3-4FEC-8177-F51E0640E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333625"/>
            <a:ext cx="2381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11820"/>
                </a:solidFill>
                <a:latin typeface="Nanum Gothic"/>
                <a:ea typeface="Nanum Gothic"/>
                <a:cs typeface="Nanum Gothic"/>
              </a:defRPr>
            </a:pPr>
            <a:r>
              <a:rPr sz="2325" b="1">
                <a:solidFill>
                  <a:srgbClr val="111820"/>
                </a:solidFill>
                <a:latin typeface="Nanum Gothic"/>
                <a:ea typeface="Nanum Gothic"/>
                <a:cs typeface="Nanum Gothic"/>
              </a:rPr>
              <a:t>3. 행동하기</a:t>
            </a:r>
          </a:p>
        </p:txBody>
      </p:sp>
      <p:sp>
        <p:nvSpPr>
          <p:cNvPr id="14" name="journey-body-2">
            <a:extLst xmlns:a="http://schemas.openxmlformats.org/drawingml/2006/main">
              <a:ext uri="{FF2B5EF4-FFF2-40B4-BE49-F238E27FC236}">
                <a16:creationId xmlns:a16="http://schemas.microsoft.com/office/drawing/2014/main" id="{FFE21553-C627-410A-9DD3-ADEB6CA79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810000"/>
            <a:ext cx="271462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8636F"/>
                </a:solidFill>
                <a:latin typeface="Nanum Gothic"/>
                <a:ea typeface="Nanum Gothic"/>
                <a:cs typeface="Nanum Gothic"/>
              </a:defRPr>
            </a:pPr>
            <a:r>
              <a:rPr sz="1800" b="0">
                <a:solidFill>
                  <a:srgbClr val="58636F"/>
                </a:solidFill>
                <a:latin typeface="Nanum Gothic"/>
                <a:ea typeface="Nanum Gothic"/>
                <a:cs typeface="Nanum Gothic"/>
              </a:rPr>
              <a:t>전화·서류·민원·공유</a:t>
            </a:r>
          </a:p>
        </p:txBody>
      </p:sp>
      <p:sp>
        <p:nvSpPr>
          <p:cNvPr id="15" name="journey-note">
            <a:extLst xmlns:a="http://schemas.openxmlformats.org/drawingml/2006/main">
              <a:ext uri="{FF2B5EF4-FFF2-40B4-BE49-F238E27FC236}">
                <a16:creationId xmlns:a16="http://schemas.microsoft.com/office/drawing/2014/main" id="{80BB8372-96AE-4C0D-932D-F9F798B67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476875"/>
            <a:ext cx="11144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0B6B57"/>
                </a:solidFill>
                <a:latin typeface="Nanum Gothic"/>
                <a:ea typeface="Nanum Gothic"/>
                <a:cs typeface="Nanum Gothic"/>
              </a:defRPr>
            </a:pPr>
            <a:r>
              <a:rPr sz="1875" b="1">
                <a:solidFill>
                  <a:srgbClr val="0B6B57"/>
                </a:solidFill>
                <a:latin typeface="Nanum Gothic"/>
                <a:ea typeface="Nanum Gothic"/>
                <a:cs typeface="Nanum Gothic"/>
              </a:rPr>
              <a:t>분석 결과를 그대로 믿게 하지 않고, 사용자가 원문을 고치고 공식 근거를 확인한 뒤 행동하도록 설계했습니다.</a:t>
            </a:r>
          </a:p>
        </p:txBody>
      </p:sp>
    </p:spTree>
    <p:extLst>
      <p:ext uri="{BB962C8B-B14F-4D97-AF65-F5344CB8AC3E}">
        <p14:creationId xmlns:p14="http://schemas.microsoft.com/office/powerpoint/2010/main" val="1810175660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kicker-5">
            <a:extLst xmlns:a="http://schemas.openxmlformats.org/drawingml/2006/main">
              <a:ext uri="{FF2B5EF4-FFF2-40B4-BE49-F238E27FC236}">
                <a16:creationId xmlns:a16="http://schemas.microsoft.com/office/drawing/2014/main" id="{E02470E6-B61A-4904-BAE3-678699900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857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B6B57"/>
                </a:solidFill>
                <a:latin typeface="Nanum Gothic"/>
                <a:ea typeface="Nanum Gothic"/>
                <a:cs typeface="Nanum Gothic"/>
              </a:defRPr>
            </a:pPr>
            <a:r>
              <a:rPr sz="1125" b="1">
                <a:solidFill>
                  <a:srgbClr val="0B6B57"/>
                </a:solidFill>
                <a:latin typeface="Nanum Gothic"/>
                <a:ea typeface="Nanum Gothic"/>
                <a:cs typeface="Nanum Gothic"/>
              </a:rPr>
              <a:t>핵심 기능 1 · 가입 전 확인</a:t>
            </a:r>
          </a:p>
        </p:txBody>
      </p:sp>
      <p:sp>
        <p:nvSpPr>
          <p:cNvPr id="2" name="title-5">
            <a:extLst xmlns:a="http://schemas.openxmlformats.org/drawingml/2006/main">
              <a:ext uri="{FF2B5EF4-FFF2-40B4-BE49-F238E27FC236}">
                <a16:creationId xmlns:a16="http://schemas.microsoft.com/office/drawing/2014/main" id="{D37E6966-E76F-4962-B423-D7C9E51AF6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28650"/>
            <a:ext cx="10668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525" b="1">
                <a:solidFill>
                  <a:srgbClr val="111820"/>
                </a:solidFill>
                <a:latin typeface="Nanum Gothic"/>
                <a:ea typeface="Nanum Gothic"/>
                <a:cs typeface="Nanum Gothic"/>
              </a:defRPr>
            </a:pPr>
            <a:r>
              <a:rPr sz="3525" b="1">
                <a:solidFill>
                  <a:srgbClr val="111820"/>
                </a:solidFill>
                <a:latin typeface="Nanum Gothic"/>
                <a:ea typeface="Nanum Gothic"/>
                <a:cs typeface="Nanum Gothic"/>
              </a:rPr>
              <a:t>위험 문장과 ‘왜’와 ‘질문’을 함께 보여줍니다</a:t>
            </a:r>
          </a:p>
        </p:txBody>
      </p:sp>
      <p:cxnSp>
        <p:nvCxnSpPr>
          <p:cNvPr id="17" name="rule-5"/>
          <p:cNvCxnSpPr/>
          <p:nvPr/>
        </p:nvCxnSpPr>
        <p:spPr>
          <a:xfrm xmlns:a="http://schemas.openxmlformats.org/drawingml/2006/main">
            <a:off x="495300" y="1333500"/>
            <a:ext cx="112014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8CDD3"/>
            </a:solidFill>
            <a:prstDash val="solid"/>
          </a:ln>
        </p:spPr>
      </p:cxnSp>
      <p:sp>
        <p:nvSpPr>
          <p:cNvPr id="4" name="page-5">
            <a:extLst xmlns:a="http://schemas.openxmlformats.org/drawingml/2006/main">
              <a:ext uri="{FF2B5EF4-FFF2-40B4-BE49-F238E27FC236}">
                <a16:creationId xmlns:a16="http://schemas.microsoft.com/office/drawing/2014/main" id="{8ADD78C8-3DD2-4CA6-BD7F-7A4E85E69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381750"/>
            <a:ext cx="419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8636F"/>
                </a:solidFill>
                <a:latin typeface="Nanum Gothic"/>
                <a:ea typeface="Nanum Gothic"/>
                <a:cs typeface="Nanum Gothic"/>
              </a:defRPr>
            </a:pPr>
            <a:r>
              <a:rPr sz="975" b="0">
                <a:solidFill>
                  <a:srgbClr val="58636F"/>
                </a:solidFill>
                <a:latin typeface="Nanum Gothic"/>
                <a:ea typeface="Nanum Gothic"/>
                <a:cs typeface="Nanum Gothic"/>
              </a:rPr>
              <a:t>05</a:t>
            </a:r>
          </a:p>
        </p:txBody>
      </p:sp>
      <p:sp>
        <p:nvSpPr>
          <p:cNvPr id="5" name="bullet-mark-62-215-0">
            <a:extLst xmlns:a="http://schemas.openxmlformats.org/drawingml/2006/main">
              <a:ext uri="{FF2B5EF4-FFF2-40B4-BE49-F238E27FC236}">
                <a16:creationId xmlns:a16="http://schemas.microsoft.com/office/drawing/2014/main" id="{478ED72D-DC64-4A86-9174-317300DEE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047875"/>
            <a:ext cx="209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6B57"/>
                </a:solidFill>
                <a:latin typeface="Nanum Gothic"/>
                <a:ea typeface="Nanum Gothic"/>
                <a:cs typeface="Nanum Gothic"/>
              </a:defRPr>
            </a:pPr>
            <a:r>
              <a:rPr sz="1800" b="1">
                <a:solidFill>
                  <a:srgbClr val="0B6B57"/>
                </a:solidFill>
                <a:latin typeface="Nanum Gothic"/>
                <a:ea typeface="Nanum Gothic"/>
                <a:cs typeface="Nanum Gothic"/>
              </a:rPr>
              <a:t>•</a:t>
            </a:r>
          </a:p>
        </p:txBody>
      </p:sp>
      <p:sp>
        <p:nvSpPr>
          <p:cNvPr id="6" name="bullet-text-62-215-0">
            <a:extLst xmlns:a="http://schemas.openxmlformats.org/drawingml/2006/main">
              <a:ext uri="{FF2B5EF4-FFF2-40B4-BE49-F238E27FC236}">
                <a16:creationId xmlns:a16="http://schemas.microsoft.com/office/drawing/2014/main" id="{0B0693D1-D818-477E-BF82-170CC7213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047875"/>
            <a:ext cx="4667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820"/>
                </a:solidFill>
                <a:latin typeface="Nanum Gothic"/>
                <a:ea typeface="Nanum Gothic"/>
                <a:cs typeface="Nanum Gothic"/>
              </a:defRPr>
            </a:pPr>
            <a:r>
              <a:rPr sz="1800" b="0">
                <a:solidFill>
                  <a:srgbClr val="111820"/>
                </a:solidFill>
                <a:latin typeface="Nanum Gothic"/>
                <a:ea typeface="Nanum Gothic"/>
                <a:cs typeface="Nanum Gothic"/>
              </a:rPr>
              <a:t>감지된 단어를 원문에서 색으로 표시</a:t>
            </a:r>
          </a:p>
        </p:txBody>
      </p:sp>
      <p:sp>
        <p:nvSpPr>
          <p:cNvPr id="7" name="bullet-mark-62-215-1">
            <a:extLst xmlns:a="http://schemas.openxmlformats.org/drawingml/2006/main">
              <a:ext uri="{FF2B5EF4-FFF2-40B4-BE49-F238E27FC236}">
                <a16:creationId xmlns:a16="http://schemas.microsoft.com/office/drawing/2014/main" id="{BAA2B779-6E6F-4072-B4C8-B75786F75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790825"/>
            <a:ext cx="209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6B57"/>
                </a:solidFill>
                <a:latin typeface="Nanum Gothic"/>
                <a:ea typeface="Nanum Gothic"/>
                <a:cs typeface="Nanum Gothic"/>
              </a:defRPr>
            </a:pPr>
            <a:r>
              <a:rPr sz="1800" b="1">
                <a:solidFill>
                  <a:srgbClr val="0B6B57"/>
                </a:solidFill>
                <a:latin typeface="Nanum Gothic"/>
                <a:ea typeface="Nanum Gothic"/>
                <a:cs typeface="Nanum Gothic"/>
              </a:rPr>
              <a:t>•</a:t>
            </a:r>
          </a:p>
        </p:txBody>
      </p:sp>
      <p:sp>
        <p:nvSpPr>
          <p:cNvPr id="8" name="bullet-text-62-215-1">
            <a:extLst xmlns:a="http://schemas.openxmlformats.org/drawingml/2006/main">
              <a:ext uri="{FF2B5EF4-FFF2-40B4-BE49-F238E27FC236}">
                <a16:creationId xmlns:a16="http://schemas.microsoft.com/office/drawing/2014/main" id="{5007C4A0-8128-4ECE-8110-851E30EF0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790825"/>
            <a:ext cx="4667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820"/>
                </a:solidFill>
                <a:latin typeface="Nanum Gothic"/>
                <a:ea typeface="Nanum Gothic"/>
                <a:cs typeface="Nanum Gothic"/>
              </a:defRPr>
            </a:pPr>
            <a:r>
              <a:rPr sz="1800" b="0">
                <a:solidFill>
                  <a:srgbClr val="111820"/>
                </a:solidFill>
                <a:latin typeface="Nanum Gothic"/>
                <a:ea typeface="Nanum Gothic"/>
                <a:cs typeface="Nanum Gothic"/>
              </a:rPr>
              <a:t>위험 확정 대신 ‘주의 후보·확인 필요’로 표현</a:t>
            </a:r>
          </a:p>
        </p:txBody>
      </p:sp>
      <p:sp>
        <p:nvSpPr>
          <p:cNvPr id="9" name="bullet-mark-62-215-2">
            <a:extLst xmlns:a="http://schemas.openxmlformats.org/drawingml/2006/main">
              <a:ext uri="{FF2B5EF4-FFF2-40B4-BE49-F238E27FC236}">
                <a16:creationId xmlns:a16="http://schemas.microsoft.com/office/drawing/2014/main" id="{A83CDA17-43C1-47A6-B037-4AE358D557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533775"/>
            <a:ext cx="209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6B57"/>
                </a:solidFill>
                <a:latin typeface="Nanum Gothic"/>
                <a:ea typeface="Nanum Gothic"/>
                <a:cs typeface="Nanum Gothic"/>
              </a:defRPr>
            </a:pPr>
            <a:r>
              <a:rPr sz="1800" b="1">
                <a:solidFill>
                  <a:srgbClr val="0B6B57"/>
                </a:solidFill>
                <a:latin typeface="Nanum Gothic"/>
                <a:ea typeface="Nanum Gothic"/>
                <a:cs typeface="Nanum Gothic"/>
              </a:rPr>
              <a:t>•</a:t>
            </a:r>
          </a:p>
        </p:txBody>
      </p:sp>
      <p:sp>
        <p:nvSpPr>
          <p:cNvPr id="10" name="bullet-text-62-215-2">
            <a:extLst xmlns:a="http://schemas.openxmlformats.org/drawingml/2006/main">
              <a:ext uri="{FF2B5EF4-FFF2-40B4-BE49-F238E27FC236}">
                <a16:creationId xmlns:a16="http://schemas.microsoft.com/office/drawing/2014/main" id="{1DFEBED6-30A1-4CE7-B439-EBD650178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33775"/>
            <a:ext cx="4667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820"/>
                </a:solidFill>
                <a:latin typeface="Nanum Gothic"/>
                <a:ea typeface="Nanum Gothic"/>
                <a:cs typeface="Nanum Gothic"/>
              </a:defRPr>
            </a:pPr>
            <a:r>
              <a:rPr sz="1800" b="0">
                <a:solidFill>
                  <a:srgbClr val="111820"/>
                </a:solidFill>
                <a:latin typeface="Nanum Gothic"/>
                <a:ea typeface="Nanum Gothic"/>
                <a:cs typeface="Nanum Gothic"/>
              </a:rPr>
              <a:t>쉬운 설명과 직원에게 물어볼 질문 제공</a:t>
            </a:r>
          </a:p>
        </p:txBody>
      </p:sp>
      <p:sp>
        <p:nvSpPr>
          <p:cNvPr id="11" name="bullet-mark-62-215-3">
            <a:extLst xmlns:a="http://schemas.openxmlformats.org/drawingml/2006/main">
              <a:ext uri="{FF2B5EF4-FFF2-40B4-BE49-F238E27FC236}">
                <a16:creationId xmlns:a16="http://schemas.microsoft.com/office/drawing/2014/main" id="{4C98D235-EEF9-4D49-83C6-378CD7E02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276725"/>
            <a:ext cx="209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6B57"/>
                </a:solidFill>
                <a:latin typeface="Nanum Gothic"/>
                <a:ea typeface="Nanum Gothic"/>
                <a:cs typeface="Nanum Gothic"/>
              </a:defRPr>
            </a:pPr>
            <a:r>
              <a:rPr sz="1800" b="1">
                <a:solidFill>
                  <a:srgbClr val="0B6B57"/>
                </a:solidFill>
                <a:latin typeface="Nanum Gothic"/>
                <a:ea typeface="Nanum Gothic"/>
                <a:cs typeface="Nanum Gothic"/>
              </a:rPr>
              <a:t>•</a:t>
            </a:r>
          </a:p>
        </p:txBody>
      </p:sp>
      <p:sp>
        <p:nvSpPr>
          <p:cNvPr id="12" name="bullet-text-62-215-3">
            <a:extLst xmlns:a="http://schemas.openxmlformats.org/drawingml/2006/main">
              <a:ext uri="{FF2B5EF4-FFF2-40B4-BE49-F238E27FC236}">
                <a16:creationId xmlns:a16="http://schemas.microsoft.com/office/drawing/2014/main" id="{4EDDEC87-5F86-48CB-8760-010C7D22D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276725"/>
            <a:ext cx="4667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820"/>
                </a:solidFill>
                <a:latin typeface="Nanum Gothic"/>
                <a:ea typeface="Nanum Gothic"/>
                <a:cs typeface="Nanum Gothic"/>
              </a:defRPr>
            </a:pPr>
            <a:r>
              <a:rPr sz="1800" b="0">
                <a:solidFill>
                  <a:srgbClr val="111820"/>
                </a:solidFill>
                <a:latin typeface="Nanum Gothic"/>
                <a:ea typeface="Nanum Gothic"/>
                <a:cs typeface="Nanum Gothic"/>
              </a:rPr>
              <a:t>출처명·발표일·원문 링크·적용 이유 표시</a:t>
            </a:r>
          </a:p>
        </p:txBody>
      </p:sp>
      <p:sp>
        <p:nvSpPr>
          <p:cNvPr id="13" name="risk-image-frame">
            <a:extLst xmlns:a="http://schemas.openxmlformats.org/drawingml/2006/main">
              <a:ext uri="{FF2B5EF4-FFF2-40B4-BE49-F238E27FC236}">
                <a16:creationId xmlns:a16="http://schemas.microsoft.com/office/drawing/2014/main" id="{3B409230-6060-4856-9229-E03FE8A72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666875"/>
            <a:ext cx="4857750" cy="447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8CDD3"/>
            </a:solidFill>
            <a:prstDash val="solid"/>
          </a:ln>
        </p:spPr>
      </p:sp>
      <p:pic>
        <p:nvPicPr>
          <p:cNvPr id="2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d127540e1734322"/>
          <a:stretch xmlns:a="http://schemas.openxmlformats.org/drawingml/2006/main"/>
        </p:blipFill>
        <p:spPr>
          <a:xfrm xmlns:a="http://schemas.openxmlformats.org/drawingml/2006/main">
            <a:off x="7444546" y="1809750"/>
            <a:ext cx="3113158" cy="4191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3096683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kicker-6">
            <a:extLst xmlns:a="http://schemas.openxmlformats.org/drawingml/2006/main">
              <a:ext uri="{FF2B5EF4-FFF2-40B4-BE49-F238E27FC236}">
                <a16:creationId xmlns:a16="http://schemas.microsoft.com/office/drawing/2014/main" id="{F1D33F6E-FEDA-4D51-843D-EE5FE2CF7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857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B6B57"/>
                </a:solidFill>
                <a:latin typeface="Nanum Gothic"/>
                <a:ea typeface="Nanum Gothic"/>
                <a:cs typeface="Nanum Gothic"/>
              </a:defRPr>
            </a:pPr>
            <a:r>
              <a:rPr sz="1125" b="1">
                <a:solidFill>
                  <a:srgbClr val="0B6B57"/>
                </a:solidFill>
                <a:latin typeface="Nanum Gothic"/>
                <a:ea typeface="Nanum Gothic"/>
                <a:cs typeface="Nanum Gothic"/>
              </a:rPr>
              <a:t>핵심 기능 2 · 금융사고 대응</a:t>
            </a:r>
          </a:p>
        </p:txBody>
      </p:sp>
      <p:sp>
        <p:nvSpPr>
          <p:cNvPr id="2" name="title-6">
            <a:extLst xmlns:a="http://schemas.openxmlformats.org/drawingml/2006/main">
              <a:ext uri="{FF2B5EF4-FFF2-40B4-BE49-F238E27FC236}">
                <a16:creationId xmlns:a16="http://schemas.microsoft.com/office/drawing/2014/main" id="{371D582D-739C-4C37-A655-D72C7C0B0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28650"/>
            <a:ext cx="10668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525" b="1">
                <a:solidFill>
                  <a:srgbClr val="111820"/>
                </a:solidFill>
                <a:latin typeface="Nanum Gothic"/>
                <a:ea typeface="Nanum Gothic"/>
                <a:cs typeface="Nanum Gothic"/>
              </a:defRPr>
            </a:pPr>
            <a:r>
              <a:rPr sz="3525" b="1">
                <a:solidFill>
                  <a:srgbClr val="111820"/>
                </a:solidFill>
                <a:latin typeface="Nanum Gothic"/>
                <a:ea typeface="Nanum Gothic"/>
                <a:cs typeface="Nanum Gothic"/>
              </a:rPr>
              <a:t>사고 직후에는 행동 순서를 먼저 줍니다</a:t>
            </a:r>
          </a:p>
        </p:txBody>
      </p:sp>
      <p:cxnSp>
        <p:nvCxnSpPr>
          <p:cNvPr id="19" name="rule-6"/>
          <p:cNvCxnSpPr/>
          <p:nvPr/>
        </p:nvCxnSpPr>
        <p:spPr>
          <a:xfrm xmlns:a="http://schemas.openxmlformats.org/drawingml/2006/main">
            <a:off x="495300" y="1333500"/>
            <a:ext cx="112014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8CDD3"/>
            </a:solidFill>
            <a:prstDash val="solid"/>
          </a:ln>
        </p:spPr>
      </p:cxnSp>
      <p:sp>
        <p:nvSpPr>
          <p:cNvPr id="4" name="page-6">
            <a:extLst xmlns:a="http://schemas.openxmlformats.org/drawingml/2006/main">
              <a:ext uri="{FF2B5EF4-FFF2-40B4-BE49-F238E27FC236}">
                <a16:creationId xmlns:a16="http://schemas.microsoft.com/office/drawing/2014/main" id="{F272A47F-AD80-453B-A090-9AE195492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381750"/>
            <a:ext cx="419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8636F"/>
                </a:solidFill>
                <a:latin typeface="Nanum Gothic"/>
                <a:ea typeface="Nanum Gothic"/>
                <a:cs typeface="Nanum Gothic"/>
              </a:defRPr>
            </a:pPr>
            <a:r>
              <a:rPr sz="975" b="0">
                <a:solidFill>
                  <a:srgbClr val="58636F"/>
                </a:solidFill>
                <a:latin typeface="Nanum Gothic"/>
                <a:ea typeface="Nanum Gothic"/>
                <a:cs typeface="Nanum Gothic"/>
              </a:rPr>
              <a:t>06</a:t>
            </a:r>
          </a:p>
        </p:txBody>
      </p:sp>
      <p:sp>
        <p:nvSpPr>
          <p:cNvPr id="5" name="incident-image-frame">
            <a:extLst xmlns:a="http://schemas.openxmlformats.org/drawingml/2006/main">
              <a:ext uri="{FF2B5EF4-FFF2-40B4-BE49-F238E27FC236}">
                <a16:creationId xmlns:a16="http://schemas.microsoft.com/office/drawing/2014/main" id="{D6038EB9-FD05-4016-AD32-AE25DEBB59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38300"/>
            <a:ext cx="4762500" cy="455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8CDD3"/>
            </a:solidFill>
            <a:prstDash val="solid"/>
          </a:ln>
        </p:spPr>
      </p:sp>
      <p:pic>
        <p:nvPicPr>
          <p:cNvPr id="2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fbfa4b189ce4555"/>
          <a:stretch xmlns:a="http://schemas.openxmlformats.org/drawingml/2006/main"/>
        </p:blipFill>
        <p:spPr>
          <a:xfrm xmlns:a="http://schemas.openxmlformats.org/drawingml/2006/main">
            <a:off x="1341744" y="1771650"/>
            <a:ext cx="3183912" cy="4286250"/>
          </a:xfrm>
          <a:prstGeom xmlns:a="http://schemas.openxmlformats.org/drawingml/2006/main" prst="rect">
            <a:avLst/>
          </a:prstGeom>
        </p:spPr>
      </p:pic>
      <p:sp>
        <p:nvSpPr>
          <p:cNvPr id="7" name="bullet-mark-650-200-0">
            <a:extLst xmlns:a="http://schemas.openxmlformats.org/drawingml/2006/main">
              <a:ext uri="{FF2B5EF4-FFF2-40B4-BE49-F238E27FC236}">
                <a16:creationId xmlns:a16="http://schemas.microsoft.com/office/drawing/2014/main" id="{3AD0F626-1325-420C-ACC8-E4898ADFF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905000"/>
            <a:ext cx="209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B6B57"/>
                </a:solidFill>
                <a:latin typeface="Nanum Gothic"/>
                <a:ea typeface="Nanum Gothic"/>
                <a:cs typeface="Nanum Gothic"/>
              </a:defRPr>
            </a:pPr>
            <a:r>
              <a:rPr sz="1725" b="1">
                <a:solidFill>
                  <a:srgbClr val="0B6B57"/>
                </a:solidFill>
                <a:latin typeface="Nanum Gothic"/>
                <a:ea typeface="Nanum Gothic"/>
                <a:cs typeface="Nanum Gothic"/>
              </a:rPr>
              <a:t>•</a:t>
            </a:r>
          </a:p>
        </p:txBody>
      </p:sp>
      <p:sp>
        <p:nvSpPr>
          <p:cNvPr id="8" name="bullet-text-650-200-0">
            <a:extLst xmlns:a="http://schemas.openxmlformats.org/drawingml/2006/main">
              <a:ext uri="{FF2B5EF4-FFF2-40B4-BE49-F238E27FC236}">
                <a16:creationId xmlns:a16="http://schemas.microsoft.com/office/drawing/2014/main" id="{E309FE27-75CC-4711-873B-32D964989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905000"/>
            <a:ext cx="4953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11820"/>
                </a:solidFill>
                <a:latin typeface="Nanum Gothic"/>
                <a:ea typeface="Nanum Gothic"/>
                <a:cs typeface="Nanum Gothic"/>
              </a:defRPr>
            </a:pPr>
            <a:r>
              <a:rPr sz="1725" b="0">
                <a:solidFill>
                  <a:srgbClr val="111820"/>
                </a:solidFill>
                <a:latin typeface="Nanum Gothic"/>
                <a:ea typeface="Nanum Gothic"/>
                <a:cs typeface="Nanum Gothic"/>
              </a:rPr>
              <a:t>착오송금·보이스피싱·현금 전달 상황 분류</a:t>
            </a:r>
          </a:p>
        </p:txBody>
      </p:sp>
      <p:sp>
        <p:nvSpPr>
          <p:cNvPr id="9" name="bullet-mark-650-200-1">
            <a:extLst xmlns:a="http://schemas.openxmlformats.org/drawingml/2006/main">
              <a:ext uri="{FF2B5EF4-FFF2-40B4-BE49-F238E27FC236}">
                <a16:creationId xmlns:a16="http://schemas.microsoft.com/office/drawing/2014/main" id="{9E6C4B29-423E-4DD3-8B76-7CD9B787D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609850"/>
            <a:ext cx="209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B6B57"/>
                </a:solidFill>
                <a:latin typeface="Nanum Gothic"/>
                <a:ea typeface="Nanum Gothic"/>
                <a:cs typeface="Nanum Gothic"/>
              </a:defRPr>
            </a:pPr>
            <a:r>
              <a:rPr sz="1725" b="1">
                <a:solidFill>
                  <a:srgbClr val="0B6B57"/>
                </a:solidFill>
                <a:latin typeface="Nanum Gothic"/>
                <a:ea typeface="Nanum Gothic"/>
                <a:cs typeface="Nanum Gothic"/>
              </a:rPr>
              <a:t>•</a:t>
            </a:r>
          </a:p>
        </p:txBody>
      </p:sp>
      <p:sp>
        <p:nvSpPr>
          <p:cNvPr id="10" name="bullet-text-650-200-1">
            <a:extLst xmlns:a="http://schemas.openxmlformats.org/drawingml/2006/main">
              <a:ext uri="{FF2B5EF4-FFF2-40B4-BE49-F238E27FC236}">
                <a16:creationId xmlns:a16="http://schemas.microsoft.com/office/drawing/2014/main" id="{43CA413C-5C75-42F1-9DCE-21FB7FF219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609850"/>
            <a:ext cx="4953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11820"/>
                </a:solidFill>
                <a:latin typeface="Nanum Gothic"/>
                <a:ea typeface="Nanum Gothic"/>
                <a:cs typeface="Nanum Gothic"/>
              </a:defRPr>
            </a:pPr>
            <a:r>
              <a:rPr sz="1725" b="0">
                <a:solidFill>
                  <a:srgbClr val="111820"/>
                </a:solidFill>
                <a:latin typeface="Nanum Gothic"/>
                <a:ea typeface="Nanum Gothic"/>
                <a:cs typeface="Nanum Gothic"/>
              </a:rPr>
              <a:t>은행·112·1332로 바로 전화</a:t>
            </a:r>
          </a:p>
        </p:txBody>
      </p:sp>
      <p:sp>
        <p:nvSpPr>
          <p:cNvPr id="11" name="bullet-mark-650-200-2">
            <a:extLst xmlns:a="http://schemas.openxmlformats.org/drawingml/2006/main">
              <a:ext uri="{FF2B5EF4-FFF2-40B4-BE49-F238E27FC236}">
                <a16:creationId xmlns:a16="http://schemas.microsoft.com/office/drawing/2014/main" id="{2550629A-BB6A-4EED-91E9-CA76112DC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314700"/>
            <a:ext cx="209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B6B57"/>
                </a:solidFill>
                <a:latin typeface="Nanum Gothic"/>
                <a:ea typeface="Nanum Gothic"/>
                <a:cs typeface="Nanum Gothic"/>
              </a:defRPr>
            </a:pPr>
            <a:r>
              <a:rPr sz="1725" b="1">
                <a:solidFill>
                  <a:srgbClr val="0B6B57"/>
                </a:solidFill>
                <a:latin typeface="Nanum Gothic"/>
                <a:ea typeface="Nanum Gothic"/>
                <a:cs typeface="Nanum Gothic"/>
              </a:rPr>
              <a:t>•</a:t>
            </a:r>
          </a:p>
        </p:txBody>
      </p:sp>
      <p:sp>
        <p:nvSpPr>
          <p:cNvPr id="12" name="bullet-text-650-200-2">
            <a:extLst xmlns:a="http://schemas.openxmlformats.org/drawingml/2006/main">
              <a:ext uri="{FF2B5EF4-FFF2-40B4-BE49-F238E27FC236}">
                <a16:creationId xmlns:a16="http://schemas.microsoft.com/office/drawing/2014/main" id="{A3F8C8FC-92D5-4C20-8D2A-8F72F207E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314700"/>
            <a:ext cx="4953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11820"/>
                </a:solidFill>
                <a:latin typeface="Nanum Gothic"/>
                <a:ea typeface="Nanum Gothic"/>
                <a:cs typeface="Nanum Gothic"/>
              </a:defRPr>
            </a:pPr>
            <a:r>
              <a:rPr sz="1725" b="0">
                <a:solidFill>
                  <a:srgbClr val="111820"/>
                </a:solidFill>
                <a:latin typeface="Nanum Gothic"/>
                <a:ea typeface="Nanum Gothic"/>
                <a:cs typeface="Nanum Gothic"/>
              </a:rPr>
              <a:t>즉시·10분 안·오늘·추후 행동을 구분</a:t>
            </a:r>
          </a:p>
        </p:txBody>
      </p:sp>
      <p:sp>
        <p:nvSpPr>
          <p:cNvPr id="13" name="bullet-mark-650-200-3">
            <a:extLst xmlns:a="http://schemas.openxmlformats.org/drawingml/2006/main">
              <a:ext uri="{FF2B5EF4-FFF2-40B4-BE49-F238E27FC236}">
                <a16:creationId xmlns:a16="http://schemas.microsoft.com/office/drawing/2014/main" id="{72408642-AD9B-4C63-82CB-6EC0CC8E7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019550"/>
            <a:ext cx="209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B6B57"/>
                </a:solidFill>
                <a:latin typeface="Nanum Gothic"/>
                <a:ea typeface="Nanum Gothic"/>
                <a:cs typeface="Nanum Gothic"/>
              </a:defRPr>
            </a:pPr>
            <a:r>
              <a:rPr sz="1725" b="1">
                <a:solidFill>
                  <a:srgbClr val="0B6B57"/>
                </a:solidFill>
                <a:latin typeface="Nanum Gothic"/>
                <a:ea typeface="Nanum Gothic"/>
                <a:cs typeface="Nanum Gothic"/>
              </a:rPr>
              <a:t>•</a:t>
            </a:r>
          </a:p>
        </p:txBody>
      </p:sp>
      <p:sp>
        <p:nvSpPr>
          <p:cNvPr id="14" name="bullet-text-650-200-3">
            <a:extLst xmlns:a="http://schemas.openxmlformats.org/drawingml/2006/main">
              <a:ext uri="{FF2B5EF4-FFF2-40B4-BE49-F238E27FC236}">
                <a16:creationId xmlns:a16="http://schemas.microsoft.com/office/drawing/2014/main" id="{706C5EFD-1F7B-4A0F-AD33-9BCA2B759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019550"/>
            <a:ext cx="4953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11820"/>
                </a:solidFill>
                <a:latin typeface="Nanum Gothic"/>
                <a:ea typeface="Nanum Gothic"/>
                <a:cs typeface="Nanum Gothic"/>
              </a:defRPr>
            </a:pPr>
            <a:r>
              <a:rPr sz="1725" b="0">
                <a:solidFill>
                  <a:srgbClr val="111820"/>
                </a:solidFill>
                <a:latin typeface="Nanum Gothic"/>
                <a:ea typeface="Nanum Gothic"/>
                <a:cs typeface="Nanum Gothic"/>
              </a:rPr>
              <a:t>증빙 체크리스트와 민원서 초안 생성</a:t>
            </a:r>
          </a:p>
        </p:txBody>
      </p:sp>
      <p:sp>
        <p:nvSpPr>
          <p:cNvPr id="15" name="bullet-mark-650-200-4">
            <a:extLst xmlns:a="http://schemas.openxmlformats.org/drawingml/2006/main">
              <a:ext uri="{FF2B5EF4-FFF2-40B4-BE49-F238E27FC236}">
                <a16:creationId xmlns:a16="http://schemas.microsoft.com/office/drawing/2014/main" id="{CF3ECF6E-067F-4F6E-A78B-455687895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724400"/>
            <a:ext cx="209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B6B57"/>
                </a:solidFill>
                <a:latin typeface="Nanum Gothic"/>
                <a:ea typeface="Nanum Gothic"/>
                <a:cs typeface="Nanum Gothic"/>
              </a:defRPr>
            </a:pPr>
            <a:r>
              <a:rPr sz="1725" b="1">
                <a:solidFill>
                  <a:srgbClr val="0B6B57"/>
                </a:solidFill>
                <a:latin typeface="Nanum Gothic"/>
                <a:ea typeface="Nanum Gothic"/>
                <a:cs typeface="Nanum Gothic"/>
              </a:rPr>
              <a:t>•</a:t>
            </a:r>
          </a:p>
        </p:txBody>
      </p:sp>
      <p:sp>
        <p:nvSpPr>
          <p:cNvPr id="16" name="bullet-text-650-200-4">
            <a:extLst xmlns:a="http://schemas.openxmlformats.org/drawingml/2006/main">
              <a:ext uri="{FF2B5EF4-FFF2-40B4-BE49-F238E27FC236}">
                <a16:creationId xmlns:a16="http://schemas.microsoft.com/office/drawing/2014/main" id="{8C64EB44-0955-4CC4-80BB-C46E693B4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724400"/>
            <a:ext cx="4953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11820"/>
                </a:solidFill>
                <a:latin typeface="Nanum Gothic"/>
                <a:ea typeface="Nanum Gothic"/>
                <a:cs typeface="Nanum Gothic"/>
              </a:defRPr>
            </a:pPr>
            <a:r>
              <a:rPr sz="1725" b="0">
                <a:solidFill>
                  <a:srgbClr val="111820"/>
                </a:solidFill>
                <a:latin typeface="Nanum Gothic"/>
                <a:ea typeface="Nanum Gothic"/>
                <a:cs typeface="Nanum Gothic"/>
              </a:rPr>
              <a:t>개인정보를 가린 뒤 보호자에게 공유</a:t>
            </a:r>
          </a:p>
        </p:txBody>
      </p:sp>
    </p:spTree>
    <p:extLst>
      <p:ext uri="{BB962C8B-B14F-4D97-AF65-F5344CB8AC3E}">
        <p14:creationId xmlns:p14="http://schemas.microsoft.com/office/powerpoint/2010/main" val="1755955624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kicker-7">
            <a:extLst xmlns:a="http://schemas.openxmlformats.org/drawingml/2006/main">
              <a:ext uri="{FF2B5EF4-FFF2-40B4-BE49-F238E27FC236}">
                <a16:creationId xmlns:a16="http://schemas.microsoft.com/office/drawing/2014/main" id="{00AE5D3A-9ED5-4569-A6C6-969E39540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857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B6B57"/>
                </a:solidFill>
                <a:latin typeface="Nanum Gothic"/>
                <a:ea typeface="Nanum Gothic"/>
                <a:cs typeface="Nanum Gothic"/>
              </a:defRPr>
            </a:pPr>
            <a:r>
              <a:rPr sz="1125" b="1">
                <a:solidFill>
                  <a:srgbClr val="0B6B57"/>
                </a:solidFill>
                <a:latin typeface="Nanum Gothic"/>
                <a:ea typeface="Nanum Gothic"/>
                <a:cs typeface="Nanum Gothic"/>
              </a:rPr>
              <a:t>정보수집과 데이터 분석</a:t>
            </a:r>
          </a:p>
        </p:txBody>
      </p:sp>
      <p:sp>
        <p:nvSpPr>
          <p:cNvPr id="2" name="title-7">
            <a:extLst xmlns:a="http://schemas.openxmlformats.org/drawingml/2006/main">
              <a:ext uri="{FF2B5EF4-FFF2-40B4-BE49-F238E27FC236}">
                <a16:creationId xmlns:a16="http://schemas.microsoft.com/office/drawing/2014/main" id="{23A6702E-C071-4BA7-8BBC-8F1640482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28650"/>
            <a:ext cx="10668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525" b="1">
                <a:solidFill>
                  <a:srgbClr val="111820"/>
                </a:solidFill>
                <a:latin typeface="Nanum Gothic"/>
                <a:ea typeface="Nanum Gothic"/>
                <a:cs typeface="Nanum Gothic"/>
              </a:defRPr>
            </a:pPr>
            <a:r>
              <a:rPr sz="3525" b="1">
                <a:solidFill>
                  <a:srgbClr val="111820"/>
                </a:solidFill>
                <a:latin typeface="Nanum Gothic"/>
                <a:ea typeface="Nanum Gothic"/>
                <a:cs typeface="Nanum Gothic"/>
              </a:rPr>
              <a:t>판단 근거는 사용 허가된 공식 자료로 구성했습니다</a:t>
            </a:r>
          </a:p>
        </p:txBody>
      </p:sp>
      <p:cxnSp>
        <p:nvCxnSpPr>
          <p:cNvPr id="34" name="rule-7"/>
          <p:cNvCxnSpPr/>
          <p:nvPr/>
        </p:nvCxnSpPr>
        <p:spPr>
          <a:xfrm xmlns:a="http://schemas.openxmlformats.org/drawingml/2006/main">
            <a:off x="495300" y="1333500"/>
            <a:ext cx="112014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8CDD3"/>
            </a:solidFill>
            <a:prstDash val="solid"/>
          </a:ln>
        </p:spPr>
      </p:cxnSp>
      <p:sp>
        <p:nvSpPr>
          <p:cNvPr id="4" name="page-7">
            <a:extLst xmlns:a="http://schemas.openxmlformats.org/drawingml/2006/main">
              <a:ext uri="{FF2B5EF4-FFF2-40B4-BE49-F238E27FC236}">
                <a16:creationId xmlns:a16="http://schemas.microsoft.com/office/drawing/2014/main" id="{705A6DF7-63BE-49A6-9F7F-A55078C75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381750"/>
            <a:ext cx="419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8636F"/>
                </a:solidFill>
                <a:latin typeface="Nanum Gothic"/>
                <a:ea typeface="Nanum Gothic"/>
                <a:cs typeface="Nanum Gothic"/>
              </a:defRPr>
            </a:pPr>
            <a:r>
              <a:rPr sz="975" b="0">
                <a:solidFill>
                  <a:srgbClr val="58636F"/>
                </a:solidFill>
                <a:latin typeface="Nanum Gothic"/>
                <a:ea typeface="Nanum Gothic"/>
                <a:cs typeface="Nanum Gothic"/>
              </a:rPr>
              <a:t>07</a:t>
            </a:r>
          </a:p>
        </p:txBody>
      </p:sp>
      <p:sp>
        <p:nvSpPr>
          <p:cNvPr id="5" name="data-stat-0">
            <a:extLst xmlns:a="http://schemas.openxmlformats.org/drawingml/2006/main">
              <a:ext uri="{FF2B5EF4-FFF2-40B4-BE49-F238E27FC236}">
                <a16:creationId xmlns:a16="http://schemas.microsoft.com/office/drawing/2014/main" id="{4298DCDE-EBA8-4BDE-9357-9A102A1A0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952625"/>
            <a:ext cx="2571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B4A73"/>
                </a:solidFill>
                <a:latin typeface="Nanum Gothic"/>
                <a:ea typeface="Nanum Gothic"/>
                <a:cs typeface="Nanum Gothic"/>
              </a:defRPr>
            </a:pPr>
            <a:r>
              <a:rPr sz="3450" b="1">
                <a:solidFill>
                  <a:srgbClr val="1B4A73"/>
                </a:solidFill>
                <a:latin typeface="Nanum Gothic"/>
                <a:ea typeface="Nanum Gothic"/>
                <a:cs typeface="Nanum Gothic"/>
              </a:rPr>
              <a:t>21개</a:t>
            </a:r>
          </a:p>
        </p:txBody>
      </p:sp>
      <p:sp>
        <p:nvSpPr>
          <p:cNvPr id="6" name="data-label-0">
            <a:extLst xmlns:a="http://schemas.openxmlformats.org/drawingml/2006/main">
              <a:ext uri="{FF2B5EF4-FFF2-40B4-BE49-F238E27FC236}">
                <a16:creationId xmlns:a16="http://schemas.microsoft.com/office/drawing/2014/main" id="{FD7F7218-7C44-489B-984F-7B692367D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714625"/>
            <a:ext cx="2571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8636F"/>
                </a:solidFill>
                <a:latin typeface="Nanum Gothic"/>
                <a:ea typeface="Nanum Gothic"/>
                <a:cs typeface="Nanum Gothic"/>
              </a:defRPr>
            </a:pPr>
            <a:r>
              <a:rPr sz="1500" b="0">
                <a:solidFill>
                  <a:srgbClr val="58636F"/>
                </a:solidFill>
                <a:latin typeface="Nanum Gothic"/>
                <a:ea typeface="Nanum Gothic"/>
                <a:cs typeface="Nanum Gothic"/>
              </a:rPr>
              <a:t>공식 원천 파일</a:t>
            </a:r>
          </a:p>
        </p:txBody>
      </p:sp>
      <p:sp>
        <p:nvSpPr>
          <p:cNvPr id="7" name="data-stat-1">
            <a:extLst xmlns:a="http://schemas.openxmlformats.org/drawingml/2006/main">
              <a:ext uri="{FF2B5EF4-FFF2-40B4-BE49-F238E27FC236}">
                <a16:creationId xmlns:a16="http://schemas.microsoft.com/office/drawing/2014/main" id="{181E488B-0129-4847-85DA-09B0D8FF1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1952625"/>
            <a:ext cx="2571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B4A73"/>
                </a:solidFill>
                <a:latin typeface="Nanum Gothic"/>
                <a:ea typeface="Nanum Gothic"/>
                <a:cs typeface="Nanum Gothic"/>
              </a:defRPr>
            </a:pPr>
            <a:r>
              <a:rPr sz="3450" b="1">
                <a:solidFill>
                  <a:srgbClr val="1B4A73"/>
                </a:solidFill>
                <a:latin typeface="Nanum Gothic"/>
                <a:ea typeface="Nanum Gothic"/>
                <a:cs typeface="Nanum Gothic"/>
              </a:rPr>
              <a:t>229건</a:t>
            </a:r>
          </a:p>
        </p:txBody>
      </p:sp>
      <p:sp>
        <p:nvSpPr>
          <p:cNvPr id="8" name="data-label-1">
            <a:extLst xmlns:a="http://schemas.openxmlformats.org/drawingml/2006/main">
              <a:ext uri="{FF2B5EF4-FFF2-40B4-BE49-F238E27FC236}">
                <a16:creationId xmlns:a16="http://schemas.microsoft.com/office/drawing/2014/main" id="{386EF02A-FEE5-4302-8D0A-54370F8A48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2714625"/>
            <a:ext cx="2571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8636F"/>
                </a:solidFill>
                <a:latin typeface="Nanum Gothic"/>
                <a:ea typeface="Nanum Gothic"/>
                <a:cs typeface="Nanum Gothic"/>
              </a:defRPr>
            </a:pPr>
            <a:r>
              <a:rPr sz="1500" b="0">
                <a:solidFill>
                  <a:srgbClr val="58636F"/>
                </a:solidFill>
                <a:latin typeface="Nanum Gothic"/>
                <a:ea typeface="Nanum Gothic"/>
                <a:cs typeface="Nanum Gothic"/>
              </a:rPr>
              <a:t>금융용어</a:t>
            </a:r>
          </a:p>
        </p:txBody>
      </p:sp>
      <p:sp>
        <p:nvSpPr>
          <p:cNvPr id="9" name="data-stat-2">
            <a:extLst xmlns:a="http://schemas.openxmlformats.org/drawingml/2006/main">
              <a:ext uri="{FF2B5EF4-FFF2-40B4-BE49-F238E27FC236}">
                <a16:creationId xmlns:a16="http://schemas.microsoft.com/office/drawing/2014/main" id="{6979E6F8-8DC1-4734-9CAF-84536C1B3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952625"/>
            <a:ext cx="2571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B4A73"/>
                </a:solidFill>
                <a:latin typeface="Nanum Gothic"/>
                <a:ea typeface="Nanum Gothic"/>
                <a:cs typeface="Nanum Gothic"/>
              </a:defRPr>
            </a:pPr>
            <a:r>
              <a:rPr sz="3450" b="1">
                <a:solidFill>
                  <a:srgbClr val="1B4A73"/>
                </a:solidFill>
                <a:latin typeface="Nanum Gothic"/>
                <a:ea typeface="Nanum Gothic"/>
                <a:cs typeface="Nanum Gothic"/>
              </a:rPr>
              <a:t>566건</a:t>
            </a:r>
          </a:p>
        </p:txBody>
      </p:sp>
      <p:sp>
        <p:nvSpPr>
          <p:cNvPr id="10" name="data-label-2">
            <a:extLst xmlns:a="http://schemas.openxmlformats.org/drawingml/2006/main">
              <a:ext uri="{FF2B5EF4-FFF2-40B4-BE49-F238E27FC236}">
                <a16:creationId xmlns:a16="http://schemas.microsoft.com/office/drawing/2014/main" id="{2BBD1EF7-92A9-4503-8579-2C65C28F5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714625"/>
            <a:ext cx="2571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8636F"/>
                </a:solidFill>
                <a:latin typeface="Nanum Gothic"/>
                <a:ea typeface="Nanum Gothic"/>
                <a:cs typeface="Nanum Gothic"/>
              </a:defRPr>
            </a:pPr>
            <a:r>
              <a:rPr sz="1500" b="0">
                <a:solidFill>
                  <a:srgbClr val="58636F"/>
                </a:solidFill>
                <a:latin typeface="Nanum Gothic"/>
                <a:ea typeface="Nanum Gothic"/>
                <a:cs typeface="Nanum Gothic"/>
              </a:rPr>
              <a:t>소비자 상담 사례</a:t>
            </a:r>
          </a:p>
        </p:txBody>
      </p:sp>
      <p:sp>
        <p:nvSpPr>
          <p:cNvPr id="11" name="data-stat-3">
            <a:extLst xmlns:a="http://schemas.openxmlformats.org/drawingml/2006/main">
              <a:ext uri="{FF2B5EF4-FFF2-40B4-BE49-F238E27FC236}">
                <a16:creationId xmlns:a16="http://schemas.microsoft.com/office/drawing/2014/main" id="{C6A84A1B-278D-46C9-A2D0-FCED09E89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1952625"/>
            <a:ext cx="2571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B53225"/>
                </a:solidFill>
                <a:latin typeface="Nanum Gothic"/>
                <a:ea typeface="Nanum Gothic"/>
                <a:cs typeface="Nanum Gothic"/>
              </a:defRPr>
            </a:pPr>
            <a:r>
              <a:rPr sz="3450" b="1">
                <a:solidFill>
                  <a:srgbClr val="B53225"/>
                </a:solidFill>
                <a:latin typeface="Nanum Gothic"/>
                <a:ea typeface="Nanum Gothic"/>
                <a:cs typeface="Nanum Gothic"/>
              </a:rPr>
              <a:t>11,968건</a:t>
            </a:r>
          </a:p>
        </p:txBody>
      </p:sp>
      <p:sp>
        <p:nvSpPr>
          <p:cNvPr id="12" name="data-label-3">
            <a:extLst xmlns:a="http://schemas.openxmlformats.org/drawingml/2006/main">
              <a:ext uri="{FF2B5EF4-FFF2-40B4-BE49-F238E27FC236}">
                <a16:creationId xmlns:a16="http://schemas.microsoft.com/office/drawing/2014/main" id="{7E99E8B9-22BC-46B9-AB89-69752E49A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2714625"/>
            <a:ext cx="2571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8636F"/>
                </a:solidFill>
                <a:latin typeface="Nanum Gothic"/>
                <a:ea typeface="Nanum Gothic"/>
                <a:cs typeface="Nanum Gothic"/>
              </a:defRPr>
            </a:pPr>
            <a:r>
              <a:rPr sz="1500" b="0">
                <a:solidFill>
                  <a:srgbClr val="58636F"/>
                </a:solidFill>
                <a:latin typeface="Nanum Gothic"/>
                <a:ea typeface="Nanum Gothic"/>
                <a:cs typeface="Nanum Gothic"/>
              </a:rPr>
              <a:t>보이스피싱 뉴스 메타데이터</a:t>
            </a:r>
          </a:p>
        </p:txBody>
      </p:sp>
      <p:cxnSp>
        <p:nvCxnSpPr>
          <p:cNvPr id="44" name="data-divider"/>
          <p:cNvCxnSpPr/>
          <p:nvPr/>
        </p:nvCxnSpPr>
        <p:spPr>
          <a:xfrm xmlns:a="http://schemas.openxmlformats.org/drawingml/2006/main">
            <a:off x="495300" y="3429000"/>
            <a:ext cx="11191875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8CDD3"/>
            </a:solidFill>
            <a:prstDash val="solid"/>
          </a:ln>
        </p:spPr>
      </p:cxnSp>
      <p:sp>
        <p:nvSpPr>
          <p:cNvPr id="14" name="data-left-title">
            <a:extLst xmlns:a="http://schemas.openxmlformats.org/drawingml/2006/main">
              <a:ext uri="{FF2B5EF4-FFF2-40B4-BE49-F238E27FC236}">
                <a16:creationId xmlns:a16="http://schemas.microsoft.com/office/drawing/2014/main" id="{96AAA2EA-DD4A-420C-B1FB-EF2DAC0CFC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733800"/>
            <a:ext cx="2381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11820"/>
                </a:solidFill>
                <a:latin typeface="Nanum Gothic"/>
                <a:ea typeface="Nanum Gothic"/>
                <a:cs typeface="Nanum Gothic"/>
              </a:defRPr>
            </a:pPr>
            <a:r>
              <a:rPr sz="2025" b="1">
                <a:solidFill>
                  <a:srgbClr val="111820"/>
                </a:solidFill>
                <a:latin typeface="Nanum Gothic"/>
                <a:ea typeface="Nanum Gothic"/>
                <a:cs typeface="Nanum Gothic"/>
              </a:rPr>
              <a:t>주요 출처</a:t>
            </a:r>
          </a:p>
        </p:txBody>
      </p:sp>
      <p:sp>
        <p:nvSpPr>
          <p:cNvPr id="15" name="bullet-mark-52-450-0">
            <a:extLst xmlns:a="http://schemas.openxmlformats.org/drawingml/2006/main">
              <a:ext uri="{FF2B5EF4-FFF2-40B4-BE49-F238E27FC236}">
                <a16:creationId xmlns:a16="http://schemas.microsoft.com/office/drawing/2014/main" id="{4260E840-986E-4C2D-BFF7-F57214214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286250"/>
            <a:ext cx="209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0B6B57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1">
                <a:solidFill>
                  <a:srgbClr val="0B6B57"/>
                </a:solidFill>
                <a:latin typeface="Nanum Gothic"/>
                <a:ea typeface="Nanum Gothic"/>
                <a:cs typeface="Nanum Gothic"/>
              </a:rPr>
              <a:t>•</a:t>
            </a:r>
          </a:p>
        </p:txBody>
      </p:sp>
      <p:sp>
        <p:nvSpPr>
          <p:cNvPr id="16" name="bullet-text-52-450-0">
            <a:extLst xmlns:a="http://schemas.openxmlformats.org/drawingml/2006/main">
              <a:ext uri="{FF2B5EF4-FFF2-40B4-BE49-F238E27FC236}">
                <a16:creationId xmlns:a16="http://schemas.microsoft.com/office/drawing/2014/main" id="{570CB612-1062-4EF2-9D16-B8E34E3BC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286250"/>
            <a:ext cx="4191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11820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11820"/>
                </a:solidFill>
                <a:latin typeface="Nanum Gothic"/>
                <a:ea typeface="Nanum Gothic"/>
                <a:cs typeface="Nanum Gothic"/>
              </a:rPr>
              <a:t>금융위원회·금융감독원</a:t>
            </a:r>
          </a:p>
        </p:txBody>
      </p:sp>
      <p:sp>
        <p:nvSpPr>
          <p:cNvPr id="17" name="bullet-mark-52-450-1">
            <a:extLst xmlns:a="http://schemas.openxmlformats.org/drawingml/2006/main">
              <a:ext uri="{FF2B5EF4-FFF2-40B4-BE49-F238E27FC236}">
                <a16:creationId xmlns:a16="http://schemas.microsoft.com/office/drawing/2014/main" id="{FBD63B54-CF90-47A9-BA79-48CB57062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705350"/>
            <a:ext cx="209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0B6B57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1">
                <a:solidFill>
                  <a:srgbClr val="0B6B57"/>
                </a:solidFill>
                <a:latin typeface="Nanum Gothic"/>
                <a:ea typeface="Nanum Gothic"/>
                <a:cs typeface="Nanum Gothic"/>
              </a:rPr>
              <a:t>•</a:t>
            </a:r>
          </a:p>
        </p:txBody>
      </p:sp>
      <p:sp>
        <p:nvSpPr>
          <p:cNvPr id="18" name="bullet-text-52-450-1">
            <a:extLst xmlns:a="http://schemas.openxmlformats.org/drawingml/2006/main">
              <a:ext uri="{FF2B5EF4-FFF2-40B4-BE49-F238E27FC236}">
                <a16:creationId xmlns:a16="http://schemas.microsoft.com/office/drawing/2014/main" id="{6F68CC36-7CD8-47A9-B053-8CBEA6526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705350"/>
            <a:ext cx="4191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11820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11820"/>
                </a:solidFill>
                <a:latin typeface="Nanum Gothic"/>
                <a:ea typeface="Nanum Gothic"/>
                <a:cs typeface="Nanum Gothic"/>
              </a:rPr>
              <a:t>예금보험공사·서민금융진흥원</a:t>
            </a:r>
          </a:p>
        </p:txBody>
      </p:sp>
      <p:sp>
        <p:nvSpPr>
          <p:cNvPr id="19" name="bullet-mark-52-450-2">
            <a:extLst xmlns:a="http://schemas.openxmlformats.org/drawingml/2006/main">
              <a:ext uri="{FF2B5EF4-FFF2-40B4-BE49-F238E27FC236}">
                <a16:creationId xmlns:a16="http://schemas.microsoft.com/office/drawing/2014/main" id="{06809512-BC8A-46F0-924A-2DE096A8F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124450"/>
            <a:ext cx="209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0B6B57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1">
                <a:solidFill>
                  <a:srgbClr val="0B6B57"/>
                </a:solidFill>
                <a:latin typeface="Nanum Gothic"/>
                <a:ea typeface="Nanum Gothic"/>
                <a:cs typeface="Nanum Gothic"/>
              </a:rPr>
              <a:t>•</a:t>
            </a:r>
          </a:p>
        </p:txBody>
      </p:sp>
      <p:sp>
        <p:nvSpPr>
          <p:cNvPr id="20" name="bullet-text-52-450-2">
            <a:extLst xmlns:a="http://schemas.openxmlformats.org/drawingml/2006/main">
              <a:ext uri="{FF2B5EF4-FFF2-40B4-BE49-F238E27FC236}">
                <a16:creationId xmlns:a16="http://schemas.microsoft.com/office/drawing/2014/main" id="{70165BC3-EEF1-489F-845E-9CC67D620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124450"/>
            <a:ext cx="4191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11820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11820"/>
                </a:solidFill>
                <a:latin typeface="Nanum Gothic"/>
                <a:ea typeface="Nanum Gothic"/>
                <a:cs typeface="Nanum Gothic"/>
              </a:rPr>
              <a:t>공정거래위원회·소비자24</a:t>
            </a:r>
          </a:p>
        </p:txBody>
      </p:sp>
      <p:sp>
        <p:nvSpPr>
          <p:cNvPr id="21" name="bullet-mark-52-450-3">
            <a:extLst xmlns:a="http://schemas.openxmlformats.org/drawingml/2006/main">
              <a:ext uri="{FF2B5EF4-FFF2-40B4-BE49-F238E27FC236}">
                <a16:creationId xmlns:a16="http://schemas.microsoft.com/office/drawing/2014/main" id="{75892B36-3C6C-4B1C-91A4-FD4D870D5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543550"/>
            <a:ext cx="209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0B6B57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1">
                <a:solidFill>
                  <a:srgbClr val="0B6B57"/>
                </a:solidFill>
                <a:latin typeface="Nanum Gothic"/>
                <a:ea typeface="Nanum Gothic"/>
                <a:cs typeface="Nanum Gothic"/>
              </a:rPr>
              <a:t>•</a:t>
            </a:r>
          </a:p>
        </p:txBody>
      </p:sp>
      <p:sp>
        <p:nvSpPr>
          <p:cNvPr id="22" name="bullet-text-52-450-3">
            <a:extLst xmlns:a="http://schemas.openxmlformats.org/drawingml/2006/main">
              <a:ext uri="{FF2B5EF4-FFF2-40B4-BE49-F238E27FC236}">
                <a16:creationId xmlns:a16="http://schemas.microsoft.com/office/drawing/2014/main" id="{DEDE4DAE-7388-4721-9E62-6DC6C86CA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43550"/>
            <a:ext cx="4191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11820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11820"/>
                </a:solidFill>
                <a:latin typeface="Nanum Gothic"/>
                <a:ea typeface="Nanum Gothic"/>
                <a:cs typeface="Nanum Gothic"/>
              </a:rPr>
              <a:t>경찰청·한국언론진흥재단</a:t>
            </a:r>
          </a:p>
        </p:txBody>
      </p:sp>
      <p:sp>
        <p:nvSpPr>
          <p:cNvPr id="23" name="data-right-title">
            <a:extLst xmlns:a="http://schemas.openxmlformats.org/drawingml/2006/main">
              <a:ext uri="{FF2B5EF4-FFF2-40B4-BE49-F238E27FC236}">
                <a16:creationId xmlns:a16="http://schemas.microsoft.com/office/drawing/2014/main" id="{BB147AFC-8B51-423F-97BD-D58CC384F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733800"/>
            <a:ext cx="2381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11820"/>
                </a:solidFill>
                <a:latin typeface="Nanum Gothic"/>
                <a:ea typeface="Nanum Gothic"/>
                <a:cs typeface="Nanum Gothic"/>
              </a:defRPr>
            </a:pPr>
            <a:r>
              <a:rPr sz="2025" b="1">
                <a:solidFill>
                  <a:srgbClr val="111820"/>
                </a:solidFill>
                <a:latin typeface="Nanum Gothic"/>
                <a:ea typeface="Nanum Gothic"/>
                <a:cs typeface="Nanum Gothic"/>
              </a:rPr>
              <a:t>분석 방식</a:t>
            </a:r>
          </a:p>
        </p:txBody>
      </p:sp>
      <p:sp>
        <p:nvSpPr>
          <p:cNvPr id="24" name="bullet-mark-660-450-0">
            <a:extLst xmlns:a="http://schemas.openxmlformats.org/drawingml/2006/main">
              <a:ext uri="{FF2B5EF4-FFF2-40B4-BE49-F238E27FC236}">
                <a16:creationId xmlns:a16="http://schemas.microsoft.com/office/drawing/2014/main" id="{961B0B09-BA38-4857-B0C4-765AB82D1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286250"/>
            <a:ext cx="209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0B6B57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1">
                <a:solidFill>
                  <a:srgbClr val="0B6B57"/>
                </a:solidFill>
                <a:latin typeface="Nanum Gothic"/>
                <a:ea typeface="Nanum Gothic"/>
                <a:cs typeface="Nanum Gothic"/>
              </a:rPr>
              <a:t>•</a:t>
            </a:r>
          </a:p>
        </p:txBody>
      </p:sp>
      <p:sp>
        <p:nvSpPr>
          <p:cNvPr id="25" name="bullet-text-660-450-0">
            <a:extLst xmlns:a="http://schemas.openxmlformats.org/drawingml/2006/main">
              <a:ext uri="{FF2B5EF4-FFF2-40B4-BE49-F238E27FC236}">
                <a16:creationId xmlns:a16="http://schemas.microsoft.com/office/drawing/2014/main" id="{69430A3A-B4DA-4006-AC54-660D0C7D8B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286250"/>
            <a:ext cx="4857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11820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11820"/>
                </a:solidFill>
                <a:latin typeface="Nanum Gothic"/>
                <a:ea typeface="Nanum Gothic"/>
                <a:cs typeface="Nanum Gothic"/>
              </a:rPr>
              <a:t>출처·발표일·원문 링크 보존</a:t>
            </a:r>
          </a:p>
        </p:txBody>
      </p:sp>
      <p:sp>
        <p:nvSpPr>
          <p:cNvPr id="26" name="bullet-mark-660-450-1">
            <a:extLst xmlns:a="http://schemas.openxmlformats.org/drawingml/2006/main">
              <a:ext uri="{FF2B5EF4-FFF2-40B4-BE49-F238E27FC236}">
                <a16:creationId xmlns:a16="http://schemas.microsoft.com/office/drawing/2014/main" id="{17DEFD1A-1510-4B8F-9CBC-91CCBF33D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705350"/>
            <a:ext cx="209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0B6B57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1">
                <a:solidFill>
                  <a:srgbClr val="0B6B57"/>
                </a:solidFill>
                <a:latin typeface="Nanum Gothic"/>
                <a:ea typeface="Nanum Gothic"/>
                <a:cs typeface="Nanum Gothic"/>
              </a:rPr>
              <a:t>•</a:t>
            </a:r>
          </a:p>
        </p:txBody>
      </p:sp>
      <p:sp>
        <p:nvSpPr>
          <p:cNvPr id="27" name="bullet-text-660-450-1">
            <a:extLst xmlns:a="http://schemas.openxmlformats.org/drawingml/2006/main">
              <a:ext uri="{FF2B5EF4-FFF2-40B4-BE49-F238E27FC236}">
                <a16:creationId xmlns:a16="http://schemas.microsoft.com/office/drawing/2014/main" id="{F76C1AD9-5012-4262-A38F-8B31931D4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705350"/>
            <a:ext cx="4857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11820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11820"/>
                </a:solidFill>
                <a:latin typeface="Nanum Gothic"/>
                <a:ea typeface="Nanum Gothic"/>
                <a:cs typeface="Nanum Gothic"/>
              </a:rPr>
              <a:t>규칙·표준약관·FAQ를 역할별 분리</a:t>
            </a:r>
          </a:p>
        </p:txBody>
      </p:sp>
      <p:sp>
        <p:nvSpPr>
          <p:cNvPr id="28" name="bullet-mark-660-450-2">
            <a:extLst xmlns:a="http://schemas.openxmlformats.org/drawingml/2006/main">
              <a:ext uri="{FF2B5EF4-FFF2-40B4-BE49-F238E27FC236}">
                <a16:creationId xmlns:a16="http://schemas.microsoft.com/office/drawing/2014/main" id="{3720CC4E-3BE2-4DA6-9399-85DC4223C9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124450"/>
            <a:ext cx="209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0B6B57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1">
                <a:solidFill>
                  <a:srgbClr val="0B6B57"/>
                </a:solidFill>
                <a:latin typeface="Nanum Gothic"/>
                <a:ea typeface="Nanum Gothic"/>
                <a:cs typeface="Nanum Gothic"/>
              </a:rPr>
              <a:t>•</a:t>
            </a:r>
          </a:p>
        </p:txBody>
      </p:sp>
      <p:sp>
        <p:nvSpPr>
          <p:cNvPr id="29" name="bullet-text-660-450-2">
            <a:extLst xmlns:a="http://schemas.openxmlformats.org/drawingml/2006/main">
              <a:ext uri="{FF2B5EF4-FFF2-40B4-BE49-F238E27FC236}">
                <a16:creationId xmlns:a16="http://schemas.microsoft.com/office/drawing/2014/main" id="{07149CE1-F496-426C-B066-CDB7AF474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5124450"/>
            <a:ext cx="4857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11820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11820"/>
                </a:solidFill>
                <a:latin typeface="Nanum Gothic"/>
                <a:ea typeface="Nanum Gothic"/>
                <a:cs typeface="Nanum Gothic"/>
              </a:rPr>
              <a:t>검색 결과를 정확히 일치·관련 용어로 구분</a:t>
            </a:r>
          </a:p>
        </p:txBody>
      </p:sp>
      <p:sp>
        <p:nvSpPr>
          <p:cNvPr id="30" name="bullet-mark-660-450-3">
            <a:extLst xmlns:a="http://schemas.openxmlformats.org/drawingml/2006/main">
              <a:ext uri="{FF2B5EF4-FFF2-40B4-BE49-F238E27FC236}">
                <a16:creationId xmlns:a16="http://schemas.microsoft.com/office/drawing/2014/main" id="{82D293E1-1C27-4820-B987-BA8798A3E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543550"/>
            <a:ext cx="209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0B6B57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1">
                <a:solidFill>
                  <a:srgbClr val="0B6B57"/>
                </a:solidFill>
                <a:latin typeface="Nanum Gothic"/>
                <a:ea typeface="Nanum Gothic"/>
                <a:cs typeface="Nanum Gothic"/>
              </a:rPr>
              <a:t>•</a:t>
            </a:r>
          </a:p>
        </p:txBody>
      </p:sp>
      <p:sp>
        <p:nvSpPr>
          <p:cNvPr id="31" name="bullet-text-660-450-3">
            <a:extLst xmlns:a="http://schemas.openxmlformats.org/drawingml/2006/main">
              <a:ext uri="{FF2B5EF4-FFF2-40B4-BE49-F238E27FC236}">
                <a16:creationId xmlns:a16="http://schemas.microsoft.com/office/drawing/2014/main" id="{950446BA-BE3C-4F35-B324-111E9713F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5543550"/>
            <a:ext cx="4857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11820"/>
                </a:solidFill>
                <a:latin typeface="Nanum Gothic"/>
                <a:ea typeface="Nanum Gothic"/>
                <a:cs typeface="Nanum Gothic"/>
              </a:defRPr>
            </a:pPr>
            <a:r>
              <a:rPr sz="1575" b="0">
                <a:solidFill>
                  <a:srgbClr val="111820"/>
                </a:solidFill>
                <a:latin typeface="Nanum Gothic"/>
                <a:ea typeface="Nanum Gothic"/>
                <a:cs typeface="Nanum Gothic"/>
              </a:rPr>
              <a:t>정상 문장까지 포함해 오탐을 함께 측정</a:t>
            </a:r>
          </a:p>
        </p:txBody>
      </p:sp>
    </p:spTree>
    <p:extLst>
      <p:ext uri="{BB962C8B-B14F-4D97-AF65-F5344CB8AC3E}">
        <p14:creationId xmlns:p14="http://schemas.microsoft.com/office/powerpoint/2010/main" val="1014355719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kicker-8">
            <a:extLst xmlns:a="http://schemas.openxmlformats.org/drawingml/2006/main">
              <a:ext uri="{FF2B5EF4-FFF2-40B4-BE49-F238E27FC236}">
                <a16:creationId xmlns:a16="http://schemas.microsoft.com/office/drawing/2014/main" id="{DEFFA739-9528-4079-82D1-5F0566B86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857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B6B57"/>
                </a:solidFill>
                <a:latin typeface="Nanum Gothic"/>
                <a:ea typeface="Nanum Gothic"/>
                <a:cs typeface="Nanum Gothic"/>
              </a:defRPr>
            </a:pPr>
            <a:r>
              <a:rPr sz="1125" b="1">
                <a:solidFill>
                  <a:srgbClr val="0B6B57"/>
                </a:solidFill>
                <a:latin typeface="Nanum Gothic"/>
                <a:ea typeface="Nanum Gothic"/>
                <a:cs typeface="Nanum Gothic"/>
              </a:rPr>
              <a:t>시스템 아키텍처</a:t>
            </a:r>
          </a:p>
        </p:txBody>
      </p:sp>
      <p:sp>
        <p:nvSpPr>
          <p:cNvPr id="2" name="title-8">
            <a:extLst xmlns:a="http://schemas.openxmlformats.org/drawingml/2006/main">
              <a:ext uri="{FF2B5EF4-FFF2-40B4-BE49-F238E27FC236}">
                <a16:creationId xmlns:a16="http://schemas.microsoft.com/office/drawing/2014/main" id="{25606991-8001-483C-AC49-C50956625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28650"/>
            <a:ext cx="10668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525" b="1">
                <a:solidFill>
                  <a:srgbClr val="111820"/>
                </a:solidFill>
                <a:latin typeface="Nanum Gothic"/>
                <a:ea typeface="Nanum Gothic"/>
                <a:cs typeface="Nanum Gothic"/>
              </a:defRPr>
            </a:pPr>
            <a:r>
              <a:rPr sz="3525" b="1">
                <a:solidFill>
                  <a:srgbClr val="111820"/>
                </a:solidFill>
                <a:latin typeface="Nanum Gothic"/>
                <a:ea typeface="Nanum Gothic"/>
                <a:cs typeface="Nanum Gothic"/>
              </a:rPr>
              <a:t>규칙 기반 판단과 공식 근거 검색을 결합했습니다</a:t>
            </a:r>
          </a:p>
        </p:txBody>
      </p:sp>
      <p:cxnSp>
        <p:nvCxnSpPr>
          <p:cNvPr id="28" name="rule-8"/>
          <p:cNvCxnSpPr/>
          <p:nvPr/>
        </p:nvCxnSpPr>
        <p:spPr>
          <a:xfrm xmlns:a="http://schemas.openxmlformats.org/drawingml/2006/main">
            <a:off x="495300" y="1333500"/>
            <a:ext cx="112014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8CDD3"/>
            </a:solidFill>
            <a:prstDash val="solid"/>
          </a:ln>
        </p:spPr>
      </p:cxnSp>
      <p:sp>
        <p:nvSpPr>
          <p:cNvPr id="4" name="page-8">
            <a:extLst xmlns:a="http://schemas.openxmlformats.org/drawingml/2006/main">
              <a:ext uri="{FF2B5EF4-FFF2-40B4-BE49-F238E27FC236}">
                <a16:creationId xmlns:a16="http://schemas.microsoft.com/office/drawing/2014/main" id="{43E3D6EF-CC5C-4306-9044-2E339711D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381750"/>
            <a:ext cx="419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8636F"/>
                </a:solidFill>
                <a:latin typeface="Nanum Gothic"/>
                <a:ea typeface="Nanum Gothic"/>
                <a:cs typeface="Nanum Gothic"/>
              </a:defRPr>
            </a:pPr>
            <a:r>
              <a:rPr sz="975" b="0">
                <a:solidFill>
                  <a:srgbClr val="58636F"/>
                </a:solidFill>
                <a:latin typeface="Nanum Gothic"/>
                <a:ea typeface="Nanum Gothic"/>
                <a:cs typeface="Nanum Gothic"/>
              </a:rPr>
              <a:t>08</a:t>
            </a:r>
          </a:p>
        </p:txBody>
      </p:sp>
      <p:cxnSp>
        <p:nvCxnSpPr>
          <p:cNvPr id="30" name="arch-arrow-0"/>
          <p:cNvCxnSpPr/>
          <p:nvPr/>
        </p:nvCxnSpPr>
        <p:spPr>
          <a:xfrm xmlns:a="http://schemas.openxmlformats.org/drawingml/2006/main">
            <a:off x="2124075" y="3381375"/>
            <a:ext cx="9525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1B4A73"/>
            </a:solidFill>
            <a:prstDash val="solid"/>
          </a:ln>
        </p:spPr>
      </p:cxnSp>
      <p:cxnSp>
        <p:nvCxnSpPr>
          <p:cNvPr id="31" name="arch-arrow-1"/>
          <p:cNvCxnSpPr/>
          <p:nvPr/>
        </p:nvCxnSpPr>
        <p:spPr>
          <a:xfrm xmlns:a="http://schemas.openxmlformats.org/drawingml/2006/main">
            <a:off x="4600575" y="3381375"/>
            <a:ext cx="9525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1B4A73"/>
            </a:solidFill>
            <a:prstDash val="solid"/>
          </a:ln>
        </p:spPr>
      </p:cxnSp>
      <p:cxnSp>
        <p:nvCxnSpPr>
          <p:cNvPr id="32" name="arch-arrow-2"/>
          <p:cNvCxnSpPr/>
          <p:nvPr/>
        </p:nvCxnSpPr>
        <p:spPr>
          <a:xfrm xmlns:a="http://schemas.openxmlformats.org/drawingml/2006/main">
            <a:off x="7077075" y="3381375"/>
            <a:ext cx="9525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1B4A73"/>
            </a:solidFill>
            <a:prstDash val="solid"/>
          </a:ln>
        </p:spPr>
      </p:cxnSp>
      <p:cxnSp>
        <p:nvCxnSpPr>
          <p:cNvPr id="33" name="arch-arrow-3"/>
          <p:cNvCxnSpPr/>
          <p:nvPr/>
        </p:nvCxnSpPr>
        <p:spPr>
          <a:xfrm xmlns:a="http://schemas.openxmlformats.org/drawingml/2006/main">
            <a:off x="9553575" y="3381375"/>
            <a:ext cx="9525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1B4A73"/>
            </a:solidFill>
            <a:prstDash val="solid"/>
          </a:ln>
        </p:spPr>
      </p:cxnSp>
      <p:sp>
        <p:nvSpPr>
          <p:cNvPr id="9" name="arch-node-0">
            <a:extLst xmlns:a="http://schemas.openxmlformats.org/drawingml/2006/main">
              <a:ext uri="{FF2B5EF4-FFF2-40B4-BE49-F238E27FC236}">
                <a16:creationId xmlns:a16="http://schemas.microsoft.com/office/drawing/2014/main" id="{4044336A-0A15-4A22-81C1-63003BA7B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381250"/>
            <a:ext cx="1666875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1F2"/>
          </a:solidFill>
          <a:ln xmlns:a="http://schemas.openxmlformats.org/drawingml/2006/main" w="9525">
            <a:solidFill>
              <a:srgbClr val="C8CDD3"/>
            </a:solidFill>
            <a:prstDash val="solid"/>
          </a:ln>
        </p:spPr>
      </p:sp>
      <p:sp>
        <p:nvSpPr>
          <p:cNvPr id="10" name="arch-title-0">
            <a:extLst xmlns:a="http://schemas.openxmlformats.org/drawingml/2006/main">
              <a:ext uri="{FF2B5EF4-FFF2-40B4-BE49-F238E27FC236}">
                <a16:creationId xmlns:a16="http://schemas.microsoft.com/office/drawing/2014/main" id="{BB725701-26E6-472A-95AA-51620884C5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667000"/>
            <a:ext cx="1333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111820"/>
                </a:solidFill>
                <a:latin typeface="Nanum Gothic"/>
                <a:ea typeface="Nanum Gothic"/>
                <a:cs typeface="Nanum Gothic"/>
              </a:defRPr>
            </a:pPr>
            <a:r>
              <a:rPr sz="2025" b="1">
                <a:solidFill>
                  <a:srgbClr val="111820"/>
                </a:solidFill>
                <a:latin typeface="Nanum Gothic"/>
                <a:ea typeface="Nanum Gothic"/>
                <a:cs typeface="Nanum Gothic"/>
              </a:rPr>
              <a:t>입력</a:t>
            </a:r>
          </a:p>
        </p:txBody>
      </p:sp>
      <p:sp>
        <p:nvSpPr>
          <p:cNvPr id="11" name="arch-body-0">
            <a:extLst xmlns:a="http://schemas.openxmlformats.org/drawingml/2006/main">
              <a:ext uri="{FF2B5EF4-FFF2-40B4-BE49-F238E27FC236}">
                <a16:creationId xmlns:a16="http://schemas.microsoft.com/office/drawing/2014/main" id="{C09D261C-C281-4985-B688-8A6D30D26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276600"/>
            <a:ext cx="13335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58636F"/>
                </a:solidFill>
                <a:latin typeface="Nanum Gothic"/>
                <a:ea typeface="Nanum Gothic"/>
                <a:cs typeface="Nanum Gothic"/>
              </a:defRPr>
            </a:pPr>
            <a:r>
              <a:rPr sz="1500" b="0">
                <a:solidFill>
                  <a:srgbClr val="58636F"/>
                </a:solidFill>
                <a:latin typeface="Nanum Gothic"/>
                <a:ea typeface="Nanum Gothic"/>
                <a:cs typeface="Nanum Gothic"/>
              </a:rPr>
              <a:t>텍스트</a:t>
            </a:r>
          </a:p>
          <a:p xmlns:a="http://schemas.openxmlformats.org/drawingml/2006/main">
            <a:pPr algn="ctr">
              <a:defRPr sz="1500" b="0">
                <a:solidFill>
                  <a:srgbClr val="58636F"/>
                </a:solidFill>
                <a:latin typeface="Nanum Gothic"/>
                <a:ea typeface="Nanum Gothic"/>
                <a:cs typeface="Nanum Gothic"/>
              </a:defRPr>
            </a:pPr>
            <a:r>
              <a:rPr sz="1500" b="0">
                <a:solidFill>
                  <a:srgbClr val="58636F"/>
                </a:solidFill>
                <a:latin typeface="Nanum Gothic"/>
                <a:ea typeface="Nanum Gothic"/>
                <a:cs typeface="Nanum Gothic"/>
              </a:rPr>
              <a:t>사진·PDF</a:t>
            </a:r>
          </a:p>
          <a:p xmlns:a="http://schemas.openxmlformats.org/drawingml/2006/main">
            <a:pPr algn="ctr">
              <a:defRPr sz="1500" b="0">
                <a:solidFill>
                  <a:srgbClr val="58636F"/>
                </a:solidFill>
                <a:latin typeface="Nanum Gothic"/>
                <a:ea typeface="Nanum Gothic"/>
                <a:cs typeface="Nanum Gothic"/>
              </a:defRPr>
            </a:pPr>
            <a:r>
              <a:rPr sz="1500" b="0">
                <a:solidFill>
                  <a:srgbClr val="58636F"/>
                </a:solidFill>
                <a:latin typeface="Nanum Gothic"/>
                <a:ea typeface="Nanum Gothic"/>
                <a:cs typeface="Nanum Gothic"/>
              </a:rPr>
              <a:t>음성</a:t>
            </a:r>
          </a:p>
        </p:txBody>
      </p:sp>
      <p:sp>
        <p:nvSpPr>
          <p:cNvPr id="12" name="arch-node-1">
            <a:extLst xmlns:a="http://schemas.openxmlformats.org/drawingml/2006/main">
              <a:ext uri="{FF2B5EF4-FFF2-40B4-BE49-F238E27FC236}">
                <a16:creationId xmlns:a16="http://schemas.microsoft.com/office/drawing/2014/main" id="{7B63873D-53FA-462E-BD41-4747973D9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2381250"/>
            <a:ext cx="1666875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1F2"/>
          </a:solidFill>
          <a:ln xmlns:a="http://schemas.openxmlformats.org/drawingml/2006/main" w="9525">
            <a:solidFill>
              <a:srgbClr val="C8CDD3"/>
            </a:solidFill>
            <a:prstDash val="solid"/>
          </a:ln>
        </p:spPr>
      </p:sp>
      <p:sp>
        <p:nvSpPr>
          <p:cNvPr id="13" name="arch-title-1">
            <a:extLst xmlns:a="http://schemas.openxmlformats.org/drawingml/2006/main">
              <a:ext uri="{FF2B5EF4-FFF2-40B4-BE49-F238E27FC236}">
                <a16:creationId xmlns:a16="http://schemas.microsoft.com/office/drawing/2014/main" id="{2917B3C8-69DE-4286-BEF1-163F9C6DF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2667000"/>
            <a:ext cx="1333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111820"/>
                </a:solidFill>
                <a:latin typeface="Nanum Gothic"/>
                <a:ea typeface="Nanum Gothic"/>
                <a:cs typeface="Nanum Gothic"/>
              </a:defRPr>
            </a:pPr>
            <a:r>
              <a:rPr sz="2025" b="1">
                <a:solidFill>
                  <a:srgbClr val="111820"/>
                </a:solidFill>
                <a:latin typeface="Nanum Gothic"/>
                <a:ea typeface="Nanum Gothic"/>
                <a:cs typeface="Nanum Gothic"/>
              </a:rPr>
              <a:t>전처리</a:t>
            </a:r>
          </a:p>
        </p:txBody>
      </p:sp>
      <p:sp>
        <p:nvSpPr>
          <p:cNvPr id="14" name="arch-body-1">
            <a:extLst xmlns:a="http://schemas.openxmlformats.org/drawingml/2006/main">
              <a:ext uri="{FF2B5EF4-FFF2-40B4-BE49-F238E27FC236}">
                <a16:creationId xmlns:a16="http://schemas.microsoft.com/office/drawing/2014/main" id="{B1734CF0-DCC6-4030-B40E-FA4A0F3F8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3276600"/>
            <a:ext cx="13335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58636F"/>
                </a:solidFill>
                <a:latin typeface="Nanum Gothic"/>
                <a:ea typeface="Nanum Gothic"/>
                <a:cs typeface="Nanum Gothic"/>
              </a:defRPr>
            </a:pPr>
            <a:r>
              <a:rPr sz="1500" b="0">
                <a:solidFill>
                  <a:srgbClr val="58636F"/>
                </a:solidFill>
                <a:latin typeface="Nanum Gothic"/>
                <a:ea typeface="Nanum Gothic"/>
                <a:cs typeface="Nanum Gothic"/>
              </a:rPr>
              <a:t>OCR</a:t>
            </a:r>
          </a:p>
          <a:p xmlns:a="http://schemas.openxmlformats.org/drawingml/2006/main">
            <a:pPr algn="ctr">
              <a:defRPr sz="1500" b="0">
                <a:solidFill>
                  <a:srgbClr val="58636F"/>
                </a:solidFill>
                <a:latin typeface="Nanum Gothic"/>
                <a:ea typeface="Nanum Gothic"/>
                <a:cs typeface="Nanum Gothic"/>
              </a:defRPr>
            </a:pPr>
            <a:r>
              <a:rPr sz="1500" b="0">
                <a:solidFill>
                  <a:srgbClr val="58636F"/>
                </a:solidFill>
                <a:latin typeface="Nanum Gothic"/>
                <a:ea typeface="Nanum Gothic"/>
                <a:cs typeface="Nanum Gothic"/>
              </a:rPr>
              <a:t>문장 분리</a:t>
            </a:r>
          </a:p>
          <a:p xmlns:a="http://schemas.openxmlformats.org/drawingml/2006/main">
            <a:pPr algn="ctr">
              <a:defRPr sz="1500" b="0">
                <a:solidFill>
                  <a:srgbClr val="58636F"/>
                </a:solidFill>
                <a:latin typeface="Nanum Gothic"/>
                <a:ea typeface="Nanum Gothic"/>
                <a:cs typeface="Nanum Gothic"/>
              </a:defRPr>
            </a:pPr>
            <a:r>
              <a:rPr sz="1500" b="0">
                <a:solidFill>
                  <a:srgbClr val="58636F"/>
                </a:solidFill>
                <a:latin typeface="Nanum Gothic"/>
                <a:ea typeface="Nanum Gothic"/>
                <a:cs typeface="Nanum Gothic"/>
              </a:rPr>
              <a:t>개인정보 가림</a:t>
            </a:r>
          </a:p>
        </p:txBody>
      </p:sp>
      <p:sp>
        <p:nvSpPr>
          <p:cNvPr id="15" name="arch-node-2">
            <a:extLst xmlns:a="http://schemas.openxmlformats.org/drawingml/2006/main">
              <a:ext uri="{FF2B5EF4-FFF2-40B4-BE49-F238E27FC236}">
                <a16:creationId xmlns:a16="http://schemas.microsoft.com/office/drawing/2014/main" id="{AB9ED297-BBAC-450F-BBCE-90419223B1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0700" y="2381250"/>
            <a:ext cx="1666875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2F8"/>
          </a:solidFill>
          <a:ln xmlns:a="http://schemas.openxmlformats.org/drawingml/2006/main" w="9525">
            <a:solidFill>
              <a:srgbClr val="1B4A73"/>
            </a:solidFill>
            <a:prstDash val="solid"/>
          </a:ln>
        </p:spPr>
      </p:sp>
      <p:sp>
        <p:nvSpPr>
          <p:cNvPr id="16" name="arch-title-2">
            <a:extLst xmlns:a="http://schemas.openxmlformats.org/drawingml/2006/main">
              <a:ext uri="{FF2B5EF4-FFF2-40B4-BE49-F238E27FC236}">
                <a16:creationId xmlns:a16="http://schemas.microsoft.com/office/drawing/2014/main" id="{8553CB91-6F4E-432B-BD41-4E1C953BF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2667000"/>
            <a:ext cx="1333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1B4A73"/>
                </a:solidFill>
                <a:latin typeface="Nanum Gothic"/>
                <a:ea typeface="Nanum Gothic"/>
                <a:cs typeface="Nanum Gothic"/>
              </a:defRPr>
            </a:pPr>
            <a:r>
              <a:rPr sz="2025" b="1">
                <a:solidFill>
                  <a:srgbClr val="1B4A73"/>
                </a:solidFill>
                <a:latin typeface="Nanum Gothic"/>
                <a:ea typeface="Nanum Gothic"/>
                <a:cs typeface="Nanum Gothic"/>
              </a:rPr>
              <a:t>판단</a:t>
            </a:r>
          </a:p>
        </p:txBody>
      </p:sp>
      <p:sp>
        <p:nvSpPr>
          <p:cNvPr id="17" name="arch-body-2">
            <a:extLst xmlns:a="http://schemas.openxmlformats.org/drawingml/2006/main">
              <a:ext uri="{FF2B5EF4-FFF2-40B4-BE49-F238E27FC236}">
                <a16:creationId xmlns:a16="http://schemas.microsoft.com/office/drawing/2014/main" id="{F94E8C70-7C09-43AA-8049-091822EF1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3276600"/>
            <a:ext cx="13335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58636F"/>
                </a:solidFill>
                <a:latin typeface="Nanum Gothic"/>
                <a:ea typeface="Nanum Gothic"/>
                <a:cs typeface="Nanum Gothic"/>
              </a:defRPr>
            </a:pPr>
            <a:r>
              <a:rPr sz="1500" b="0">
                <a:solidFill>
                  <a:srgbClr val="58636F"/>
                </a:solidFill>
                <a:latin typeface="Nanum Gothic"/>
                <a:ea typeface="Nanum Gothic"/>
                <a:cs typeface="Nanum Gothic"/>
              </a:rPr>
              <a:t>위험 규칙</a:t>
            </a:r>
          </a:p>
          <a:p xmlns:a="http://schemas.openxmlformats.org/drawingml/2006/main">
            <a:pPr algn="ctr">
              <a:defRPr sz="1500" b="0">
                <a:solidFill>
                  <a:srgbClr val="58636F"/>
                </a:solidFill>
                <a:latin typeface="Nanum Gothic"/>
                <a:ea typeface="Nanum Gothic"/>
                <a:cs typeface="Nanum Gothic"/>
              </a:defRPr>
            </a:pPr>
            <a:r>
              <a:rPr sz="1500" b="0">
                <a:solidFill>
                  <a:srgbClr val="58636F"/>
                </a:solidFill>
                <a:latin typeface="Nanum Gothic"/>
                <a:ea typeface="Nanum Gothic"/>
                <a:cs typeface="Nanum Gothic"/>
              </a:rPr>
              <a:t>사고 분류</a:t>
            </a:r>
          </a:p>
          <a:p xmlns:a="http://schemas.openxmlformats.org/drawingml/2006/main">
            <a:pPr algn="ctr">
              <a:defRPr sz="1500" b="0">
                <a:solidFill>
                  <a:srgbClr val="58636F"/>
                </a:solidFill>
                <a:latin typeface="Nanum Gothic"/>
                <a:ea typeface="Nanum Gothic"/>
                <a:cs typeface="Nanum Gothic"/>
              </a:defRPr>
            </a:pPr>
            <a:r>
              <a:rPr sz="1500" b="0">
                <a:solidFill>
                  <a:srgbClr val="58636F"/>
                </a:solidFill>
                <a:latin typeface="Nanum Gothic"/>
                <a:ea typeface="Nanum Gothic"/>
                <a:cs typeface="Nanum Gothic"/>
              </a:rPr>
              <a:t>긴급도</a:t>
            </a:r>
          </a:p>
        </p:txBody>
      </p:sp>
      <p:sp>
        <p:nvSpPr>
          <p:cNvPr id="18" name="arch-node-3">
            <a:extLst xmlns:a="http://schemas.openxmlformats.org/drawingml/2006/main">
              <a:ext uri="{FF2B5EF4-FFF2-40B4-BE49-F238E27FC236}">
                <a16:creationId xmlns:a16="http://schemas.microsoft.com/office/drawing/2014/main" id="{FCB00CA8-AD1D-474C-AA14-BCF52A60B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381250"/>
            <a:ext cx="1666875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1F2"/>
          </a:solidFill>
          <a:ln xmlns:a="http://schemas.openxmlformats.org/drawingml/2006/main" w="9525">
            <a:solidFill>
              <a:srgbClr val="C8CDD3"/>
            </a:solidFill>
            <a:prstDash val="solid"/>
          </a:ln>
        </p:spPr>
      </p:sp>
      <p:sp>
        <p:nvSpPr>
          <p:cNvPr id="19" name="arch-title-3">
            <a:extLst xmlns:a="http://schemas.openxmlformats.org/drawingml/2006/main">
              <a:ext uri="{FF2B5EF4-FFF2-40B4-BE49-F238E27FC236}">
                <a16:creationId xmlns:a16="http://schemas.microsoft.com/office/drawing/2014/main" id="{858BE11B-FFFC-4C59-9C62-FBB2279BC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667000"/>
            <a:ext cx="1333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111820"/>
                </a:solidFill>
                <a:latin typeface="Nanum Gothic"/>
                <a:ea typeface="Nanum Gothic"/>
                <a:cs typeface="Nanum Gothic"/>
              </a:defRPr>
            </a:pPr>
            <a:r>
              <a:rPr sz="2025" b="1">
                <a:solidFill>
                  <a:srgbClr val="111820"/>
                </a:solidFill>
                <a:latin typeface="Nanum Gothic"/>
                <a:ea typeface="Nanum Gothic"/>
                <a:cs typeface="Nanum Gothic"/>
              </a:rPr>
              <a:t>근거</a:t>
            </a:r>
          </a:p>
        </p:txBody>
      </p:sp>
      <p:sp>
        <p:nvSpPr>
          <p:cNvPr id="20" name="arch-body-3">
            <a:extLst xmlns:a="http://schemas.openxmlformats.org/drawingml/2006/main">
              <a:ext uri="{FF2B5EF4-FFF2-40B4-BE49-F238E27FC236}">
                <a16:creationId xmlns:a16="http://schemas.microsoft.com/office/drawing/2014/main" id="{6693FD55-8E58-4008-9FFB-4D3DF3521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276600"/>
            <a:ext cx="13335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58636F"/>
                </a:solidFill>
                <a:latin typeface="Nanum Gothic"/>
                <a:ea typeface="Nanum Gothic"/>
                <a:cs typeface="Nanum Gothic"/>
              </a:defRPr>
            </a:pPr>
            <a:r>
              <a:rPr sz="1500" b="0">
                <a:solidFill>
                  <a:srgbClr val="58636F"/>
                </a:solidFill>
                <a:latin typeface="Nanum Gothic"/>
                <a:ea typeface="Nanum Gothic"/>
                <a:cs typeface="Nanum Gothic"/>
              </a:rPr>
              <a:t>표준약관</a:t>
            </a:r>
          </a:p>
          <a:p xmlns:a="http://schemas.openxmlformats.org/drawingml/2006/main">
            <a:pPr algn="ctr">
              <a:defRPr sz="1500" b="0">
                <a:solidFill>
                  <a:srgbClr val="58636F"/>
                </a:solidFill>
                <a:latin typeface="Nanum Gothic"/>
                <a:ea typeface="Nanum Gothic"/>
                <a:cs typeface="Nanum Gothic"/>
              </a:defRPr>
            </a:pPr>
            <a:r>
              <a:rPr sz="1500" b="0">
                <a:solidFill>
                  <a:srgbClr val="58636F"/>
                </a:solidFill>
                <a:latin typeface="Nanum Gothic"/>
                <a:ea typeface="Nanum Gothic"/>
                <a:cs typeface="Nanum Gothic"/>
              </a:rPr>
              <a:t>공식 FAQ</a:t>
            </a:r>
          </a:p>
          <a:p xmlns:a="http://schemas.openxmlformats.org/drawingml/2006/main">
            <a:pPr algn="ctr">
              <a:defRPr sz="1500" b="0">
                <a:solidFill>
                  <a:srgbClr val="58636F"/>
                </a:solidFill>
                <a:latin typeface="Nanum Gothic"/>
                <a:ea typeface="Nanum Gothic"/>
                <a:cs typeface="Nanum Gothic"/>
              </a:defRPr>
            </a:pPr>
            <a:r>
              <a:rPr sz="1500" b="0">
                <a:solidFill>
                  <a:srgbClr val="58636F"/>
                </a:solidFill>
                <a:latin typeface="Nanum Gothic"/>
                <a:ea typeface="Nanum Gothic"/>
                <a:cs typeface="Nanum Gothic"/>
              </a:rPr>
              <a:t>사례 검색</a:t>
            </a:r>
          </a:p>
        </p:txBody>
      </p:sp>
      <p:sp>
        <p:nvSpPr>
          <p:cNvPr id="21" name="arch-node-4">
            <a:extLst xmlns:a="http://schemas.openxmlformats.org/drawingml/2006/main">
              <a:ext uri="{FF2B5EF4-FFF2-40B4-BE49-F238E27FC236}">
                <a16:creationId xmlns:a16="http://schemas.microsoft.com/office/drawing/2014/main" id="{28F15357-3FF9-40AB-AB4F-19E8FDFFE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2381250"/>
            <a:ext cx="1666875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1F2"/>
          </a:solidFill>
          <a:ln xmlns:a="http://schemas.openxmlformats.org/drawingml/2006/main" w="9525">
            <a:solidFill>
              <a:srgbClr val="C8CDD3"/>
            </a:solidFill>
            <a:prstDash val="solid"/>
          </a:ln>
        </p:spPr>
      </p:sp>
      <p:sp>
        <p:nvSpPr>
          <p:cNvPr id="22" name="arch-title-4">
            <a:extLst xmlns:a="http://schemas.openxmlformats.org/drawingml/2006/main">
              <a:ext uri="{FF2B5EF4-FFF2-40B4-BE49-F238E27FC236}">
                <a16:creationId xmlns:a16="http://schemas.microsoft.com/office/drawing/2014/main" id="{6D8F1A58-35C7-48EA-AC82-9E9354F95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2667000"/>
            <a:ext cx="1333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111820"/>
                </a:solidFill>
                <a:latin typeface="Nanum Gothic"/>
                <a:ea typeface="Nanum Gothic"/>
                <a:cs typeface="Nanum Gothic"/>
              </a:defRPr>
            </a:pPr>
            <a:r>
              <a:rPr sz="2025" b="1">
                <a:solidFill>
                  <a:srgbClr val="111820"/>
                </a:solidFill>
                <a:latin typeface="Nanum Gothic"/>
                <a:ea typeface="Nanum Gothic"/>
                <a:cs typeface="Nanum Gothic"/>
              </a:rPr>
              <a:t>출력</a:t>
            </a:r>
          </a:p>
        </p:txBody>
      </p:sp>
      <p:sp>
        <p:nvSpPr>
          <p:cNvPr id="23" name="arch-body-4">
            <a:extLst xmlns:a="http://schemas.openxmlformats.org/drawingml/2006/main">
              <a:ext uri="{FF2B5EF4-FFF2-40B4-BE49-F238E27FC236}">
                <a16:creationId xmlns:a16="http://schemas.microsoft.com/office/drawing/2014/main" id="{8D937737-0EC4-4A9C-8331-C104A754C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3276600"/>
            <a:ext cx="13335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58636F"/>
                </a:solidFill>
                <a:latin typeface="Nanum Gothic"/>
                <a:ea typeface="Nanum Gothic"/>
                <a:cs typeface="Nanum Gothic"/>
              </a:defRPr>
            </a:pPr>
            <a:r>
              <a:rPr sz="1500" b="0">
                <a:solidFill>
                  <a:srgbClr val="58636F"/>
                </a:solidFill>
                <a:latin typeface="Nanum Gothic"/>
                <a:ea typeface="Nanum Gothic"/>
                <a:cs typeface="Nanum Gothic"/>
              </a:rPr>
              <a:t>쉬운 설명</a:t>
            </a:r>
          </a:p>
          <a:p xmlns:a="http://schemas.openxmlformats.org/drawingml/2006/main">
            <a:pPr algn="ctr">
              <a:defRPr sz="1500" b="0">
                <a:solidFill>
                  <a:srgbClr val="58636F"/>
                </a:solidFill>
                <a:latin typeface="Nanum Gothic"/>
                <a:ea typeface="Nanum Gothic"/>
                <a:cs typeface="Nanum Gothic"/>
              </a:defRPr>
            </a:pPr>
            <a:r>
              <a:rPr sz="1500" b="0">
                <a:solidFill>
                  <a:srgbClr val="58636F"/>
                </a:solidFill>
                <a:latin typeface="Nanum Gothic"/>
                <a:ea typeface="Nanum Gothic"/>
                <a:cs typeface="Nanum Gothic"/>
              </a:rPr>
              <a:t>행동 계획</a:t>
            </a:r>
          </a:p>
          <a:p xmlns:a="http://schemas.openxmlformats.org/drawingml/2006/main">
            <a:pPr algn="ctr">
              <a:defRPr sz="1500" b="0">
                <a:solidFill>
                  <a:srgbClr val="58636F"/>
                </a:solidFill>
                <a:latin typeface="Nanum Gothic"/>
                <a:ea typeface="Nanum Gothic"/>
                <a:cs typeface="Nanum Gothic"/>
              </a:defRPr>
            </a:pPr>
            <a:r>
              <a:rPr sz="1500" b="0">
                <a:solidFill>
                  <a:srgbClr val="58636F"/>
                </a:solidFill>
                <a:latin typeface="Nanum Gothic"/>
                <a:ea typeface="Nanum Gothic"/>
                <a:cs typeface="Nanum Gothic"/>
              </a:rPr>
              <a:t>문서·공유</a:t>
            </a:r>
          </a:p>
        </p:txBody>
      </p:sp>
      <p:sp>
        <p:nvSpPr>
          <p:cNvPr id="24" name="arch-stack">
            <a:extLst xmlns:a="http://schemas.openxmlformats.org/drawingml/2006/main">
              <a:ext uri="{FF2B5EF4-FFF2-40B4-BE49-F238E27FC236}">
                <a16:creationId xmlns:a16="http://schemas.microsoft.com/office/drawing/2014/main" id="{47B0050A-5FDC-46EE-A7FF-F805B0C415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34000"/>
            <a:ext cx="10668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11820"/>
                </a:solidFill>
                <a:latin typeface="Nanum Gothic"/>
                <a:ea typeface="Nanum Gothic"/>
                <a:cs typeface="Nanum Gothic"/>
              </a:defRPr>
            </a:pPr>
            <a:r>
              <a:rPr sz="1725" b="1">
                <a:solidFill>
                  <a:srgbClr val="111820"/>
                </a:solidFill>
                <a:latin typeface="Nanum Gothic"/>
                <a:ea typeface="Nanum Gothic"/>
                <a:cs typeface="Nanum Gothic"/>
              </a:rPr>
              <a:t>Next.js + TypeScript  |  FastAPI + Python  |  Tesseract OCR  |  Web Speech API / Whisper  |  Docker</a:t>
            </a:r>
          </a:p>
        </p:txBody>
      </p:sp>
      <p:sp>
        <p:nvSpPr>
          <p:cNvPr id="25" name="arch-deploy">
            <a:extLst xmlns:a="http://schemas.openxmlformats.org/drawingml/2006/main">
              <a:ext uri="{FF2B5EF4-FFF2-40B4-BE49-F238E27FC236}">
                <a16:creationId xmlns:a16="http://schemas.microsoft.com/office/drawing/2014/main" id="{AB053670-3AF2-48FA-A215-DF9DB219A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5886450"/>
            <a:ext cx="7715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0B6B57"/>
                </a:solidFill>
                <a:latin typeface="Nanum Gothic"/>
                <a:ea typeface="Nanum Gothic"/>
                <a:cs typeface="Nanum Gothic"/>
              </a:defRPr>
            </a:pPr>
            <a:r>
              <a:rPr sz="1500" b="0">
                <a:solidFill>
                  <a:srgbClr val="0B6B57"/>
                </a:solidFill>
                <a:latin typeface="Nanum Gothic"/>
                <a:ea typeface="Nanum Gothic"/>
                <a:cs typeface="Nanum Gothic"/>
              </a:rPr>
              <a:t>프론트와 API를 단일 주소로 배포해 연결 오류를 줄였습니다.</a:t>
            </a:r>
          </a:p>
        </p:txBody>
      </p:sp>
    </p:spTree>
    <p:extLst>
      <p:ext uri="{BB962C8B-B14F-4D97-AF65-F5344CB8AC3E}">
        <p14:creationId xmlns:p14="http://schemas.microsoft.com/office/powerpoint/2010/main" val="108631461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kicker-9">
            <a:extLst xmlns:a="http://schemas.openxmlformats.org/drawingml/2006/main">
              <a:ext uri="{FF2B5EF4-FFF2-40B4-BE49-F238E27FC236}">
                <a16:creationId xmlns:a16="http://schemas.microsoft.com/office/drawing/2014/main" id="{E70FAD09-22D3-4C46-8A20-6A49A6271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857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B6B57"/>
                </a:solidFill>
                <a:latin typeface="Nanum Gothic"/>
                <a:ea typeface="Nanum Gothic"/>
                <a:cs typeface="Nanum Gothic"/>
              </a:defRPr>
            </a:pPr>
            <a:r>
              <a:rPr sz="1125" b="1">
                <a:solidFill>
                  <a:srgbClr val="0B6B57"/>
                </a:solidFill>
                <a:latin typeface="Nanum Gothic"/>
                <a:ea typeface="Nanum Gothic"/>
                <a:cs typeface="Nanum Gothic"/>
              </a:rPr>
              <a:t>고령층 UX와 안전장치</a:t>
            </a:r>
          </a:p>
        </p:txBody>
      </p:sp>
      <p:sp>
        <p:nvSpPr>
          <p:cNvPr id="2" name="title-9">
            <a:extLst xmlns:a="http://schemas.openxmlformats.org/drawingml/2006/main">
              <a:ext uri="{FF2B5EF4-FFF2-40B4-BE49-F238E27FC236}">
                <a16:creationId xmlns:a16="http://schemas.microsoft.com/office/drawing/2014/main" id="{1BF77BD9-22A7-4028-91DE-14BA7DCA5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28650"/>
            <a:ext cx="10668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525" b="1">
                <a:solidFill>
                  <a:srgbClr val="111820"/>
                </a:solidFill>
                <a:latin typeface="Nanum Gothic"/>
                <a:ea typeface="Nanum Gothic"/>
                <a:cs typeface="Nanum Gothic"/>
              </a:defRPr>
            </a:pPr>
            <a:r>
              <a:rPr sz="3525" b="1">
                <a:solidFill>
                  <a:srgbClr val="111820"/>
                </a:solidFill>
                <a:latin typeface="Nanum Gothic"/>
                <a:ea typeface="Nanum Gothic"/>
                <a:cs typeface="Nanum Gothic"/>
              </a:rPr>
              <a:t>고령층 접근성과 개인정보 보호를 기본값으로 두었습니다</a:t>
            </a:r>
          </a:p>
        </p:txBody>
      </p:sp>
      <p:cxnSp>
        <p:nvCxnSpPr>
          <p:cNvPr id="21" name="rule-9"/>
          <p:cNvCxnSpPr/>
          <p:nvPr/>
        </p:nvCxnSpPr>
        <p:spPr>
          <a:xfrm xmlns:a="http://schemas.openxmlformats.org/drawingml/2006/main">
            <a:off x="495300" y="1333500"/>
            <a:ext cx="112014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8CDD3"/>
            </a:solidFill>
            <a:prstDash val="solid"/>
          </a:ln>
        </p:spPr>
      </p:cxnSp>
      <p:sp>
        <p:nvSpPr>
          <p:cNvPr id="4" name="page-9">
            <a:extLst xmlns:a="http://schemas.openxmlformats.org/drawingml/2006/main">
              <a:ext uri="{FF2B5EF4-FFF2-40B4-BE49-F238E27FC236}">
                <a16:creationId xmlns:a16="http://schemas.microsoft.com/office/drawing/2014/main" id="{82ACADB4-8A67-42D0-979E-02ED407A6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381750"/>
            <a:ext cx="419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8636F"/>
                </a:solidFill>
                <a:latin typeface="Nanum Gothic"/>
                <a:ea typeface="Nanum Gothic"/>
                <a:cs typeface="Nanum Gothic"/>
              </a:defRPr>
            </a:pPr>
            <a:r>
              <a:rPr sz="975" b="0">
                <a:solidFill>
                  <a:srgbClr val="58636F"/>
                </a:solidFill>
                <a:latin typeface="Nanum Gothic"/>
                <a:ea typeface="Nanum Gothic"/>
                <a:cs typeface="Nanum Gothic"/>
              </a:rPr>
              <a:t>09</a:t>
            </a:r>
          </a:p>
        </p:txBody>
      </p:sp>
      <p:sp>
        <p:nvSpPr>
          <p:cNvPr id="5" name="contrast-frame">
            <a:extLst xmlns:a="http://schemas.openxmlformats.org/drawingml/2006/main">
              <a:ext uri="{FF2B5EF4-FFF2-40B4-BE49-F238E27FC236}">
                <a16:creationId xmlns:a16="http://schemas.microsoft.com/office/drawing/2014/main" id="{E532DF26-58A9-417E-A7C1-0D608184A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638300"/>
            <a:ext cx="4810125" cy="459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C8CDD3"/>
            </a:solidFill>
            <a:prstDash val="solid"/>
          </a:ln>
        </p:spPr>
      </p:sp>
      <p:pic>
        <p:nvPicPr>
          <p:cNvPr id="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32f5aa79fec44ba"/>
          <a:stretch xmlns:a="http://schemas.openxmlformats.org/drawingml/2006/main"/>
        </p:blipFill>
        <p:spPr>
          <a:xfrm xmlns:a="http://schemas.openxmlformats.org/drawingml/2006/main">
            <a:off x="1336982" y="1771650"/>
            <a:ext cx="3183912" cy="4286250"/>
          </a:xfrm>
          <a:prstGeom xmlns:a="http://schemas.openxmlformats.org/drawingml/2006/main" prst="rect">
            <a:avLst/>
          </a:prstGeom>
        </p:spPr>
      </p:pic>
      <p:sp>
        <p:nvSpPr>
          <p:cNvPr id="7" name="bullet-mark-630-185-0">
            <a:extLst xmlns:a="http://schemas.openxmlformats.org/drawingml/2006/main">
              <a:ext uri="{FF2B5EF4-FFF2-40B4-BE49-F238E27FC236}">
                <a16:creationId xmlns:a16="http://schemas.microsoft.com/office/drawing/2014/main" id="{E88CCDD2-C762-488E-96C8-EA07572F72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1762125"/>
            <a:ext cx="209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B6B57"/>
                </a:solidFill>
                <a:latin typeface="Nanum Gothic"/>
                <a:ea typeface="Nanum Gothic"/>
                <a:cs typeface="Nanum Gothic"/>
              </a:defRPr>
            </a:pPr>
            <a:r>
              <a:rPr sz="1650" b="1">
                <a:solidFill>
                  <a:srgbClr val="0B6B57"/>
                </a:solidFill>
                <a:latin typeface="Nanum Gothic"/>
                <a:ea typeface="Nanum Gothic"/>
                <a:cs typeface="Nanum Gothic"/>
              </a:rPr>
              <a:t>•</a:t>
            </a:r>
          </a:p>
        </p:txBody>
      </p:sp>
      <p:sp>
        <p:nvSpPr>
          <p:cNvPr id="8" name="bullet-text-630-185-0">
            <a:extLst xmlns:a="http://schemas.openxmlformats.org/drawingml/2006/main">
              <a:ext uri="{FF2B5EF4-FFF2-40B4-BE49-F238E27FC236}">
                <a16:creationId xmlns:a16="http://schemas.microsoft.com/office/drawing/2014/main" id="{D915F3EA-05B0-4B72-BB4C-48F0FFB26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762125"/>
            <a:ext cx="519112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820"/>
                </a:solidFill>
                <a:latin typeface="Nanum Gothic"/>
                <a:ea typeface="Nanum Gothic"/>
                <a:cs typeface="Nanum Gothic"/>
              </a:defRPr>
            </a:pPr>
            <a:r>
              <a:rPr sz="1650" b="0">
                <a:solidFill>
                  <a:srgbClr val="111820"/>
                </a:solidFill>
                <a:latin typeface="Nanum Gothic"/>
                <a:ea typeface="Nanum Gothic"/>
                <a:cs typeface="Nanum Gothic"/>
              </a:rPr>
              <a:t>보통·크게·아주 크게 3단계 글자 조절</a:t>
            </a:r>
          </a:p>
        </p:txBody>
      </p:sp>
      <p:sp>
        <p:nvSpPr>
          <p:cNvPr id="9" name="bullet-mark-630-185-1">
            <a:extLst xmlns:a="http://schemas.openxmlformats.org/drawingml/2006/main">
              <a:ext uri="{FF2B5EF4-FFF2-40B4-BE49-F238E27FC236}">
                <a16:creationId xmlns:a16="http://schemas.microsoft.com/office/drawing/2014/main" id="{E283675C-4E10-44F9-937E-4907385E0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2428875"/>
            <a:ext cx="209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B6B57"/>
                </a:solidFill>
                <a:latin typeface="Nanum Gothic"/>
                <a:ea typeface="Nanum Gothic"/>
                <a:cs typeface="Nanum Gothic"/>
              </a:defRPr>
            </a:pPr>
            <a:r>
              <a:rPr sz="1650" b="1">
                <a:solidFill>
                  <a:srgbClr val="0B6B57"/>
                </a:solidFill>
                <a:latin typeface="Nanum Gothic"/>
                <a:ea typeface="Nanum Gothic"/>
                <a:cs typeface="Nanum Gothic"/>
              </a:rPr>
              <a:t>•</a:t>
            </a:r>
          </a:p>
        </p:txBody>
      </p:sp>
      <p:sp>
        <p:nvSpPr>
          <p:cNvPr id="10" name="bullet-text-630-185-1">
            <a:extLst xmlns:a="http://schemas.openxmlformats.org/drawingml/2006/main">
              <a:ext uri="{FF2B5EF4-FFF2-40B4-BE49-F238E27FC236}">
                <a16:creationId xmlns:a16="http://schemas.microsoft.com/office/drawing/2014/main" id="{08026571-D124-4C7B-B552-599A995F4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428875"/>
            <a:ext cx="519112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820"/>
                </a:solidFill>
                <a:latin typeface="Nanum Gothic"/>
                <a:ea typeface="Nanum Gothic"/>
                <a:cs typeface="Nanum Gothic"/>
              </a:defRPr>
            </a:pPr>
            <a:r>
              <a:rPr sz="1650" b="0">
                <a:solidFill>
                  <a:srgbClr val="111820"/>
                </a:solidFill>
                <a:latin typeface="Nanum Gothic"/>
                <a:ea typeface="Nanum Gothic"/>
                <a:cs typeface="Nanum Gothic"/>
              </a:rPr>
              <a:t>검정·흰색·노란색 중심의 확실한 고대비</a:t>
            </a:r>
          </a:p>
        </p:txBody>
      </p:sp>
      <p:sp>
        <p:nvSpPr>
          <p:cNvPr id="11" name="bullet-mark-630-185-2">
            <a:extLst xmlns:a="http://schemas.openxmlformats.org/drawingml/2006/main">
              <a:ext uri="{FF2B5EF4-FFF2-40B4-BE49-F238E27FC236}">
                <a16:creationId xmlns:a16="http://schemas.microsoft.com/office/drawing/2014/main" id="{D8AB12F5-C2C7-4354-9C29-4E5EDBECDB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3095625"/>
            <a:ext cx="209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B6B57"/>
                </a:solidFill>
                <a:latin typeface="Nanum Gothic"/>
                <a:ea typeface="Nanum Gothic"/>
                <a:cs typeface="Nanum Gothic"/>
              </a:defRPr>
            </a:pPr>
            <a:r>
              <a:rPr sz="1650" b="1">
                <a:solidFill>
                  <a:srgbClr val="0B6B57"/>
                </a:solidFill>
                <a:latin typeface="Nanum Gothic"/>
                <a:ea typeface="Nanum Gothic"/>
                <a:cs typeface="Nanum Gothic"/>
              </a:rPr>
              <a:t>•</a:t>
            </a:r>
          </a:p>
        </p:txBody>
      </p:sp>
      <p:sp>
        <p:nvSpPr>
          <p:cNvPr id="12" name="bullet-text-630-185-2">
            <a:extLst xmlns:a="http://schemas.openxmlformats.org/drawingml/2006/main">
              <a:ext uri="{FF2B5EF4-FFF2-40B4-BE49-F238E27FC236}">
                <a16:creationId xmlns:a16="http://schemas.microsoft.com/office/drawing/2014/main" id="{FF27E508-FD73-43EF-A609-FFC0B85EC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095625"/>
            <a:ext cx="519112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820"/>
                </a:solidFill>
                <a:latin typeface="Nanum Gothic"/>
                <a:ea typeface="Nanum Gothic"/>
                <a:cs typeface="Nanum Gothic"/>
              </a:defRPr>
            </a:pPr>
            <a:r>
              <a:rPr sz="1650" b="0">
                <a:solidFill>
                  <a:srgbClr val="111820"/>
                </a:solidFill>
                <a:latin typeface="Nanum Gothic"/>
                <a:ea typeface="Nanum Gothic"/>
                <a:cs typeface="Nanum Gothic"/>
              </a:rPr>
              <a:t>한 번에 한 과업, 큰 버튼, 짧은 단계</a:t>
            </a:r>
          </a:p>
        </p:txBody>
      </p:sp>
      <p:sp>
        <p:nvSpPr>
          <p:cNvPr id="13" name="bullet-mark-630-185-3">
            <a:extLst xmlns:a="http://schemas.openxmlformats.org/drawingml/2006/main">
              <a:ext uri="{FF2B5EF4-FFF2-40B4-BE49-F238E27FC236}">
                <a16:creationId xmlns:a16="http://schemas.microsoft.com/office/drawing/2014/main" id="{088604B6-99AE-4CC5-86EA-D8B5D9DA4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3762375"/>
            <a:ext cx="209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B6B57"/>
                </a:solidFill>
                <a:latin typeface="Nanum Gothic"/>
                <a:ea typeface="Nanum Gothic"/>
                <a:cs typeface="Nanum Gothic"/>
              </a:defRPr>
            </a:pPr>
            <a:r>
              <a:rPr sz="1650" b="1">
                <a:solidFill>
                  <a:srgbClr val="0B6B57"/>
                </a:solidFill>
                <a:latin typeface="Nanum Gothic"/>
                <a:ea typeface="Nanum Gothic"/>
                <a:cs typeface="Nanum Gothic"/>
              </a:rPr>
              <a:t>•</a:t>
            </a:r>
          </a:p>
        </p:txBody>
      </p:sp>
      <p:sp>
        <p:nvSpPr>
          <p:cNvPr id="14" name="bullet-text-630-185-3">
            <a:extLst xmlns:a="http://schemas.openxmlformats.org/drawingml/2006/main">
              <a:ext uri="{FF2B5EF4-FFF2-40B4-BE49-F238E27FC236}">
                <a16:creationId xmlns:a16="http://schemas.microsoft.com/office/drawing/2014/main" id="{88500E68-3F89-44D4-B19F-89AD97285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762375"/>
            <a:ext cx="519112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820"/>
                </a:solidFill>
                <a:latin typeface="Nanum Gothic"/>
                <a:ea typeface="Nanum Gothic"/>
                <a:cs typeface="Nanum Gothic"/>
              </a:defRPr>
            </a:pPr>
            <a:r>
              <a:rPr sz="1650" b="0">
                <a:solidFill>
                  <a:srgbClr val="111820"/>
                </a:solidFill>
                <a:latin typeface="Nanum Gothic"/>
                <a:ea typeface="Nanum Gothic"/>
                <a:cs typeface="Nanum Gothic"/>
              </a:rPr>
              <a:t>계좌번호·주민번호·비밀번호 자동 경고 및 마스킹</a:t>
            </a:r>
          </a:p>
        </p:txBody>
      </p:sp>
      <p:sp>
        <p:nvSpPr>
          <p:cNvPr id="15" name="bullet-mark-630-185-4">
            <a:extLst xmlns:a="http://schemas.openxmlformats.org/drawingml/2006/main">
              <a:ext uri="{FF2B5EF4-FFF2-40B4-BE49-F238E27FC236}">
                <a16:creationId xmlns:a16="http://schemas.microsoft.com/office/drawing/2014/main" id="{CCA453C8-B26F-4253-A1CB-A6D892BD2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4429125"/>
            <a:ext cx="209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B6B57"/>
                </a:solidFill>
                <a:latin typeface="Nanum Gothic"/>
                <a:ea typeface="Nanum Gothic"/>
                <a:cs typeface="Nanum Gothic"/>
              </a:defRPr>
            </a:pPr>
            <a:r>
              <a:rPr sz="1650" b="1">
                <a:solidFill>
                  <a:srgbClr val="0B6B57"/>
                </a:solidFill>
                <a:latin typeface="Nanum Gothic"/>
                <a:ea typeface="Nanum Gothic"/>
                <a:cs typeface="Nanum Gothic"/>
              </a:rPr>
              <a:t>•</a:t>
            </a:r>
          </a:p>
        </p:txBody>
      </p:sp>
      <p:sp>
        <p:nvSpPr>
          <p:cNvPr id="16" name="bullet-text-630-185-4">
            <a:extLst xmlns:a="http://schemas.openxmlformats.org/drawingml/2006/main">
              <a:ext uri="{FF2B5EF4-FFF2-40B4-BE49-F238E27FC236}">
                <a16:creationId xmlns:a16="http://schemas.microsoft.com/office/drawing/2014/main" id="{C8FD89B9-72D0-4A28-A7CA-8606A38B9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429125"/>
            <a:ext cx="519112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820"/>
                </a:solidFill>
                <a:latin typeface="Nanum Gothic"/>
                <a:ea typeface="Nanum Gothic"/>
                <a:cs typeface="Nanum Gothic"/>
              </a:defRPr>
            </a:pPr>
            <a:r>
              <a:rPr sz="1650" b="0">
                <a:solidFill>
                  <a:srgbClr val="111820"/>
                </a:solidFill>
                <a:latin typeface="Nanum Gothic"/>
                <a:ea typeface="Nanum Gothic"/>
                <a:cs typeface="Nanum Gothic"/>
              </a:rPr>
              <a:t>OCR·음성 인식 결과를 사용자가 직접 수정</a:t>
            </a:r>
          </a:p>
        </p:txBody>
      </p:sp>
      <p:sp>
        <p:nvSpPr>
          <p:cNvPr id="17" name="bullet-mark-630-185-5">
            <a:extLst xmlns:a="http://schemas.openxmlformats.org/drawingml/2006/main">
              <a:ext uri="{FF2B5EF4-FFF2-40B4-BE49-F238E27FC236}">
                <a16:creationId xmlns:a16="http://schemas.microsoft.com/office/drawing/2014/main" id="{BB798D8C-B2BB-418E-915F-A128A82A6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5095875"/>
            <a:ext cx="209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B6B57"/>
                </a:solidFill>
                <a:latin typeface="Nanum Gothic"/>
                <a:ea typeface="Nanum Gothic"/>
                <a:cs typeface="Nanum Gothic"/>
              </a:defRPr>
            </a:pPr>
            <a:r>
              <a:rPr sz="1650" b="1">
                <a:solidFill>
                  <a:srgbClr val="0B6B57"/>
                </a:solidFill>
                <a:latin typeface="Nanum Gothic"/>
                <a:ea typeface="Nanum Gothic"/>
                <a:cs typeface="Nanum Gothic"/>
              </a:rPr>
              <a:t>•</a:t>
            </a:r>
          </a:p>
        </p:txBody>
      </p:sp>
      <p:sp>
        <p:nvSpPr>
          <p:cNvPr id="18" name="bullet-text-630-185-5">
            <a:extLst xmlns:a="http://schemas.openxmlformats.org/drawingml/2006/main">
              <a:ext uri="{FF2B5EF4-FFF2-40B4-BE49-F238E27FC236}">
                <a16:creationId xmlns:a16="http://schemas.microsoft.com/office/drawing/2014/main" id="{A89C9A82-F88F-4973-9C1F-51F33D1D5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095875"/>
            <a:ext cx="519112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820"/>
                </a:solidFill>
                <a:latin typeface="Nanum Gothic"/>
                <a:ea typeface="Nanum Gothic"/>
                <a:cs typeface="Nanum Gothic"/>
              </a:defRPr>
            </a:pPr>
            <a:r>
              <a:rPr sz="1650" b="0">
                <a:solidFill>
                  <a:srgbClr val="111820"/>
                </a:solidFill>
                <a:latin typeface="Nanum Gothic"/>
                <a:ea typeface="Nanum Gothic"/>
                <a:cs typeface="Nanum Gothic"/>
              </a:rPr>
              <a:t>읽어주기와 개인정보 없는 보호자 공유</a:t>
            </a:r>
          </a:p>
        </p:txBody>
      </p:sp>
    </p:spTree>
    <p:extLst>
      <p:ext uri="{BB962C8B-B14F-4D97-AF65-F5344CB8AC3E}">
        <p14:creationId xmlns:p14="http://schemas.microsoft.com/office/powerpoint/2010/main" val="706982176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kicker-10">
            <a:extLst xmlns:a="http://schemas.openxmlformats.org/drawingml/2006/main">
              <a:ext uri="{FF2B5EF4-FFF2-40B4-BE49-F238E27FC236}">
                <a16:creationId xmlns:a16="http://schemas.microsoft.com/office/drawing/2014/main" id="{849F6676-7FD9-4BB9-9D94-EEE2AB9F7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857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B6B57"/>
                </a:solidFill>
                <a:latin typeface="Nanum Gothic"/>
                <a:ea typeface="Nanum Gothic"/>
                <a:cs typeface="Nanum Gothic"/>
              </a:defRPr>
            </a:pPr>
            <a:r>
              <a:rPr sz="1125" b="1">
                <a:solidFill>
                  <a:srgbClr val="0B6B57"/>
                </a:solidFill>
                <a:latin typeface="Nanum Gothic"/>
                <a:ea typeface="Nanum Gothic"/>
                <a:cs typeface="Nanum Gothic"/>
              </a:rPr>
              <a:t>기술적 완성도와 검증</a:t>
            </a:r>
          </a:p>
        </p:txBody>
      </p:sp>
      <p:sp>
        <p:nvSpPr>
          <p:cNvPr id="2" name="title-10">
            <a:extLst xmlns:a="http://schemas.openxmlformats.org/drawingml/2006/main">
              <a:ext uri="{FF2B5EF4-FFF2-40B4-BE49-F238E27FC236}">
                <a16:creationId xmlns:a16="http://schemas.microsoft.com/office/drawing/2014/main" id="{083B2354-FF42-4AB2-A75C-81698B8C69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28650"/>
            <a:ext cx="10668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525" b="1">
                <a:solidFill>
                  <a:srgbClr val="111820"/>
                </a:solidFill>
                <a:latin typeface="Nanum Gothic"/>
                <a:ea typeface="Nanum Gothic"/>
                <a:cs typeface="Nanum Gothic"/>
              </a:defRPr>
            </a:pPr>
            <a:r>
              <a:rPr sz="3525" b="1">
                <a:solidFill>
                  <a:srgbClr val="111820"/>
                </a:solidFill>
                <a:latin typeface="Nanum Gothic"/>
                <a:ea typeface="Nanum Gothic"/>
                <a:cs typeface="Nanum Gothic"/>
              </a:rPr>
              <a:t>정상 문장을 함께 넣어 오탐까지 확인했습니다</a:t>
            </a:r>
          </a:p>
        </p:txBody>
      </p:sp>
      <p:cxnSp>
        <p:nvCxnSpPr>
          <p:cNvPr id="18" name="rule-10"/>
          <p:cNvCxnSpPr/>
          <p:nvPr/>
        </p:nvCxnSpPr>
        <p:spPr>
          <a:xfrm xmlns:a="http://schemas.openxmlformats.org/drawingml/2006/main">
            <a:off x="495300" y="1333500"/>
            <a:ext cx="112014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8CDD3"/>
            </a:solidFill>
            <a:prstDash val="solid"/>
          </a:ln>
        </p:spPr>
      </p:cxnSp>
      <p:sp>
        <p:nvSpPr>
          <p:cNvPr id="4" name="page-10">
            <a:extLst xmlns:a="http://schemas.openxmlformats.org/drawingml/2006/main">
              <a:ext uri="{FF2B5EF4-FFF2-40B4-BE49-F238E27FC236}">
                <a16:creationId xmlns:a16="http://schemas.microsoft.com/office/drawing/2014/main" id="{CC0AFD14-A852-4216-A479-CA72CD106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381750"/>
            <a:ext cx="419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8636F"/>
                </a:solidFill>
                <a:latin typeface="Nanum Gothic"/>
                <a:ea typeface="Nanum Gothic"/>
                <a:cs typeface="Nanum Gothic"/>
              </a:defRPr>
            </a:pPr>
            <a:r>
              <a:rPr sz="975" b="0">
                <a:solidFill>
                  <a:srgbClr val="58636F"/>
                </a:solidFill>
                <a:latin typeface="Nanum Gothic"/>
                <a:ea typeface="Nanum Gothic"/>
                <a:cs typeface="Nanum Gothic"/>
              </a:rPr>
              <a:t>10</a:t>
            </a:r>
          </a:p>
        </p:txBody>
      </p:sp>
      <p:sp>
        <p:nvSpPr>
          <p:cNvPr id="5" name="eval-context">
            <a:extLst xmlns:a="http://schemas.openxmlformats.org/drawingml/2006/main">
              <a:ext uri="{FF2B5EF4-FFF2-40B4-BE49-F238E27FC236}">
                <a16:creationId xmlns:a16="http://schemas.microsoft.com/office/drawing/2014/main" id="{CDA32122-FE74-47FF-9DF5-B38F161949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619250"/>
            <a:ext cx="1104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8636F"/>
                </a:solidFill>
                <a:latin typeface="Nanum Gothic"/>
                <a:ea typeface="Nanum Gothic"/>
                <a:cs typeface="Nanum Gothic"/>
              </a:defRPr>
            </a:pPr>
            <a:r>
              <a:rPr sz="1800" b="0">
                <a:solidFill>
                  <a:srgbClr val="58636F"/>
                </a:solidFill>
                <a:latin typeface="Nanum Gothic"/>
                <a:ea typeface="Nanum Gothic"/>
                <a:cs typeface="Nanum Gothic"/>
              </a:rPr>
              <a:t>위험 문장만 맞히는 데 그치지 않고, 위험하지 않은 문장을 잘못 경고하지 않는지도 같은 평가표에서 측정했습니다.</a:t>
            </a:r>
          </a:p>
        </p:txBody>
      </p:sp>
      <p:sp>
        <p:nvSpPr>
          <p:cNvPr id="6" name="eval-panel-0">
            <a:extLst xmlns:a="http://schemas.openxmlformats.org/drawingml/2006/main">
              <a:ext uri="{FF2B5EF4-FFF2-40B4-BE49-F238E27FC236}">
                <a16:creationId xmlns:a16="http://schemas.microsoft.com/office/drawing/2014/main" id="{FE4C2B2C-90DC-4CE7-8BE5-664A17E6F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905125"/>
            <a:ext cx="333375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1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eval-value-0">
            <a:extLst xmlns:a="http://schemas.openxmlformats.org/drawingml/2006/main">
              <a:ext uri="{FF2B5EF4-FFF2-40B4-BE49-F238E27FC236}">
                <a16:creationId xmlns:a16="http://schemas.microsoft.com/office/drawing/2014/main" id="{3FEB0E96-1B23-4CA9-AE4F-BE29D76580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286125"/>
            <a:ext cx="27622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4950" b="1">
                <a:solidFill>
                  <a:srgbClr val="1B4A73"/>
                </a:solidFill>
                <a:latin typeface="Nanum Gothic"/>
                <a:ea typeface="Nanum Gothic"/>
                <a:cs typeface="Nanum Gothic"/>
              </a:defRPr>
            </a:pPr>
            <a:r>
              <a:rPr sz="4950" b="1">
                <a:solidFill>
                  <a:srgbClr val="1B4A73"/>
                </a:solidFill>
                <a:latin typeface="Nanum Gothic"/>
                <a:ea typeface="Nanum Gothic"/>
                <a:cs typeface="Nanum Gothic"/>
              </a:rPr>
              <a:t>40</a:t>
            </a:r>
          </a:p>
        </p:txBody>
      </p:sp>
      <p:sp>
        <p:nvSpPr>
          <p:cNvPr id="8" name="eval-label-0">
            <a:extLst xmlns:a="http://schemas.openxmlformats.org/drawingml/2006/main">
              <a:ext uri="{FF2B5EF4-FFF2-40B4-BE49-F238E27FC236}">
                <a16:creationId xmlns:a16="http://schemas.microsoft.com/office/drawing/2014/main" id="{04DE93E6-F724-406E-A04A-43A8D9397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429125"/>
            <a:ext cx="2762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820"/>
                </a:solidFill>
                <a:latin typeface="Nanum Gothic"/>
                <a:ea typeface="Nanum Gothic"/>
                <a:cs typeface="Nanum Gothic"/>
              </a:defRPr>
            </a:pPr>
            <a:r>
              <a:rPr sz="1800" b="1">
                <a:solidFill>
                  <a:srgbClr val="111820"/>
                </a:solidFill>
                <a:latin typeface="Nanum Gothic"/>
                <a:ea typeface="Nanum Gothic"/>
                <a:cs typeface="Nanum Gothic"/>
              </a:rPr>
              <a:t>내부 평가 문장</a:t>
            </a:r>
          </a:p>
        </p:txBody>
      </p:sp>
      <p:sp>
        <p:nvSpPr>
          <p:cNvPr id="9" name="eval-panel-1">
            <a:extLst xmlns:a="http://schemas.openxmlformats.org/drawingml/2006/main">
              <a:ext uri="{FF2B5EF4-FFF2-40B4-BE49-F238E27FC236}">
                <a16:creationId xmlns:a16="http://schemas.microsoft.com/office/drawing/2014/main" id="{8340090B-58B4-4A7A-8EF0-EC12C4B73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7675" y="2905125"/>
            <a:ext cx="333375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1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eval-value-1">
            <a:extLst xmlns:a="http://schemas.openxmlformats.org/drawingml/2006/main">
              <a:ext uri="{FF2B5EF4-FFF2-40B4-BE49-F238E27FC236}">
                <a16:creationId xmlns:a16="http://schemas.microsoft.com/office/drawing/2014/main" id="{B809B8C8-D774-4591-9C5E-D59B3BB1F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43425" y="3286125"/>
            <a:ext cx="27622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4950" b="1">
                <a:solidFill>
                  <a:srgbClr val="0B6B57"/>
                </a:solidFill>
                <a:latin typeface="Nanum Gothic"/>
                <a:ea typeface="Nanum Gothic"/>
                <a:cs typeface="Nanum Gothic"/>
              </a:defRPr>
            </a:pPr>
            <a:r>
              <a:rPr sz="4950" b="1">
                <a:solidFill>
                  <a:srgbClr val="0B6B57"/>
                </a:solidFill>
                <a:latin typeface="Nanum Gothic"/>
                <a:ea typeface="Nanum Gothic"/>
                <a:cs typeface="Nanum Gothic"/>
              </a:rPr>
              <a:t>100%</a:t>
            </a:r>
          </a:p>
        </p:txBody>
      </p:sp>
      <p:sp>
        <p:nvSpPr>
          <p:cNvPr id="11" name="eval-label-1">
            <a:extLst xmlns:a="http://schemas.openxmlformats.org/drawingml/2006/main">
              <a:ext uri="{FF2B5EF4-FFF2-40B4-BE49-F238E27FC236}">
                <a16:creationId xmlns:a16="http://schemas.microsoft.com/office/drawing/2014/main" id="{AE6DDE58-9BEB-4DCA-BF02-1D29D8171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43425" y="4429125"/>
            <a:ext cx="2762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820"/>
                </a:solidFill>
                <a:latin typeface="Nanum Gothic"/>
                <a:ea typeface="Nanum Gothic"/>
                <a:cs typeface="Nanum Gothic"/>
              </a:defRPr>
            </a:pPr>
            <a:r>
              <a:rPr sz="1800" b="1">
                <a:solidFill>
                  <a:srgbClr val="111820"/>
                </a:solidFill>
                <a:latin typeface="Nanum Gothic"/>
                <a:ea typeface="Nanum Gothic"/>
                <a:cs typeface="Nanum Gothic"/>
              </a:rPr>
              <a:t>위험 문장 탐지율</a:t>
            </a:r>
          </a:p>
        </p:txBody>
      </p:sp>
      <p:sp>
        <p:nvSpPr>
          <p:cNvPr id="12" name="eval-panel-2">
            <a:extLst xmlns:a="http://schemas.openxmlformats.org/drawingml/2006/main">
              <a:ext uri="{FF2B5EF4-FFF2-40B4-BE49-F238E27FC236}">
                <a16:creationId xmlns:a16="http://schemas.microsoft.com/office/drawing/2014/main" id="{996187CF-BC19-40F1-B1F4-ACAED6F65C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905125"/>
            <a:ext cx="333375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1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eval-value-2">
            <a:extLst xmlns:a="http://schemas.openxmlformats.org/drawingml/2006/main">
              <a:ext uri="{FF2B5EF4-FFF2-40B4-BE49-F238E27FC236}">
                <a16:creationId xmlns:a16="http://schemas.microsoft.com/office/drawing/2014/main" id="{AA968494-E52D-49F0-A10D-74A521EC67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286125"/>
            <a:ext cx="27622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4950" b="1">
                <a:solidFill>
                  <a:srgbClr val="B53225"/>
                </a:solidFill>
                <a:latin typeface="Nanum Gothic"/>
                <a:ea typeface="Nanum Gothic"/>
                <a:cs typeface="Nanum Gothic"/>
              </a:defRPr>
            </a:pPr>
            <a:r>
              <a:rPr sz="4950" b="1">
                <a:solidFill>
                  <a:srgbClr val="B53225"/>
                </a:solidFill>
                <a:latin typeface="Nanum Gothic"/>
                <a:ea typeface="Nanum Gothic"/>
                <a:cs typeface="Nanum Gothic"/>
              </a:rPr>
              <a:t>0%</a:t>
            </a:r>
          </a:p>
        </p:txBody>
      </p:sp>
      <p:sp>
        <p:nvSpPr>
          <p:cNvPr id="14" name="eval-label-2">
            <a:extLst xmlns:a="http://schemas.openxmlformats.org/drawingml/2006/main">
              <a:ext uri="{FF2B5EF4-FFF2-40B4-BE49-F238E27FC236}">
                <a16:creationId xmlns:a16="http://schemas.microsoft.com/office/drawing/2014/main" id="{ACA27325-7D24-40AB-83D9-1B35DCBA6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4429125"/>
            <a:ext cx="2762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820"/>
                </a:solidFill>
                <a:latin typeface="Nanum Gothic"/>
                <a:ea typeface="Nanum Gothic"/>
                <a:cs typeface="Nanum Gothic"/>
              </a:defRPr>
            </a:pPr>
            <a:r>
              <a:rPr sz="1800" b="1">
                <a:solidFill>
                  <a:srgbClr val="111820"/>
                </a:solidFill>
                <a:latin typeface="Nanum Gothic"/>
                <a:ea typeface="Nanum Gothic"/>
                <a:cs typeface="Nanum Gothic"/>
              </a:rPr>
              <a:t>정상 문장 오탐률</a:t>
            </a:r>
          </a:p>
        </p:txBody>
      </p:sp>
      <p:sp>
        <p:nvSpPr>
          <p:cNvPr id="15" name="eval-tests">
            <a:extLst xmlns:a="http://schemas.openxmlformats.org/drawingml/2006/main">
              <a:ext uri="{FF2B5EF4-FFF2-40B4-BE49-F238E27FC236}">
                <a16:creationId xmlns:a16="http://schemas.microsoft.com/office/drawing/2014/main" id="{CF013CC8-5071-465B-9F7B-76470CE7B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5753100"/>
            <a:ext cx="10572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11820"/>
                </a:solidFill>
                <a:latin typeface="Nanum Gothic"/>
                <a:ea typeface="Nanum Gothic"/>
                <a:cs typeface="Nanum Gothic"/>
              </a:defRPr>
            </a:pPr>
            <a:r>
              <a:rPr sz="1650" b="1">
                <a:solidFill>
                  <a:srgbClr val="111820"/>
                </a:solidFill>
                <a:latin typeface="Nanum Gothic"/>
                <a:ea typeface="Nanum Gothic"/>
                <a:cs typeface="Nanum Gothic"/>
              </a:rPr>
              <a:t>자동 테스트 21개 통과  ·  TypeScript 검사 통과  ·  정식 빌드 통과  ·  높은 등급 취약점 0개</a:t>
            </a:r>
          </a:p>
        </p:txBody>
      </p:sp>
    </p:spTree>
    <p:extLst>
      <p:ext uri="{BB962C8B-B14F-4D97-AF65-F5344CB8AC3E}">
        <p14:creationId xmlns:p14="http://schemas.microsoft.com/office/powerpoint/2010/main" val="1219783625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kicker-11">
            <a:extLst xmlns:a="http://schemas.openxmlformats.org/drawingml/2006/main">
              <a:ext uri="{FF2B5EF4-FFF2-40B4-BE49-F238E27FC236}">
                <a16:creationId xmlns:a16="http://schemas.microsoft.com/office/drawing/2014/main" id="{04DBB9D9-53C5-4870-A4E0-9229A0EA4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857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B6B57"/>
                </a:solidFill>
                <a:latin typeface="Nanum Gothic"/>
                <a:ea typeface="Nanum Gothic"/>
                <a:cs typeface="Nanum Gothic"/>
              </a:defRPr>
            </a:pPr>
            <a:r>
              <a:rPr sz="1125" b="1">
                <a:solidFill>
                  <a:srgbClr val="0B6B57"/>
                </a:solidFill>
                <a:latin typeface="Nanum Gothic"/>
                <a:ea typeface="Nanum Gothic"/>
                <a:cs typeface="Nanum Gothic"/>
              </a:rPr>
              <a:t>개발 계획의 구체성과 실현 가능성</a:t>
            </a:r>
          </a:p>
        </p:txBody>
      </p:sp>
      <p:sp>
        <p:nvSpPr>
          <p:cNvPr id="2" name="title-11">
            <a:extLst xmlns:a="http://schemas.openxmlformats.org/drawingml/2006/main">
              <a:ext uri="{FF2B5EF4-FFF2-40B4-BE49-F238E27FC236}">
                <a16:creationId xmlns:a16="http://schemas.microsoft.com/office/drawing/2014/main" id="{EDDEDAEC-93A1-4430-A517-97AFC5B5A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28650"/>
            <a:ext cx="10668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525" b="1">
                <a:solidFill>
                  <a:srgbClr val="111820"/>
                </a:solidFill>
                <a:latin typeface="Nanum Gothic"/>
                <a:ea typeface="Nanum Gothic"/>
                <a:cs typeface="Nanum Gothic"/>
              </a:defRPr>
            </a:pPr>
            <a:r>
              <a:rPr sz="3525" b="1">
                <a:solidFill>
                  <a:srgbClr val="111820"/>
                </a:solidFill>
                <a:latin typeface="Nanum Gothic"/>
                <a:ea typeface="Nanum Gothic"/>
                <a:cs typeface="Nanum Gothic"/>
              </a:rPr>
              <a:t>설계부터 배포까지 일반 개발 절차로 완성했습니다</a:t>
            </a:r>
          </a:p>
        </p:txBody>
      </p:sp>
      <p:cxnSp>
        <p:nvCxnSpPr>
          <p:cNvPr id="30" name="rule-11"/>
          <p:cNvCxnSpPr/>
          <p:nvPr/>
        </p:nvCxnSpPr>
        <p:spPr>
          <a:xfrm xmlns:a="http://schemas.openxmlformats.org/drawingml/2006/main">
            <a:off x="495300" y="1333500"/>
            <a:ext cx="112014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8CDD3"/>
            </a:solidFill>
            <a:prstDash val="solid"/>
          </a:ln>
        </p:spPr>
      </p:cxnSp>
      <p:sp>
        <p:nvSpPr>
          <p:cNvPr id="4" name="page-11">
            <a:extLst xmlns:a="http://schemas.openxmlformats.org/drawingml/2006/main">
              <a:ext uri="{FF2B5EF4-FFF2-40B4-BE49-F238E27FC236}">
                <a16:creationId xmlns:a16="http://schemas.microsoft.com/office/drawing/2014/main" id="{EF750B22-73DC-486A-9378-B4F08132F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381750"/>
            <a:ext cx="419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8636F"/>
                </a:solidFill>
                <a:latin typeface="Nanum Gothic"/>
                <a:ea typeface="Nanum Gothic"/>
                <a:cs typeface="Nanum Gothic"/>
              </a:defRPr>
            </a:pPr>
            <a:r>
              <a:rPr sz="975" b="0">
                <a:solidFill>
                  <a:srgbClr val="58636F"/>
                </a:solidFill>
                <a:latin typeface="Nanum Gothic"/>
                <a:ea typeface="Nanum Gothic"/>
                <a:cs typeface="Nanum Gothic"/>
              </a:rPr>
              <a:t>11</a:t>
            </a:r>
          </a:p>
        </p:txBody>
      </p:sp>
      <p:cxnSp>
        <p:nvCxnSpPr>
          <p:cNvPr id="32" name="roadmap-line"/>
          <p:cNvCxnSpPr/>
          <p:nvPr/>
        </p:nvCxnSpPr>
        <p:spPr>
          <a:xfrm xmlns:a="http://schemas.openxmlformats.org/drawingml/2006/main">
            <a:off x="904875" y="3333750"/>
            <a:ext cx="102870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11820"/>
            </a:solidFill>
            <a:prstDash val="solid"/>
          </a:ln>
        </p:spPr>
      </p:cxnSp>
      <p:sp>
        <p:nvSpPr>
          <p:cNvPr id="6" name="roadmap-dot-0">
            <a:extLst xmlns:a="http://schemas.openxmlformats.org/drawingml/2006/main">
              <a:ext uri="{FF2B5EF4-FFF2-40B4-BE49-F238E27FC236}">
                <a16:creationId xmlns:a16="http://schemas.microsoft.com/office/drawing/2014/main" id="{0328BAF7-A5B1-4C63-A80E-1A5A98EBC2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21945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4A7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roadmap-num-0">
            <a:extLst xmlns:a="http://schemas.openxmlformats.org/drawingml/2006/main">
              <a:ext uri="{FF2B5EF4-FFF2-40B4-BE49-F238E27FC236}">
                <a16:creationId xmlns:a16="http://schemas.microsoft.com/office/drawing/2014/main" id="{FD1AB789-A203-40DC-A4F6-D62A15D13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00250"/>
            <a:ext cx="762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B4A73"/>
                </a:solidFill>
                <a:latin typeface="Nanum Gothic"/>
                <a:ea typeface="Nanum Gothic"/>
                <a:cs typeface="Nanum Gothic"/>
              </a:defRPr>
            </a:pPr>
            <a:r>
              <a:rPr sz="3150" b="1">
                <a:solidFill>
                  <a:srgbClr val="1B4A73"/>
                </a:solidFill>
                <a:latin typeface="Nanum Gothic"/>
                <a:ea typeface="Nanum Gothic"/>
                <a:cs typeface="Nanum Gothic"/>
              </a:rPr>
              <a:t>01</a:t>
            </a:r>
          </a:p>
        </p:txBody>
      </p:sp>
      <p:sp>
        <p:nvSpPr>
          <p:cNvPr id="8" name="roadmap-title-0">
            <a:extLst xmlns:a="http://schemas.openxmlformats.org/drawingml/2006/main">
              <a:ext uri="{FF2B5EF4-FFF2-40B4-BE49-F238E27FC236}">
                <a16:creationId xmlns:a16="http://schemas.microsoft.com/office/drawing/2014/main" id="{DF3DB2D0-A380-491B-A3F9-0D16218EAA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190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11820"/>
                </a:solidFill>
                <a:latin typeface="Nanum Gothic"/>
                <a:ea typeface="Nanum Gothic"/>
                <a:cs typeface="Nanum Gothic"/>
              </a:defRPr>
            </a:pPr>
            <a:r>
              <a:rPr sz="1725" b="1">
                <a:solidFill>
                  <a:srgbClr val="111820"/>
                </a:solidFill>
                <a:latin typeface="Nanum Gothic"/>
                <a:ea typeface="Nanum Gothic"/>
                <a:cs typeface="Nanum Gothic"/>
              </a:rPr>
              <a:t>문제·UX 설계</a:t>
            </a:r>
          </a:p>
        </p:txBody>
      </p:sp>
      <p:sp>
        <p:nvSpPr>
          <p:cNvPr id="9" name="roadmap-body-0">
            <a:extLst xmlns:a="http://schemas.openxmlformats.org/drawingml/2006/main">
              <a:ext uri="{FF2B5EF4-FFF2-40B4-BE49-F238E27FC236}">
                <a16:creationId xmlns:a16="http://schemas.microsoft.com/office/drawing/2014/main" id="{E2A8AA07-1DB5-4623-B576-A4BE62FE26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33800"/>
            <a:ext cx="1905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8636F"/>
                </a:solidFill>
                <a:latin typeface="Nanum Gothic"/>
                <a:ea typeface="Nanum Gothic"/>
                <a:cs typeface="Nanum Gothic"/>
              </a:defRPr>
            </a:pPr>
            <a:r>
              <a:rPr sz="1500" b="0">
                <a:solidFill>
                  <a:srgbClr val="58636F"/>
                </a:solidFill>
                <a:latin typeface="Nanum Gothic"/>
                <a:ea typeface="Nanum Gothic"/>
                <a:cs typeface="Nanum Gothic"/>
              </a:rPr>
              <a:t>시나리오·명세</a:t>
            </a:r>
          </a:p>
          <a:p xmlns:a="http://schemas.openxmlformats.org/drawingml/2006/main">
            <a:pPr algn="l">
              <a:defRPr sz="1500" b="0">
                <a:solidFill>
                  <a:srgbClr val="58636F"/>
                </a:solidFill>
                <a:latin typeface="Nanum Gothic"/>
                <a:ea typeface="Nanum Gothic"/>
                <a:cs typeface="Nanum Gothic"/>
              </a:defRPr>
            </a:pPr>
            <a:r>
              <a:rPr sz="1500" b="0">
                <a:solidFill>
                  <a:srgbClr val="58636F"/>
                </a:solidFill>
                <a:latin typeface="Nanum Gothic"/>
                <a:ea typeface="Nanum Gothic"/>
                <a:cs typeface="Nanum Gothic"/>
              </a:rPr>
              <a:t>API·ERD</a:t>
            </a:r>
          </a:p>
        </p:txBody>
      </p:sp>
      <p:sp>
        <p:nvSpPr>
          <p:cNvPr id="10" name="roadmap-dot-1">
            <a:extLst xmlns:a="http://schemas.openxmlformats.org/drawingml/2006/main">
              <a:ext uri="{FF2B5EF4-FFF2-40B4-BE49-F238E27FC236}">
                <a16:creationId xmlns:a16="http://schemas.microsoft.com/office/drawing/2014/main" id="{13C1409F-9EAA-4775-9A5E-880C7F184C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71825" y="321945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4A7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roadmap-num-1">
            <a:extLst xmlns:a="http://schemas.openxmlformats.org/drawingml/2006/main">
              <a:ext uri="{FF2B5EF4-FFF2-40B4-BE49-F238E27FC236}">
                <a16:creationId xmlns:a16="http://schemas.microsoft.com/office/drawing/2014/main" id="{C191DBB0-A6C9-41A2-925D-8474825D0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2000250"/>
            <a:ext cx="762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B4A73"/>
                </a:solidFill>
                <a:latin typeface="Nanum Gothic"/>
                <a:ea typeface="Nanum Gothic"/>
                <a:cs typeface="Nanum Gothic"/>
              </a:defRPr>
            </a:pPr>
            <a:r>
              <a:rPr sz="3150" b="1">
                <a:solidFill>
                  <a:srgbClr val="1B4A73"/>
                </a:solidFill>
                <a:latin typeface="Nanum Gothic"/>
                <a:ea typeface="Nanum Gothic"/>
                <a:cs typeface="Nanum Gothic"/>
              </a:rPr>
              <a:t>02</a:t>
            </a:r>
          </a:p>
        </p:txBody>
      </p:sp>
      <p:sp>
        <p:nvSpPr>
          <p:cNvPr id="12" name="roadmap-title-1">
            <a:extLst xmlns:a="http://schemas.openxmlformats.org/drawingml/2006/main">
              <a:ext uri="{FF2B5EF4-FFF2-40B4-BE49-F238E27FC236}">
                <a16:creationId xmlns:a16="http://schemas.microsoft.com/office/drawing/2014/main" id="{D5E4C21B-F43F-4EEE-8F1C-AD3AB55D0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2667000"/>
            <a:ext cx="190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11820"/>
                </a:solidFill>
                <a:latin typeface="Nanum Gothic"/>
                <a:ea typeface="Nanum Gothic"/>
                <a:cs typeface="Nanum Gothic"/>
              </a:defRPr>
            </a:pPr>
            <a:r>
              <a:rPr sz="1725" b="1">
                <a:solidFill>
                  <a:srgbClr val="111820"/>
                </a:solidFill>
                <a:latin typeface="Nanum Gothic"/>
                <a:ea typeface="Nanum Gothic"/>
                <a:cs typeface="Nanum Gothic"/>
              </a:rPr>
              <a:t>공식 데이터</a:t>
            </a:r>
          </a:p>
        </p:txBody>
      </p:sp>
      <p:sp>
        <p:nvSpPr>
          <p:cNvPr id="13" name="roadmap-body-1">
            <a:extLst xmlns:a="http://schemas.openxmlformats.org/drawingml/2006/main">
              <a:ext uri="{FF2B5EF4-FFF2-40B4-BE49-F238E27FC236}">
                <a16:creationId xmlns:a16="http://schemas.microsoft.com/office/drawing/2014/main" id="{A5740CB9-F608-478C-9E20-6709E6644C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3733800"/>
            <a:ext cx="1905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8636F"/>
                </a:solidFill>
                <a:latin typeface="Nanum Gothic"/>
                <a:ea typeface="Nanum Gothic"/>
                <a:cs typeface="Nanum Gothic"/>
              </a:defRPr>
            </a:pPr>
            <a:r>
              <a:rPr sz="1500" b="0">
                <a:solidFill>
                  <a:srgbClr val="58636F"/>
                </a:solidFill>
                <a:latin typeface="Nanum Gothic"/>
                <a:ea typeface="Nanum Gothic"/>
                <a:cs typeface="Nanum Gothic"/>
              </a:rPr>
              <a:t>수집·정제</a:t>
            </a:r>
          </a:p>
          <a:p xmlns:a="http://schemas.openxmlformats.org/drawingml/2006/main">
            <a:pPr algn="l">
              <a:defRPr sz="1500" b="0">
                <a:solidFill>
                  <a:srgbClr val="58636F"/>
                </a:solidFill>
                <a:latin typeface="Nanum Gothic"/>
                <a:ea typeface="Nanum Gothic"/>
                <a:cs typeface="Nanum Gothic"/>
              </a:defRPr>
            </a:pPr>
            <a:r>
              <a:rPr sz="1500" b="0">
                <a:solidFill>
                  <a:srgbClr val="58636F"/>
                </a:solidFill>
                <a:latin typeface="Nanum Gothic"/>
                <a:ea typeface="Nanum Gothic"/>
                <a:cs typeface="Nanum Gothic"/>
              </a:rPr>
              <a:t>출처 레지스트리</a:t>
            </a:r>
          </a:p>
        </p:txBody>
      </p:sp>
      <p:sp>
        <p:nvSpPr>
          <p:cNvPr id="14" name="roadmap-dot-2">
            <a:extLst xmlns:a="http://schemas.openxmlformats.org/drawingml/2006/main">
              <a:ext uri="{FF2B5EF4-FFF2-40B4-BE49-F238E27FC236}">
                <a16:creationId xmlns:a16="http://schemas.microsoft.com/office/drawing/2014/main" id="{8596A802-E0D8-4827-A272-B2C236DF5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321945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4A7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roadmap-num-2">
            <a:extLst xmlns:a="http://schemas.openxmlformats.org/drawingml/2006/main">
              <a:ext uri="{FF2B5EF4-FFF2-40B4-BE49-F238E27FC236}">
                <a16:creationId xmlns:a16="http://schemas.microsoft.com/office/drawing/2014/main" id="{80DF5E9B-5390-4E46-93B1-7B78BA802F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2000250"/>
            <a:ext cx="762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B4A73"/>
                </a:solidFill>
                <a:latin typeface="Nanum Gothic"/>
                <a:ea typeface="Nanum Gothic"/>
                <a:cs typeface="Nanum Gothic"/>
              </a:defRPr>
            </a:pPr>
            <a:r>
              <a:rPr sz="3150" b="1">
                <a:solidFill>
                  <a:srgbClr val="1B4A73"/>
                </a:solidFill>
                <a:latin typeface="Nanum Gothic"/>
                <a:ea typeface="Nanum Gothic"/>
                <a:cs typeface="Nanum Gothic"/>
              </a:rPr>
              <a:t>03</a:t>
            </a:r>
          </a:p>
        </p:txBody>
      </p:sp>
      <p:sp>
        <p:nvSpPr>
          <p:cNvPr id="16" name="roadmap-title-2">
            <a:extLst xmlns:a="http://schemas.openxmlformats.org/drawingml/2006/main">
              <a:ext uri="{FF2B5EF4-FFF2-40B4-BE49-F238E27FC236}">
                <a16:creationId xmlns:a16="http://schemas.microsoft.com/office/drawing/2014/main" id="{20D83DA7-A781-4E15-8992-18539EF2C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2667000"/>
            <a:ext cx="190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11820"/>
                </a:solidFill>
                <a:latin typeface="Nanum Gothic"/>
                <a:ea typeface="Nanum Gothic"/>
                <a:cs typeface="Nanum Gothic"/>
              </a:defRPr>
            </a:pPr>
            <a:r>
              <a:rPr sz="1725" b="1">
                <a:solidFill>
                  <a:srgbClr val="111820"/>
                </a:solidFill>
                <a:latin typeface="Nanum Gothic"/>
                <a:ea typeface="Nanum Gothic"/>
                <a:cs typeface="Nanum Gothic"/>
              </a:rPr>
              <a:t>핵심 엔진</a:t>
            </a:r>
          </a:p>
        </p:txBody>
      </p:sp>
      <p:sp>
        <p:nvSpPr>
          <p:cNvPr id="17" name="roadmap-body-2">
            <a:extLst xmlns:a="http://schemas.openxmlformats.org/drawingml/2006/main">
              <a:ext uri="{FF2B5EF4-FFF2-40B4-BE49-F238E27FC236}">
                <a16:creationId xmlns:a16="http://schemas.microsoft.com/office/drawing/2014/main" id="{E79B2295-0029-40D2-AB4C-11CC57DDA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3733800"/>
            <a:ext cx="1905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8636F"/>
                </a:solidFill>
                <a:latin typeface="Nanum Gothic"/>
                <a:ea typeface="Nanum Gothic"/>
                <a:cs typeface="Nanum Gothic"/>
              </a:defRPr>
            </a:pPr>
            <a:r>
              <a:rPr sz="1500" b="0">
                <a:solidFill>
                  <a:srgbClr val="58636F"/>
                </a:solidFill>
                <a:latin typeface="Nanum Gothic"/>
                <a:ea typeface="Nanum Gothic"/>
                <a:cs typeface="Nanum Gothic"/>
              </a:rPr>
              <a:t>위험 탐지</a:t>
            </a:r>
          </a:p>
          <a:p xmlns:a="http://schemas.openxmlformats.org/drawingml/2006/main">
            <a:pPr algn="l">
              <a:defRPr sz="1500" b="0">
                <a:solidFill>
                  <a:srgbClr val="58636F"/>
                </a:solidFill>
                <a:latin typeface="Nanum Gothic"/>
                <a:ea typeface="Nanum Gothic"/>
                <a:cs typeface="Nanum Gothic"/>
              </a:defRPr>
            </a:pPr>
            <a:r>
              <a:rPr sz="1500" b="0">
                <a:solidFill>
                  <a:srgbClr val="58636F"/>
                </a:solidFill>
                <a:latin typeface="Nanum Gothic"/>
                <a:ea typeface="Nanum Gothic"/>
                <a:cs typeface="Nanum Gothic"/>
              </a:rPr>
              <a:t>사고 대응</a:t>
            </a:r>
          </a:p>
        </p:txBody>
      </p:sp>
      <p:sp>
        <p:nvSpPr>
          <p:cNvPr id="18" name="roadmap-dot-3">
            <a:extLst xmlns:a="http://schemas.openxmlformats.org/drawingml/2006/main">
              <a:ext uri="{FF2B5EF4-FFF2-40B4-BE49-F238E27FC236}">
                <a16:creationId xmlns:a16="http://schemas.microsoft.com/office/drawing/2014/main" id="{A005A72B-88DB-40F3-9477-235579EE3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48575" y="321945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4A7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roadmap-num-3">
            <a:extLst xmlns:a="http://schemas.openxmlformats.org/drawingml/2006/main">
              <a:ext uri="{FF2B5EF4-FFF2-40B4-BE49-F238E27FC236}">
                <a16:creationId xmlns:a16="http://schemas.microsoft.com/office/drawing/2014/main" id="{9F07127B-BB27-4F16-9CC2-0D4FA1082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25" y="2000250"/>
            <a:ext cx="762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B4A73"/>
                </a:solidFill>
                <a:latin typeface="Nanum Gothic"/>
                <a:ea typeface="Nanum Gothic"/>
                <a:cs typeface="Nanum Gothic"/>
              </a:defRPr>
            </a:pPr>
            <a:r>
              <a:rPr sz="3150" b="1">
                <a:solidFill>
                  <a:srgbClr val="1B4A73"/>
                </a:solidFill>
                <a:latin typeface="Nanum Gothic"/>
                <a:ea typeface="Nanum Gothic"/>
                <a:cs typeface="Nanum Gothic"/>
              </a:rPr>
              <a:t>04</a:t>
            </a:r>
          </a:p>
        </p:txBody>
      </p:sp>
      <p:sp>
        <p:nvSpPr>
          <p:cNvPr id="20" name="roadmap-title-3">
            <a:extLst xmlns:a="http://schemas.openxmlformats.org/drawingml/2006/main">
              <a:ext uri="{FF2B5EF4-FFF2-40B4-BE49-F238E27FC236}">
                <a16:creationId xmlns:a16="http://schemas.microsoft.com/office/drawing/2014/main" id="{4EB4905E-DD29-4C37-8940-509C1EA7C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25" y="2667000"/>
            <a:ext cx="190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11820"/>
                </a:solidFill>
                <a:latin typeface="Nanum Gothic"/>
                <a:ea typeface="Nanum Gothic"/>
                <a:cs typeface="Nanum Gothic"/>
              </a:defRPr>
            </a:pPr>
            <a:r>
              <a:rPr sz="1725" b="1">
                <a:solidFill>
                  <a:srgbClr val="111820"/>
                </a:solidFill>
                <a:latin typeface="Nanum Gothic"/>
                <a:ea typeface="Nanum Gothic"/>
                <a:cs typeface="Nanum Gothic"/>
              </a:rPr>
              <a:t>고령층 UX</a:t>
            </a:r>
          </a:p>
        </p:txBody>
      </p:sp>
      <p:sp>
        <p:nvSpPr>
          <p:cNvPr id="21" name="roadmap-body-3">
            <a:extLst xmlns:a="http://schemas.openxmlformats.org/drawingml/2006/main">
              <a:ext uri="{FF2B5EF4-FFF2-40B4-BE49-F238E27FC236}">
                <a16:creationId xmlns:a16="http://schemas.microsoft.com/office/drawing/2014/main" id="{8A954ADB-01E9-4416-B2C8-709FC138A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25" y="3733800"/>
            <a:ext cx="1905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8636F"/>
                </a:solidFill>
                <a:latin typeface="Nanum Gothic"/>
                <a:ea typeface="Nanum Gothic"/>
                <a:cs typeface="Nanum Gothic"/>
              </a:defRPr>
            </a:pPr>
            <a:r>
              <a:rPr sz="1500" b="0">
                <a:solidFill>
                  <a:srgbClr val="58636F"/>
                </a:solidFill>
                <a:latin typeface="Nanum Gothic"/>
                <a:ea typeface="Nanum Gothic"/>
                <a:cs typeface="Nanum Gothic"/>
              </a:rPr>
              <a:t>접근성·보호자</a:t>
            </a:r>
          </a:p>
          <a:p xmlns:a="http://schemas.openxmlformats.org/drawingml/2006/main">
            <a:pPr algn="l">
              <a:defRPr sz="1500" b="0">
                <a:solidFill>
                  <a:srgbClr val="58636F"/>
                </a:solidFill>
                <a:latin typeface="Nanum Gothic"/>
                <a:ea typeface="Nanum Gothic"/>
                <a:cs typeface="Nanum Gothic"/>
              </a:defRPr>
            </a:pPr>
            <a:r>
              <a:rPr sz="1500" b="0">
                <a:solidFill>
                  <a:srgbClr val="58636F"/>
                </a:solidFill>
                <a:latin typeface="Nanum Gothic"/>
                <a:ea typeface="Nanum Gothic"/>
                <a:cs typeface="Nanum Gothic"/>
              </a:rPr>
              <a:t>개인정보</a:t>
            </a:r>
          </a:p>
        </p:txBody>
      </p:sp>
      <p:sp>
        <p:nvSpPr>
          <p:cNvPr id="22" name="roadmap-dot-4">
            <a:extLst xmlns:a="http://schemas.openxmlformats.org/drawingml/2006/main">
              <a:ext uri="{FF2B5EF4-FFF2-40B4-BE49-F238E27FC236}">
                <a16:creationId xmlns:a16="http://schemas.microsoft.com/office/drawing/2014/main" id="{68F7C141-20D2-4DA7-9CF3-C113DB05B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321945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5322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roadmap-num-4">
            <a:extLst xmlns:a="http://schemas.openxmlformats.org/drawingml/2006/main">
              <a:ext uri="{FF2B5EF4-FFF2-40B4-BE49-F238E27FC236}">
                <a16:creationId xmlns:a16="http://schemas.microsoft.com/office/drawing/2014/main" id="{89637F86-0615-4F6D-A2EC-0A439AA1A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2000250"/>
            <a:ext cx="762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B53225"/>
                </a:solidFill>
                <a:latin typeface="Nanum Gothic"/>
                <a:ea typeface="Nanum Gothic"/>
                <a:cs typeface="Nanum Gothic"/>
              </a:defRPr>
            </a:pPr>
            <a:r>
              <a:rPr sz="3150" b="1">
                <a:solidFill>
                  <a:srgbClr val="B53225"/>
                </a:solidFill>
                <a:latin typeface="Nanum Gothic"/>
                <a:ea typeface="Nanum Gothic"/>
                <a:cs typeface="Nanum Gothic"/>
              </a:rPr>
              <a:t>05</a:t>
            </a:r>
          </a:p>
        </p:txBody>
      </p:sp>
      <p:sp>
        <p:nvSpPr>
          <p:cNvPr id="24" name="roadmap-title-4">
            <a:extLst xmlns:a="http://schemas.openxmlformats.org/drawingml/2006/main">
              <a:ext uri="{FF2B5EF4-FFF2-40B4-BE49-F238E27FC236}">
                <a16:creationId xmlns:a16="http://schemas.microsoft.com/office/drawing/2014/main" id="{A05ABE81-C5F0-4F52-BA55-20200177A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2667000"/>
            <a:ext cx="190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11820"/>
                </a:solidFill>
                <a:latin typeface="Nanum Gothic"/>
                <a:ea typeface="Nanum Gothic"/>
                <a:cs typeface="Nanum Gothic"/>
              </a:defRPr>
            </a:pPr>
            <a:r>
              <a:rPr sz="1725" b="1">
                <a:solidFill>
                  <a:srgbClr val="111820"/>
                </a:solidFill>
                <a:latin typeface="Nanum Gothic"/>
                <a:ea typeface="Nanum Gothic"/>
                <a:cs typeface="Nanum Gothic"/>
              </a:rPr>
              <a:t>검증·배포</a:t>
            </a:r>
          </a:p>
        </p:txBody>
      </p:sp>
      <p:sp>
        <p:nvSpPr>
          <p:cNvPr id="25" name="roadmap-body-4">
            <a:extLst xmlns:a="http://schemas.openxmlformats.org/drawingml/2006/main">
              <a:ext uri="{FF2B5EF4-FFF2-40B4-BE49-F238E27FC236}">
                <a16:creationId xmlns:a16="http://schemas.microsoft.com/office/drawing/2014/main" id="{142E8310-CC1D-4FDF-9F8B-855EA83AE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733800"/>
            <a:ext cx="1905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8636F"/>
                </a:solidFill>
                <a:latin typeface="Nanum Gothic"/>
                <a:ea typeface="Nanum Gothic"/>
                <a:cs typeface="Nanum Gothic"/>
              </a:defRPr>
            </a:pPr>
            <a:r>
              <a:rPr sz="1500" b="0">
                <a:solidFill>
                  <a:srgbClr val="58636F"/>
                </a:solidFill>
                <a:latin typeface="Nanum Gothic"/>
                <a:ea typeface="Nanum Gothic"/>
                <a:cs typeface="Nanum Gothic"/>
              </a:rPr>
              <a:t>테스트·Docker</a:t>
            </a:r>
          </a:p>
          <a:p xmlns:a="http://schemas.openxmlformats.org/drawingml/2006/main">
            <a:pPr algn="l">
              <a:defRPr sz="1500" b="0">
                <a:solidFill>
                  <a:srgbClr val="58636F"/>
                </a:solidFill>
                <a:latin typeface="Nanum Gothic"/>
                <a:ea typeface="Nanum Gothic"/>
                <a:cs typeface="Nanum Gothic"/>
              </a:defRPr>
            </a:pPr>
            <a:r>
              <a:rPr sz="1500" b="0">
                <a:solidFill>
                  <a:srgbClr val="58636F"/>
                </a:solidFill>
                <a:latin typeface="Nanum Gothic"/>
                <a:ea typeface="Nanum Gothic"/>
                <a:cs typeface="Nanum Gothic"/>
              </a:rPr>
              <a:t>공개 URL</a:t>
            </a:r>
          </a:p>
        </p:txBody>
      </p:sp>
      <p:sp>
        <p:nvSpPr>
          <p:cNvPr id="26" name="roadmap-live">
            <a:extLst xmlns:a="http://schemas.openxmlformats.org/drawingml/2006/main">
              <a:ext uri="{FF2B5EF4-FFF2-40B4-BE49-F238E27FC236}">
                <a16:creationId xmlns:a16="http://schemas.microsoft.com/office/drawing/2014/main" id="{37BDF3E1-3F65-49AA-A0FC-D140EDFAB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5334000"/>
            <a:ext cx="8572500" cy="619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2F8"/>
          </a:solidFill>
          <a:ln xmlns:a="http://schemas.openxmlformats.org/drawingml/2006/main" w="9525">
            <a:solidFill>
              <a:srgbClr val="1B4A73"/>
            </a:solidFill>
            <a:prstDash val="solid"/>
          </a:ln>
        </p:spPr>
      </p:sp>
      <p:sp>
        <p:nvSpPr>
          <p:cNvPr id="27" name="roadmap-live-text">
            <a:extLst xmlns:a="http://schemas.openxmlformats.org/drawingml/2006/main">
              <a:ext uri="{FF2B5EF4-FFF2-40B4-BE49-F238E27FC236}">
                <a16:creationId xmlns:a16="http://schemas.microsoft.com/office/drawing/2014/main" id="{5C314B65-FF74-4411-AF74-7BDD3BBE8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7875" y="5514975"/>
            <a:ext cx="809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B4A73"/>
                </a:solidFill>
                <a:latin typeface="Nanum Gothic"/>
                <a:ea typeface="Nanum Gothic"/>
                <a:cs typeface="Nanum Gothic"/>
              </a:defRPr>
            </a:pPr>
            <a:r>
              <a:rPr sz="1650" b="1">
                <a:solidFill>
                  <a:srgbClr val="1B4A73"/>
                </a:solidFill>
                <a:latin typeface="Nanum Gothic"/>
                <a:ea typeface="Nanum Gothic"/>
                <a:cs typeface="Nanum Gothic"/>
              </a:rPr>
              <a:t>제출용 프로토타입 배포 완료  ·  https://silver-finance-guard-ai.onrender.com</a:t>
            </a:r>
          </a:p>
        </p:txBody>
      </p:sp>
    </p:spTree>
    <p:extLst>
      <p:ext uri="{BB962C8B-B14F-4D97-AF65-F5344CB8AC3E}">
        <p14:creationId xmlns:p14="http://schemas.microsoft.com/office/powerpoint/2010/main" val="2051349808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close-kicker">
            <a:extLst xmlns:a="http://schemas.openxmlformats.org/drawingml/2006/main">
              <a:ext uri="{FF2B5EF4-FFF2-40B4-BE49-F238E27FC236}">
                <a16:creationId xmlns:a16="http://schemas.microsoft.com/office/drawing/2014/main" id="{2E855479-4675-4D8C-9751-B866F8AB1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57200"/>
            <a:ext cx="3810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B6B57"/>
                </a:solidFill>
                <a:latin typeface="Nanum Gothic"/>
                <a:ea typeface="Nanum Gothic"/>
                <a:cs typeface="Nanum Gothic"/>
              </a:defRPr>
            </a:pPr>
            <a:r>
              <a:rPr sz="1350" b="1">
                <a:solidFill>
                  <a:srgbClr val="0B6B57"/>
                </a:solidFill>
                <a:latin typeface="Nanum Gothic"/>
                <a:ea typeface="Nanum Gothic"/>
                <a:cs typeface="Nanum Gothic"/>
              </a:rPr>
              <a:t>실버 금융가드 AI</a:t>
            </a:r>
          </a:p>
        </p:txBody>
      </p:sp>
      <p:sp>
        <p:nvSpPr>
          <p:cNvPr id="2" name="close-title">
            <a:extLst xmlns:a="http://schemas.openxmlformats.org/drawingml/2006/main">
              <a:ext uri="{FF2B5EF4-FFF2-40B4-BE49-F238E27FC236}">
                <a16:creationId xmlns:a16="http://schemas.microsoft.com/office/drawing/2014/main" id="{25113D18-1F64-4D02-8D6E-57FA7316B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714500"/>
            <a:ext cx="87630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4650" b="1">
                <a:solidFill>
                  <a:srgbClr val="111820"/>
                </a:solidFill>
                <a:latin typeface="Nanum Gothic"/>
                <a:ea typeface="Nanum Gothic"/>
                <a:cs typeface="Nanum Gothic"/>
              </a:defRPr>
            </a:pPr>
            <a:r>
              <a:rPr sz="4650" b="1">
                <a:solidFill>
                  <a:srgbClr val="111820"/>
                </a:solidFill>
                <a:latin typeface="Nanum Gothic"/>
                <a:ea typeface="Nanum Gothic"/>
                <a:cs typeface="Nanum Gothic"/>
              </a:rPr>
              <a:t>이해를 행동으로 바꾸는</a:t>
            </a:r>
          </a:p>
          <a:p xmlns:a="http://schemas.openxmlformats.org/drawingml/2006/main">
            <a:pPr algn="l">
              <a:defRPr sz="4650" b="1">
                <a:solidFill>
                  <a:srgbClr val="111820"/>
                </a:solidFill>
                <a:latin typeface="Nanum Gothic"/>
                <a:ea typeface="Nanum Gothic"/>
                <a:cs typeface="Nanum Gothic"/>
              </a:defRPr>
            </a:pPr>
            <a:r>
              <a:rPr sz="4650" b="1">
                <a:solidFill>
                  <a:srgbClr val="111820"/>
                </a:solidFill>
                <a:latin typeface="Nanum Gothic"/>
                <a:ea typeface="Nanum Gothic"/>
                <a:cs typeface="Nanum Gothic"/>
              </a:rPr>
              <a:t>금융소비자 보호 에이전트</a:t>
            </a:r>
          </a:p>
        </p:txBody>
      </p:sp>
      <p:sp>
        <p:nvSpPr>
          <p:cNvPr id="3" name="close-pitch">
            <a:extLst xmlns:a="http://schemas.openxmlformats.org/drawingml/2006/main">
              <a:ext uri="{FF2B5EF4-FFF2-40B4-BE49-F238E27FC236}">
                <a16:creationId xmlns:a16="http://schemas.microsoft.com/office/drawing/2014/main" id="{74098822-B3AD-49BA-BE3F-C607539A9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095750"/>
            <a:ext cx="1057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58636F"/>
                </a:solidFill>
                <a:latin typeface="Nanum Gothic"/>
                <a:ea typeface="Nanum Gothic"/>
                <a:cs typeface="Nanum Gothic"/>
              </a:defRPr>
            </a:pPr>
            <a:r>
              <a:rPr sz="1875" b="0">
                <a:solidFill>
                  <a:srgbClr val="58636F"/>
                </a:solidFill>
                <a:latin typeface="Nanum Gothic"/>
                <a:ea typeface="Nanum Gothic"/>
                <a:cs typeface="Nanum Gothic"/>
              </a:rPr>
              <a:t>약관 위험 탐지 · 골든타임 대응 · 쉬운 금융용어 · 민원서 작성 · 보호자 공유</a:t>
            </a:r>
          </a:p>
        </p:txBody>
      </p:sp>
      <p:sp>
        <p:nvSpPr>
          <p:cNvPr id="4" name="close-url-box">
            <a:extLst xmlns:a="http://schemas.openxmlformats.org/drawingml/2006/main">
              <a:ext uri="{FF2B5EF4-FFF2-40B4-BE49-F238E27FC236}">
                <a16:creationId xmlns:a16="http://schemas.microsoft.com/office/drawing/2014/main" id="{98D9AD8C-1F41-4151-9287-475A33C6E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000625"/>
            <a:ext cx="11191875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4A7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close-url">
            <a:extLst xmlns:a="http://schemas.openxmlformats.org/drawingml/2006/main">
              <a:ext uri="{FF2B5EF4-FFF2-40B4-BE49-F238E27FC236}">
                <a16:creationId xmlns:a16="http://schemas.microsoft.com/office/drawing/2014/main" id="{9B6A033B-030F-4B5E-B493-4438053F1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00650"/>
            <a:ext cx="106489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Nanum Gothic"/>
                <a:ea typeface="Nanum Gothic"/>
                <a:cs typeface="Nanum Gothic"/>
              </a:defRPr>
            </a:pPr>
            <a:r>
              <a:rPr sz="1875" b="1">
                <a:solidFill>
                  <a:srgbClr val="FFFFFF"/>
                </a:solidFill>
                <a:latin typeface="Nanum Gothic"/>
                <a:ea typeface="Nanum Gothic"/>
                <a:cs typeface="Nanum Gothic"/>
              </a:rPr>
              <a:t>https://silver-finance-guard-ai.onrender.com</a:t>
            </a:r>
          </a:p>
        </p:txBody>
      </p:sp>
      <p:sp>
        <p:nvSpPr>
          <p:cNvPr id="6" name="close-repo">
            <a:extLst xmlns:a="http://schemas.openxmlformats.org/drawingml/2006/main">
              <a:ext uri="{FF2B5EF4-FFF2-40B4-BE49-F238E27FC236}">
                <a16:creationId xmlns:a16="http://schemas.microsoft.com/office/drawing/2014/main" id="{B11D5DFE-3D12-438A-91A7-547D609C4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924550"/>
            <a:ext cx="11191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58636F"/>
                </a:solidFill>
                <a:latin typeface="Nanum Gothic"/>
                <a:ea typeface="Nanum Gothic"/>
                <a:cs typeface="Nanum Gothic"/>
              </a:defRPr>
            </a:pPr>
            <a:r>
              <a:rPr sz="1125" b="0">
                <a:solidFill>
                  <a:srgbClr val="58636F"/>
                </a:solidFill>
                <a:latin typeface="Nanum Gothic"/>
                <a:ea typeface="Nanum Gothic"/>
                <a:cs typeface="Nanum Gothic"/>
              </a:rPr>
              <a:t>GitHub · kkssyy1215/Silver_Finance_Guard_AI</a:t>
            </a:r>
          </a:p>
        </p:txBody>
      </p:sp>
    </p:spTree>
    <p:extLst>
      <p:ext uri="{BB962C8B-B14F-4D97-AF65-F5344CB8AC3E}">
        <p14:creationId xmlns:p14="http://schemas.microsoft.com/office/powerpoint/2010/main" val="27562912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2026-08-01T15:05:23.9620000Z</dcterms:created>
  <dcterms:modified xsi:type="dcterms:W3CDTF">2026-08-01T15:05:23.9620000Z</dcterms:modified>
</coreProperties>
</file>