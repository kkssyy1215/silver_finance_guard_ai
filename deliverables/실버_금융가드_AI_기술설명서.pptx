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2371c9ac634971" /><Relationship Type="http://schemas.openxmlformats.org/officeDocument/2006/relationships/extended-properties" Target="/docProps/app.xml" Id="R02d46b321f624c45" /><Relationship Type="http://schemas.openxmlformats.org/officeDocument/2006/relationships/officeDocument" Target="/ppt/presentation.xml" Id="R71f8aee07b814c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2c4aa3dcb74d32"/>
  </p:sldMasterIdLst>
  <p:notesMasterIdLst>
    <p:notesMasterId xmlns:r="http://schemas.openxmlformats.org/officeDocument/2006/relationships" r:id="Rf90249e90a7f4142"/>
  </p:notesMasterIdLst>
  <p:sldIdLst>
    <p:sldId xmlns:r="http://schemas.openxmlformats.org/officeDocument/2006/relationships" id="256" r:id="R9eff0ebfd2aa4520"/>
    <p:sldId xmlns:r="http://schemas.openxmlformats.org/officeDocument/2006/relationships" id="257" r:id="R7c68e806bcdc4eda"/>
    <p:sldId xmlns:r="http://schemas.openxmlformats.org/officeDocument/2006/relationships" id="258" r:id="Ra7821e85a9674635"/>
    <p:sldId xmlns:r="http://schemas.openxmlformats.org/officeDocument/2006/relationships" id="259" r:id="Rb5de965b1f724cba"/>
    <p:sldId xmlns:r="http://schemas.openxmlformats.org/officeDocument/2006/relationships" id="260" r:id="R6f6f40a1e92d4a9a"/>
    <p:sldId xmlns:r="http://schemas.openxmlformats.org/officeDocument/2006/relationships" id="261" r:id="R3b649f783b714dfe"/>
    <p:sldId xmlns:r="http://schemas.openxmlformats.org/officeDocument/2006/relationships" id="262" r:id="Rf97060fbf0c94fff"/>
    <p:sldId xmlns:r="http://schemas.openxmlformats.org/officeDocument/2006/relationships" id="263" r:id="R49d4352d9dac472b"/>
    <p:sldId xmlns:r="http://schemas.openxmlformats.org/officeDocument/2006/relationships" id="264" r:id="R8d3f32227f024b1f"/>
    <p:sldId xmlns:r="http://schemas.openxmlformats.org/officeDocument/2006/relationships" id="265" r:id="R8a429a8bd2f44c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69f7afcbc44eb0" /><Relationship Type="http://schemas.openxmlformats.org/officeDocument/2006/relationships/slideMaster" Target="/ppt/slideMasters/slideMaster1.xml" Id="Rde2c4aa3dcb74d32" /><Relationship Type="http://schemas.openxmlformats.org/officeDocument/2006/relationships/notesMaster" Target="/ppt/notesMasters/notesMaster1.xml" Id="Rf90249e90a7f4142" /><Relationship Type="http://schemas.openxmlformats.org/officeDocument/2006/relationships/presProps" Target="/ppt/presProps.xml" Id="Ra7325554d9b7475c" /><Relationship Type="http://schemas.openxmlformats.org/officeDocument/2006/relationships/tableStyles" Target="/ppt/tableStyles.xml" Id="Red8fd1a281ce4759" /><Relationship Type="http://schemas.openxmlformats.org/officeDocument/2006/relationships/slide" Target="/ppt/slides/slide1.xml" Id="R9eff0ebfd2aa4520" /><Relationship Type="http://schemas.openxmlformats.org/officeDocument/2006/relationships/slide" Target="/ppt/slides/slide2.xml" Id="R7c68e806bcdc4eda" /><Relationship Type="http://schemas.openxmlformats.org/officeDocument/2006/relationships/slide" Target="/ppt/slides/slide3.xml" Id="Ra7821e85a9674635" /><Relationship Type="http://schemas.openxmlformats.org/officeDocument/2006/relationships/slide" Target="/ppt/slides/slide4.xml" Id="Rb5de965b1f724cba" /><Relationship Type="http://schemas.openxmlformats.org/officeDocument/2006/relationships/slide" Target="/ppt/slides/slide5.xml" Id="R6f6f40a1e92d4a9a" /><Relationship Type="http://schemas.openxmlformats.org/officeDocument/2006/relationships/slide" Target="/ppt/slides/slide6.xml" Id="R3b649f783b714dfe" /><Relationship Type="http://schemas.openxmlformats.org/officeDocument/2006/relationships/slide" Target="/ppt/slides/slide7.xml" Id="Rf97060fbf0c94fff" /><Relationship Type="http://schemas.openxmlformats.org/officeDocument/2006/relationships/slide" Target="/ppt/slides/slide8.xml" Id="R49d4352d9dac472b" /><Relationship Type="http://schemas.openxmlformats.org/officeDocument/2006/relationships/slide" Target="/ppt/slides/slide9.xml" Id="R8d3f32227f024b1f" /><Relationship Type="http://schemas.openxmlformats.org/officeDocument/2006/relationships/slide" Target="/ppt/slides/slide10.xml" Id="R8a429a8bd2f44c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38b778aab048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b995230d9144a7" /><Relationship Type="http://schemas.openxmlformats.org/officeDocument/2006/relationships/notesMaster" Target="/ppt/notesMasters/notesMaster1.xml" Id="R3e92b7ff0c354d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b8a96cb7fe480b" /><Relationship Type="http://schemas.openxmlformats.org/officeDocument/2006/relationships/notesMaster" Target="/ppt/notesMasters/notesMaster1.xml" Id="R0c39501f020048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dfdd53edf1420e" /><Relationship Type="http://schemas.openxmlformats.org/officeDocument/2006/relationships/notesMaster" Target="/ppt/notesMasters/notesMaster1.xml" Id="R20b198ef90694b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9a625dc9194cf2" /><Relationship Type="http://schemas.openxmlformats.org/officeDocument/2006/relationships/notesMaster" Target="/ppt/notesMasters/notesMaster1.xml" Id="R9fdae34a745147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19f4d98f614ab3" /><Relationship Type="http://schemas.openxmlformats.org/officeDocument/2006/relationships/notesMaster" Target="/ppt/notesMasters/notesMaster1.xml" Id="R39f0b74f085943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e708746f4e450c" /><Relationship Type="http://schemas.openxmlformats.org/officeDocument/2006/relationships/notesMaster" Target="/ppt/notesMasters/notesMaster1.xml" Id="Rbe48b55c35e14b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bb9970c98f4791" /><Relationship Type="http://schemas.openxmlformats.org/officeDocument/2006/relationships/notesMaster" Target="/ppt/notesMasters/notesMaster1.xml" Id="R5e56132354db4b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a3e6d921834d20" /><Relationship Type="http://schemas.openxmlformats.org/officeDocument/2006/relationships/notesMaster" Target="/ppt/notesMasters/notesMaster1.xml" Id="Rce63ff46475641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10e841c6f9407a" /><Relationship Type="http://schemas.openxmlformats.org/officeDocument/2006/relationships/notesMaster" Target="/ppt/notesMasters/notesMaster1.xml" Id="Ra8978170049d46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a6cf2d291c49e5" /><Relationship Type="http://schemas.openxmlformats.org/officeDocument/2006/relationships/notesMaster" Target="/ppt/notesMasters/notesMaster1.xml" Id="R779e6f46516d4a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b07414549c4b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0d4dbeb8db4d7f" /><Relationship Type="http://schemas.openxmlformats.org/officeDocument/2006/relationships/slideLayout" Target="/ppt/slideLayouts/slideLayout1.xml" Id="R6195f0e2cb0b4d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95f0e2cb0b4d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b71c842b64ae9" /><Relationship Type="http://schemas.openxmlformats.org/officeDocument/2006/relationships/notesSlide" Target="/ppt/notesSlides/notesSlide1.xml" Id="Rd907de518e4f49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6eba3b9fb4686" /><Relationship Type="http://schemas.openxmlformats.org/officeDocument/2006/relationships/notesSlide" Target="/ppt/notesSlides/notesSlide2.xml" Id="Rf5aa32be7e3044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d25217b7a42e3" /><Relationship Type="http://schemas.openxmlformats.org/officeDocument/2006/relationships/notesSlide" Target="/ppt/notesSlides/notesSlide3.xml" Id="R23a2cbe0ec7644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8fdaf4d2d4f26" /><Relationship Type="http://schemas.openxmlformats.org/officeDocument/2006/relationships/notesSlide" Target="/ppt/notesSlides/notesSlide4.xml" Id="Rfaaa7098c2b04a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ffbfaedbb42ec" /><Relationship Type="http://schemas.openxmlformats.org/officeDocument/2006/relationships/notesSlide" Target="/ppt/notesSlides/notesSlide5.xml" Id="Rbcdc6b84da2241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d8cff30c041ed" /><Relationship Type="http://schemas.openxmlformats.org/officeDocument/2006/relationships/notesSlide" Target="/ppt/notesSlides/notesSlide6.xml" Id="R7504b69b985543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520fe14154b2a" /><Relationship Type="http://schemas.openxmlformats.org/officeDocument/2006/relationships/notesSlide" Target="/ppt/notesSlides/notesSlide7.xml" Id="R96d7ac76827248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cecaab2464579" /><Relationship Type="http://schemas.openxmlformats.org/officeDocument/2006/relationships/notesSlide" Target="/ppt/notesSlides/notesSlide8.xml" Id="R2bd082ed452a42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8552c4ff144b4" /><Relationship Type="http://schemas.openxmlformats.org/officeDocument/2006/relationships/notesSlide" Target="/ppt/notesSlides/notesSlide9.xml" Id="R2cc2a0e4d6a344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f0742de044f58" /><Relationship Type="http://schemas.openxmlformats.org/officeDocument/2006/relationships/notesSlide" Target="/ppt/notesSlides/notesSlide10.xml" Id="Ra873116a163b41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EE5C4DC-BC56-432C-9138-80AD36E0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실버 금융가드 AI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DF086A6-3244-4586-AB2F-F3D0E1BC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2318"/>
                </a:solidFill>
              </a:defRPr>
            </a:pPr>
            <a:r>
              <a:rPr sz="2250" b="1">
                <a:solidFill>
                  <a:srgbClr val="B42318"/>
                </a:solidFill>
              </a:rPr>
              <a:t>가입 전 3분, 어르신 금융계약 안전점검 AI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519DBAC-8EB6-4BDC-A8E4-FA8D79FA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866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563"/>
                </a:solidFill>
              </a:defRPr>
            </a:pPr>
            <a:r>
              <a:rPr sz="1950" b="0">
                <a:solidFill>
                  <a:srgbClr val="4B5563"/>
                </a:solidFill>
              </a:rPr>
              <a:t>상담 내용과 약관을 쉬운 말로 점검해 설명의무 누락, 불완전판매 위험, 불리한 조항, 지금 물어봐야 할 질문을 알려주는 금융계약 동행 에이전트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01577-E184-4240-A59D-D9378FF5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429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2E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CDECE8B-9C28-43B5-97A6-63491C97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기술설명서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4A25978-3A00-4C1E-BFBB-A2B50675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Future Finance AI Challenge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0F28F-6242-46FF-A554-EEABEF47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048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0687651-C41C-4181-B067-DE3DC368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사전 예방 · 쉬운 언어 · 공식 근거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26957A9-9871-405C-A8C9-4DBF2300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67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가입 전부터 사고 대응까지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EF4B877-9800-48F3-8407-EAC61560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865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실버 금융가드 AI 기술설명서 · 1</a:t>
            </a:r>
          </a:p>
        </p:txBody>
      </p:sp>
    </p:spTree>
    <p:extLst>
      <p:ext uri="{BB962C8B-B14F-4D97-AF65-F5344CB8AC3E}">
        <p14:creationId xmlns:p14="http://schemas.microsoft.com/office/powerpoint/2010/main" val="218246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DAF410D-7435-4568-8BE1-962EFC95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01 문제 정의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0014736-8FEF-4801-98C4-323C6442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고령층 금융피해는 ‘가입 전 이해 부족’에서 시작됩니다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E9039-E1C4-4D4B-A466-56AAE436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60C12-27C7-4803-BBE0-19054077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C6028-55F1-49A4-9129-978D41B9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5C510-9BD8-4A58-A29D-806CB632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84E4FD7-8877-4383-82F5-2488C20F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읽기 어려운 약관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77E36A8-01C3-40A2-8714-7EEB66FE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38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자동연장, 위약금, 제3자 제공처럼 중요한 조건이 긴 문장 속에 묻힙니다.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924E711-124A-4F87-BEF3-52F6C892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81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상담 중 설명 누락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6E63DA5-5056-4401-A75F-E17450F0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952750"/>
            <a:ext cx="238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원금손실, 수수료, 중도해지 손해를 충분히 듣지 못해도 질문하기 어렵습니다.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53EB09F-7D65-4670-A1C3-BF37C519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사고 직후 혼란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DC2401D-53DE-4E89-BD9A-22040B1A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527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착오송금·보이스피싱 상황에서는 검색보다 지급정지, 신고, 증거보존 순서가 중요합니다.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9339A2C-D16F-41E6-952C-C8FAB88D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292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2318"/>
                </a:solidFill>
              </a:defRPr>
            </a:pPr>
            <a:r>
              <a:rPr sz="2100" b="1">
                <a:solidFill>
                  <a:srgbClr val="B42318"/>
                </a:solidFill>
              </a:rPr>
              <a:t>핵심 문제: 정보 비대칭 + 낮은 디지털 접근성 + 골든타임 손실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8B9EA53-8704-4FF5-9154-8D27224A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865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실버 금융가드 AI 기술설명서 · 2</a:t>
            </a:r>
          </a:p>
        </p:txBody>
      </p:sp>
    </p:spTree>
    <p:extLst>
      <p:ext uri="{BB962C8B-B14F-4D97-AF65-F5344CB8AC3E}">
        <p14:creationId xmlns:p14="http://schemas.microsoft.com/office/powerpoint/2010/main" val="16178772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06F26F0-A763-439D-8CD7-CA783BDD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02 차별화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D024082-6203-4BB1-A32E-5DE55148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기존 챗봇이 아니라 ‘금융계약 여정’을 따라갑니다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965D0-AB98-4171-8DBE-801F8044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86DFA-5C54-49D2-893B-25232E3F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762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ADBEB-0D94-42FE-8BE6-B298C60D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762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930A240-707F-453B-8646-D8A7E2BB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5563"/>
                </a:solidFill>
              </a:defRPr>
            </a:pPr>
            <a:r>
              <a:rPr sz="2100" b="1">
                <a:solidFill>
                  <a:srgbClr val="4B5563"/>
                </a:solidFill>
              </a:rPr>
              <a:t>흔한 접근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7A7B2D9-2DC1-4348-BB71-3AD98671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361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• 금융 Q&amp;A 챗봇</a:t>
            </a:r>
          </a:p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• 보이스피싱 탐지기</a:t>
            </a:r>
          </a:p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• 약관 분석기</a:t>
            </a:r>
          </a:p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• 사후 민원 작성기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D58FB31-5914-4AA5-BBDA-4CE97E1E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42318"/>
                </a:solidFill>
              </a:defRPr>
            </a:pPr>
            <a:r>
              <a:rPr sz="2100" b="1">
                <a:solidFill>
                  <a:srgbClr val="B42318"/>
                </a:solidFill>
              </a:rPr>
              <a:t>실버 금융가드 AI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04BDB16-04D8-4A2B-B28D-5555C513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390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가입 전 안전점수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직원에게 보여줄 질문 카드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보호자 공유 요약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사고 대응과 민원 초안까지 연결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681CF6A-AC78-465F-AE26-D2341184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7212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차별점은 기능 수가 아니라, 어르신이 실제로 겪는 순간을 하나의 보호 흐름으로 묶은 것입니다.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C3348AD-982D-4286-9616-D60990EE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865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실버 금융가드 AI 기술설명서 · 3</a:t>
            </a:r>
          </a:p>
        </p:txBody>
      </p:sp>
    </p:spTree>
    <p:extLst>
      <p:ext uri="{BB962C8B-B14F-4D97-AF65-F5344CB8AC3E}">
        <p14:creationId xmlns:p14="http://schemas.microsoft.com/office/powerpoint/2010/main" val="8739590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EEF474C-16E8-43F4-8B00-3AD0B2BD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03 UX 흐름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95A4CC4-300C-4436-9F7C-CD57241A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사용자는 기능명이 아니라 생활 상황에서 시작합니다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98332-2196-4F5F-9EB1-D2C05B52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81BA4-AB08-495E-AD1B-B5E8FBB8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2476500" cy="2571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6B41294-DDE3-4DC2-8C9C-AA07DDB2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2318"/>
                </a:solidFill>
              </a:defRPr>
            </a:pPr>
            <a:r>
              <a:rPr sz="2850" b="1">
                <a:solidFill>
                  <a:srgbClr val="B42318"/>
                </a:solidFill>
              </a:rPr>
              <a:t>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05717D1-CBE7-48D4-9A79-3286170D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무슨 일이 있으세요?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25DEAAE-C09B-4250-A3C2-ED8C9BC7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가입·용어·사고·민원 중 상황 선택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D49B3-B6FE-404B-958B-B8CF9257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33625"/>
            <a:ext cx="2476500" cy="2571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2A0CC24-C092-4F5D-B9F4-EB05D124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71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2318"/>
                </a:solidFill>
              </a:defRPr>
            </a:pPr>
            <a:r>
              <a:rPr sz="2850" b="1">
                <a:solidFill>
                  <a:srgbClr val="B42318"/>
                </a:solidFill>
              </a:rPr>
              <a:t>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2CFBE94-8FA5-4082-9DBE-7E6B6B6C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385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직접 적기 또는 파일 올리기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80C8C1A-8390-4B08-BF99-07DC5F7E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00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복사/업로드가 어려우면 중요한 문장만 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5285E-351B-4FDF-B809-42882165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33625"/>
            <a:ext cx="2476500" cy="2571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3520CA0-5473-47FD-A1AE-28AE3C9F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71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2318"/>
                </a:solidFill>
              </a:defRPr>
            </a:pPr>
            <a:r>
              <a:rPr sz="2850" b="1">
                <a:solidFill>
                  <a:srgbClr val="B42318"/>
                </a:solidFill>
              </a:rPr>
              <a:t>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36715F4-62C9-4369-8354-FED8F1F0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385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먼저 볼 3줄 결론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E6B5CD8-8B65-40F1-837F-F8BF9F6C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00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지금 판단, 위험 개수, 다음 행동 우선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9665B-002B-4ED8-9D85-67A368B1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33625"/>
            <a:ext cx="2476500" cy="2571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1942D4B-E63D-4912-9CB5-A4F7D79C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71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2318"/>
                </a:solidFill>
              </a:defRPr>
            </a:pPr>
            <a:r>
              <a:rPr sz="2850" b="1">
                <a:solidFill>
                  <a:srgbClr val="B42318"/>
                </a:solidFill>
              </a:rPr>
              <a:t>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3A0E24B-1384-4B6A-8C61-D961CD85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385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질문 카드와 보호자 요약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1E4AF83-1376-446E-B66D-A55A43CC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00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상담 직원 또는 가족에게 바로 보여줌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9932424-5B1A-46D9-8EF6-6D17BA0C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865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실버 금융가드 AI 기술설명서 · 4</a:t>
            </a:r>
          </a:p>
        </p:txBody>
      </p:sp>
    </p:spTree>
    <p:extLst>
      <p:ext uri="{BB962C8B-B14F-4D97-AF65-F5344CB8AC3E}">
        <p14:creationId xmlns:p14="http://schemas.microsoft.com/office/powerpoint/2010/main" val="8758025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D1AE4C2-648E-48DA-BD9E-D781D0C0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04 핵심 기능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3E5E26B-4B8C-4A8F-AC40-45619419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핵심 기능은 사전 예방에서 사후 대응까지 이어집니다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4E362-B424-4150-95B1-2911BD58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7A014-5EC4-45A7-9FE0-211F58F3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3D455C2-F1A8-4497-96D0-7DC6F9CE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42318"/>
                </a:solidFill>
              </a:defRPr>
            </a:pPr>
            <a:r>
              <a:rPr sz="2100" b="1">
                <a:solidFill>
                  <a:srgbClr val="B42318"/>
                </a:solidFill>
              </a:rPr>
              <a:t>가입 전 안심점검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C553A16-4E49-4914-9EDB-DE2FDA70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약관·문자·상담 내용에서 자동연장, 위약금, 개인정보 제공, 압박 판매, 원금보장 오인 표현 탐지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4E4A5-C506-4C4D-BBFF-21BA063D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FFC013E-77A6-4C31-A971-8C830D75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43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금융용어검색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3D8EC16-8A65-4691-AB2D-2289FD1C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194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공식 금융용어를 쉬운 말, 본문 정의, 확인할 일로 나누어 설명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502CD-AD3F-46BA-BE52-3CE88868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BE585E8-460E-4D7C-BA5E-13781DA9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사고 골든타임 대응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AB18133-EE43-4A95-A88C-1CF58C07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착오송금·보이스피싱을 분류하고 즉시, 10분 내, 오늘, 이후 행동을 단계별 안내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4CE7C-7C6E-48D9-A26E-E1887011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00500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12EFE3C-1C25-4974-9CB8-6130CB74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48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민원 초안 작성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B62608F-277D-4206-9DF8-A59336AF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244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사용자 진술을 사실관계, 주장 포인트, 첨부자료, 다운로드 가능한 초안으로 정리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6CBE218-D1A3-4ADF-B578-70D78396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865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실버 금융가드 AI 기술설명서 · 5</a:t>
            </a:r>
          </a:p>
        </p:txBody>
      </p:sp>
    </p:spTree>
    <p:extLst>
      <p:ext uri="{BB962C8B-B14F-4D97-AF65-F5344CB8AC3E}">
        <p14:creationId xmlns:p14="http://schemas.microsoft.com/office/powerpoint/2010/main" val="253030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6E50EDF-F0F7-4327-9379-4F96F6D4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05 데이터 기반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086B9ED-726D-4AAF-80AD-D96F3EBE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공식 데이터 16종을 정제해 판단 근거로 연결했습니다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3D640-AB41-407A-A5BF-007435F4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F7715B6-A473-40CC-9B04-4C30A791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현재 import된 대표 데이터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57BC283-0F39-4618-A26D-81189503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6096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금융위원회 금융용어사전 229건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예금보험공사 FAQ·용어·부보회사 자료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서민금융진흥원 FAQ·지점·연령대별 대출실적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공정거래위원회 표준약관·모범상담 사례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경찰청 보이스피싱 통계와 지역별 피해금액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우체국 금융사기계좌, 보이스피싱 뉴스 메타데이터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45F03-64B8-48CE-A58F-24B6B5D4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3619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6798858-3ADA-4563-9275-DB7D7C1F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95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6F8B"/>
                </a:solidFill>
              </a:defRPr>
            </a:pPr>
            <a:r>
              <a:rPr sz="2100" b="1">
                <a:solidFill>
                  <a:srgbClr val="1F6F8B"/>
                </a:solidFill>
              </a:rPr>
              <a:t>활용 방식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0B34A9F-44FA-4077-9B07-90ADCEF9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266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검색 근거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쉬운 용어 설명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표준약관 비교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유사 상담 사례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사고 긴급성 판단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30C9CEC-E559-4789-A759-CB1F02FB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데이터는 RAG형 검색과 규칙 기반 탐지의 근거로 사용하며, 법률 판단이 아닌 소비자 보호 보조 정보로 표시합니다.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BE8AE50-4D3B-48AC-8DE1-81DADA7B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865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실버 금융가드 AI 기술설명서 · 6</a:t>
            </a:r>
          </a:p>
        </p:txBody>
      </p:sp>
    </p:spTree>
    <p:extLst>
      <p:ext uri="{BB962C8B-B14F-4D97-AF65-F5344CB8AC3E}">
        <p14:creationId xmlns:p14="http://schemas.microsoft.com/office/powerpoint/2010/main" val="13995058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4FD4F6C-656E-450E-975F-33FC32D0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06 시스템 구조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C5BB567-A9EC-4594-8FF0-47083A99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아키텍처는 단순하고 재현 가능한 MVP 구조입니다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C07A5-3886-4C3B-8C18-26362F3E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0FB5E-1CA0-46BC-B217-A7A8CA1B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809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E5DC793-DDEE-422D-A5E8-BDB3A608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사용자 입력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034D559-D1A1-4819-8C36-6FC9B1C9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약관·상담·사고 상황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6679F56-F9BA-4ADD-9DC5-B777A244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57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6F8B"/>
                </a:solidFill>
              </a:defRPr>
            </a:pPr>
            <a:r>
              <a:rPr sz="2550" b="1">
                <a:solidFill>
                  <a:srgbClr val="1F6F8B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12045-3D10-49A4-A4A6-E7459D16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57500"/>
            <a:ext cx="1809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490F9BD-F131-4415-9F4D-D8C4A2B0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67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FastAPI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29541B6-8FA5-4BE2-B29F-2600B9E7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5242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분석 API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E03AEAA-6F93-4840-93D0-A63154F7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57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6F8B"/>
                </a:solidFill>
              </a:defRPr>
            </a:pPr>
            <a:r>
              <a:rPr sz="2550" b="1">
                <a:solidFill>
                  <a:srgbClr val="1F6F8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3229A-583C-4D2B-9B2B-F6744320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1809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DE83AAE-F843-485A-92F9-BC670948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67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탐지/검색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FA50A04-DB3D-4E3B-9C9D-AA1B4226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242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규칙 + 공식 데이터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5F82F0E-94C1-4A21-99DA-8A322A07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57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6F8B"/>
                </a:solidFill>
              </a:defRPr>
            </a:pPr>
            <a:r>
              <a:rPr sz="2550" b="1">
                <a:solidFill>
                  <a:srgbClr val="1F6F8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3C575-2EFD-4C75-BAFB-33050094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57500"/>
            <a:ext cx="1809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51BB088-1AD8-4522-AC6C-19F117D5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67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결과 생성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FE01989-9A05-44A4-8C95-4C6D9E55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242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안전점수·질문카드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1D6F01C-9FF1-4354-981D-2471FA7E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57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6F8B"/>
                </a:solidFill>
              </a:defRPr>
            </a:pPr>
            <a:r>
              <a:rPr sz="2550" b="1">
                <a:solidFill>
                  <a:srgbClr val="1F6F8B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517E2-9C99-4A50-918F-CA8FD1F3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1809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FF9B7C3-7175-4023-97B1-3FC7FB8E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67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Streamlit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190BB73-9155-47E7-A5AC-5C360E94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242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고령층 UX와 리포트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A7536E-E29F-4795-AB12-C41C4661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8001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853D624-4593-404C-A3E3-27493C16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720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데이터 저장은 JSON 정제 데이터 기반이며, CSV/PDF/HWPX ingestion 스크립트로 재수집·재현 가능합니다.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F36497F-15F7-483F-808F-AEEAA623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865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실버 금융가드 AI 기술설명서 · 7</a:t>
            </a:r>
          </a:p>
        </p:txBody>
      </p:sp>
    </p:spTree>
    <p:extLst>
      <p:ext uri="{BB962C8B-B14F-4D97-AF65-F5344CB8AC3E}">
        <p14:creationId xmlns:p14="http://schemas.microsoft.com/office/powerpoint/2010/main" val="5712176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E1CD88B-4FDB-4CE9-B937-74034B6A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07 기술 구현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7CA7B06-EBB3-4F15-A62F-2A5655CC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기술 완성도는 구현·검증·확장 계획으로 증명합니다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8B539-6A80-4F8C-B672-FFA0FE96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5056E-65C7-4D99-91C6-0C2590FB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ABD08-F49C-4BFA-9D8D-54E1F7CD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A0BD1-F84F-4C8F-88BB-D1F0D6A2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239537E-F2BA-4584-A7B9-C309922D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구현 스택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D8CF9C0-2728-4CD1-AFDC-F659BBA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Frontend: Streamlit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Backend: FastAPI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Data: Python 정제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Export: HTML/TXT/MD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DE2B448-5423-4485-A1B6-30D10596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476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검증 상태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90A3C39-BE4A-4D53-B46B-629FE9C9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04800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pytest 14개 통과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compileall 통과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로컬 API 연동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GitHub main 푸시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F9F801E-C16F-4249-A385-CF6F7D01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76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확장 가능성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5B9E255-A36D-4710-A093-0E2E51AE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4800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OCR 사진 인식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음성 입력·읽어주기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벡터 검색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보호자 공유 링크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0942690-2682-4F70-90C5-59E8FAFD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865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실버 금융가드 AI 기술설명서 · 8</a:t>
            </a:r>
          </a:p>
        </p:txBody>
      </p:sp>
    </p:spTree>
    <p:extLst>
      <p:ext uri="{BB962C8B-B14F-4D97-AF65-F5344CB8AC3E}">
        <p14:creationId xmlns:p14="http://schemas.microsoft.com/office/powerpoint/2010/main" val="17658429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215B6A0-90DB-4EE1-ADEE-83881948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08 평가 기준 대응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69175EC-A22A-4917-BAC7-2DD00738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평가 기준은 문제해결능력과 기술 완성도로 대응합니다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828AA-D532-42F1-8C91-56CEB0FD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B8304-9E5C-4713-B102-15FF726C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BD378FF-AE1C-40FA-8DAF-9CD5F031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42318"/>
                </a:solidFill>
              </a:defRPr>
            </a:pPr>
            <a:r>
              <a:rPr sz="2175" b="1">
                <a:solidFill>
                  <a:srgbClr val="B42318"/>
                </a:solidFill>
              </a:rPr>
              <a:t>문제해결능력 50점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F8056C2-85F3-45D2-97EE-20E14E53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문제 정의: 고령층 설명 이해 부족과 피해 예방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활용 가능성: 가입 전·사고 직후·민원 접수 전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창의성: 안전점수, 질문 카드, 보호자 요약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21A5A-A1BF-4B57-A206-1B7A86BF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90750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55E43D8-1FFD-498F-B901-1752DABE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6F8B"/>
                </a:solidFill>
              </a:defRPr>
            </a:pPr>
            <a:r>
              <a:rPr sz="2175" b="1">
                <a:solidFill>
                  <a:srgbClr val="1F6F8B"/>
                </a:solidFill>
              </a:rPr>
              <a:t>기술적 완성도 50점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2EFB72D-B23B-4625-A224-67E09A9A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기술 적정성: 규칙 탐지 + 공식 데이터 검색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계획 구체성: 수집·정제·API·UI·리포트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실현 가능성: 로컬 MVP와 테스트 완료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E27D549-DDE2-45DC-839E-1F34B59A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865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실버 금융가드 AI 기술설명서 · 9</a:t>
            </a:r>
          </a:p>
        </p:txBody>
      </p:sp>
    </p:spTree>
    <p:extLst>
      <p:ext uri="{BB962C8B-B14F-4D97-AF65-F5344CB8AC3E}">
        <p14:creationId xmlns:p14="http://schemas.microsoft.com/office/powerpoint/2010/main" val="95977213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16F2EDF-487E-4D84-9468-E2881BAB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09 로드맵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160F2BD-7CE1-41EE-B750-1C794A70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다음 단계는 진짜 어르신이 혼자 쓸 수 있게 만드는 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69045-095C-48B9-A168-DAF3D449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794C4AC-4A39-4EDD-8446-8E64CD62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MVP 이후 우선순위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F9E8763-47D8-4F6D-AEB5-EE985DFF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</a:defRPr>
            </a:pPr>
            <a:r>
              <a:rPr sz="1725" b="1">
                <a:solidFill>
                  <a:srgbClr val="B42318"/>
                </a:solidFill>
              </a:rPr>
              <a:t>1차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4DC29CE-38DF-4767-84AA-50C484AD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67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사진 OCR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284E6FF-7CE9-4BD4-B675-88894D99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약관 사진·문자 캡처로 입력 장벽 제거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F1A7639-D651-4831-BD2D-C798916B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</a:defRPr>
            </a:pPr>
            <a:r>
              <a:rPr sz="1725" b="1">
                <a:solidFill>
                  <a:srgbClr val="B42318"/>
                </a:solidFill>
              </a:rPr>
              <a:t>2차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2029DC3-EFC2-49C3-897D-D47DF7F0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09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음성 입력/읽어주기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8A3C13F-C115-4CBD-BE2B-D733D399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타이핑이 어려운 사용자를 위한 대화형 사용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E690288-F2F4-469D-B7D4-373D3541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</a:defRPr>
            </a:pPr>
            <a:r>
              <a:rPr sz="1725" b="1">
                <a:solidFill>
                  <a:srgbClr val="B42318"/>
                </a:solidFill>
              </a:rPr>
              <a:t>3차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7A81D66-98E1-4522-A3DA-D0F9FEDA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529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보호자 공유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CF4EE20-67AE-4960-910B-5A0EB11F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7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가족에게 보낼 요약 링크와 문장 복사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0C0858D-52C1-4822-B521-CB16D992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</a:defRPr>
            </a:pPr>
            <a:r>
              <a:rPr sz="1725" b="1">
                <a:solidFill>
                  <a:srgbClr val="B42318"/>
                </a:solidFill>
              </a:rPr>
              <a:t>4차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F0C3F5A-092F-4F1C-A68A-41CB49E7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단계형 화면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F5C16A1-C0F3-4976-8A6B-E86117D1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149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탭 없이 상황 선택부터 결과까지 한 길로 안내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163C43-6F50-43B3-946E-4375612D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9906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BE650E1-F3A0-4604-8D38-7D60F25A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436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최종 목표: 어르신이 바로 가입하지 않고, 먼저 이해하고 질문하고 가족과 상의하게 만드는 금융소비자 보호 습관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A3EF67F-5ED0-4CE4-A300-FA838AA6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865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실버 금융가드 AI 기술설명서 · 10</a:t>
            </a:r>
          </a:p>
        </p:txBody>
      </p:sp>
    </p:spTree>
    <p:extLst>
      <p:ext uri="{BB962C8B-B14F-4D97-AF65-F5344CB8AC3E}">
        <p14:creationId xmlns:p14="http://schemas.microsoft.com/office/powerpoint/2010/main" val="18954936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2026-07-27T08:49:38.9190000Z</dcterms:created>
  <dcterms:modified xsi:type="dcterms:W3CDTF">2026-07-27T08:49:38.9190000Z</dcterms:modified>
</coreProperties>
</file>