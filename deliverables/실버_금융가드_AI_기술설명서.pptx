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38a683b0d74d24" /><Relationship Type="http://schemas.openxmlformats.org/officeDocument/2006/relationships/extended-properties" Target="/docProps/app.xml" Id="R1841d7c1c3a44295" /><Relationship Type="http://schemas.openxmlformats.org/officeDocument/2006/relationships/officeDocument" Target="/ppt/presentation.xml" Id="R99bc36c2b68b4b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707d33383d4583"/>
  </p:sldMasterIdLst>
  <p:notesMasterIdLst>
    <p:notesMasterId xmlns:r="http://schemas.openxmlformats.org/officeDocument/2006/relationships" r:id="R281d79f2bc0d46a3"/>
  </p:notesMasterIdLst>
  <p:sldIdLst>
    <p:sldId xmlns:r="http://schemas.openxmlformats.org/officeDocument/2006/relationships" id="256" r:id="R1d702d444ea94b90"/>
    <p:sldId xmlns:r="http://schemas.openxmlformats.org/officeDocument/2006/relationships" id="257" r:id="Rbeb0f6aba68c4949"/>
    <p:sldId xmlns:r="http://schemas.openxmlformats.org/officeDocument/2006/relationships" id="258" r:id="R894a10561d604f18"/>
    <p:sldId xmlns:r="http://schemas.openxmlformats.org/officeDocument/2006/relationships" id="259" r:id="R70df56c428634484"/>
    <p:sldId xmlns:r="http://schemas.openxmlformats.org/officeDocument/2006/relationships" id="260" r:id="R8c2ed7c1e08b4de8"/>
    <p:sldId xmlns:r="http://schemas.openxmlformats.org/officeDocument/2006/relationships" id="261" r:id="R9f28c0a2abe1464b"/>
    <p:sldId xmlns:r="http://schemas.openxmlformats.org/officeDocument/2006/relationships" id="262" r:id="R782edc36fcc943fa"/>
    <p:sldId xmlns:r="http://schemas.openxmlformats.org/officeDocument/2006/relationships" id="263" r:id="R845d9b7b9357423c"/>
    <p:sldId xmlns:r="http://schemas.openxmlformats.org/officeDocument/2006/relationships" id="264" r:id="R15d61eff21c84d22"/>
    <p:sldId xmlns:r="http://schemas.openxmlformats.org/officeDocument/2006/relationships" id="265" r:id="R29d59230b2e245cd"/>
    <p:sldId xmlns:r="http://schemas.openxmlformats.org/officeDocument/2006/relationships" id="266" r:id="R7b41a6c9de404827"/>
    <p:sldId xmlns:r="http://schemas.openxmlformats.org/officeDocument/2006/relationships" id="267" r:id="R1022800eca764a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d3d1c6eaa84cd0" /><Relationship Type="http://schemas.openxmlformats.org/officeDocument/2006/relationships/slideMaster" Target="/ppt/slideMasters/slideMaster1.xml" Id="R81707d33383d4583" /><Relationship Type="http://schemas.openxmlformats.org/officeDocument/2006/relationships/notesMaster" Target="/ppt/notesMasters/notesMaster1.xml" Id="R281d79f2bc0d46a3" /><Relationship Type="http://schemas.openxmlformats.org/officeDocument/2006/relationships/presProps" Target="/ppt/presProps.xml" Id="R47d20cf8d8414337" /><Relationship Type="http://schemas.openxmlformats.org/officeDocument/2006/relationships/viewProps" Target="/ppt/viewProps.xml" Id="R9fe9a833f0c148c4" /><Relationship Type="http://schemas.openxmlformats.org/officeDocument/2006/relationships/tableStyles" Target="/ppt/tableStyles.xml" Id="R8ce3c9e597534f60" /><Relationship Type="http://schemas.openxmlformats.org/officeDocument/2006/relationships/slide" Target="/ppt/slides/slide1.xml" Id="R1d702d444ea94b90" /><Relationship Type="http://schemas.openxmlformats.org/officeDocument/2006/relationships/slide" Target="/ppt/slides/slide2.xml" Id="Rbeb0f6aba68c4949" /><Relationship Type="http://schemas.openxmlformats.org/officeDocument/2006/relationships/slide" Target="/ppt/slides/slide3.xml" Id="R894a10561d604f18" /><Relationship Type="http://schemas.openxmlformats.org/officeDocument/2006/relationships/slide" Target="/ppt/slides/slide4.xml" Id="R70df56c428634484" /><Relationship Type="http://schemas.openxmlformats.org/officeDocument/2006/relationships/slide" Target="/ppt/slides/slide5.xml" Id="R8c2ed7c1e08b4de8" /><Relationship Type="http://schemas.openxmlformats.org/officeDocument/2006/relationships/slide" Target="/ppt/slides/slide6.xml" Id="R9f28c0a2abe1464b" /><Relationship Type="http://schemas.openxmlformats.org/officeDocument/2006/relationships/slide" Target="/ppt/slides/slide7.xml" Id="R782edc36fcc943fa" /><Relationship Type="http://schemas.openxmlformats.org/officeDocument/2006/relationships/slide" Target="/ppt/slides/slide8.xml" Id="R845d9b7b9357423c" /><Relationship Type="http://schemas.openxmlformats.org/officeDocument/2006/relationships/slide" Target="/ppt/slides/slide9.xml" Id="R15d61eff21c84d22" /><Relationship Type="http://schemas.openxmlformats.org/officeDocument/2006/relationships/slide" Target="/ppt/slides/slide10.xml" Id="R29d59230b2e245cd" /><Relationship Type="http://schemas.openxmlformats.org/officeDocument/2006/relationships/slide" Target="/ppt/slides/slide11.xml" Id="R7b41a6c9de404827" /><Relationship Type="http://schemas.openxmlformats.org/officeDocument/2006/relationships/slide" Target="/ppt/slides/slide12.xml" Id="R1022800eca764a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99edc5d9304f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5aad1953264662" /><Relationship Type="http://schemas.openxmlformats.org/officeDocument/2006/relationships/notesMaster" Target="/ppt/notesMasters/notesMaster1.xml" Id="Rf6623c76f86542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37dec988734388" /><Relationship Type="http://schemas.openxmlformats.org/officeDocument/2006/relationships/notesMaster" Target="/ppt/notesMasters/notesMaster1.xml" Id="R8edf593126cb4c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5c4240d2cb4be9" /><Relationship Type="http://schemas.openxmlformats.org/officeDocument/2006/relationships/notesMaster" Target="/ppt/notesMasters/notesMaster1.xml" Id="R44e893da8c3344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06f121b0504bce" /><Relationship Type="http://schemas.openxmlformats.org/officeDocument/2006/relationships/notesMaster" Target="/ppt/notesMasters/notesMaster1.xml" Id="Ra315932d47fd47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2392a7fde14a81" /><Relationship Type="http://schemas.openxmlformats.org/officeDocument/2006/relationships/notesMaster" Target="/ppt/notesMasters/notesMaster1.xml" Id="R13d61f92bb8043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21c7f0e19244a7" /><Relationship Type="http://schemas.openxmlformats.org/officeDocument/2006/relationships/notesMaster" Target="/ppt/notesMasters/notesMaster1.xml" Id="R4afac5b5fc8f43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ee4af8c74f4672" /><Relationship Type="http://schemas.openxmlformats.org/officeDocument/2006/relationships/notesMaster" Target="/ppt/notesMasters/notesMaster1.xml" Id="R7e7e4fa008ee4e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26fdc7a9ab4c80" /><Relationship Type="http://schemas.openxmlformats.org/officeDocument/2006/relationships/notesMaster" Target="/ppt/notesMasters/notesMaster1.xml" Id="Rb712ce440fb94a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bda43360b249a9" /><Relationship Type="http://schemas.openxmlformats.org/officeDocument/2006/relationships/notesMaster" Target="/ppt/notesMasters/notesMaster1.xml" Id="R5b15246c422542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a615136dd043a8" /><Relationship Type="http://schemas.openxmlformats.org/officeDocument/2006/relationships/notesMaster" Target="/ppt/notesMasters/notesMaster1.xml" Id="Ra00c022e183e41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7e9a83b6514621" /><Relationship Type="http://schemas.openxmlformats.org/officeDocument/2006/relationships/notesMaster" Target="/ppt/notesMasters/notesMaster1.xml" Id="Rce5caef62dfd4b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055c95420a4390" /><Relationship Type="http://schemas.openxmlformats.org/officeDocument/2006/relationships/notesMaster" Target="/ppt/notesMasters/notesMaster1.xml" Id="R6d37ffee45df40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프로젝트 저장소: https://github.com/kkssyy1215/Silver_Finance_Guard_AI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금융소비자보호법 6대 판매원칙, 금융위원회</a:t>
            </a:r>
          </a:p>
          <a:p xmlns:a="http://schemas.openxmlformats.org/drawingml/2006/main">
            <a:r>
              <a:t>- 금융상품 가입 전 소비자 주의사항, 금융위원회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프로젝트 기능 명세 및 구현 코드: Silver Finance Guard AI repository.</a:t>
            </a:r>
          </a:p>
          <a:p xmlns:a="http://schemas.openxmlformats.org/drawingml/2006/main">
            <a:r>
              <a:t>차별화 문구는 프로젝트 기능 범위를 요약한 자체 설명입니다.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프로토타입 사용자 흐름: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실버 금융가드 AI 로컬 실행 화면 캡처 (PC, 2026-08-02).</a:t>
            </a:r>
          </a:p>
          <a:p xmlns:a="http://schemas.openxmlformats.org/drawingml/2006/main">
            <a:r>
              <a:t>공식 데이터 출처 및 사용 조건: backend/app/data/official/official_dataset_registry.json.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실버 금융가드 AI 로컬 실행 화면 캡처 (PC, 2026-08-02).</a:t>
            </a:r>
          </a:p>
          <a:p xmlns:a="http://schemas.openxmlformats.org/drawingml/2006/main">
            <a:r>
              <a:t>사고 대응 근거: 예금보험공사 착오송금 반환지원 FAQ 및 경찰청 보이스피싱 통계/안내 데이터.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https://www.data.go.kr/data/15160317/fileData.do (금융위원회 금융용어사전)</a:t>
            </a:r>
          </a:p>
          <a:p xmlns:a="http://schemas.openxmlformats.org/drawingml/2006/main">
            <a:r>
              <a:t>- https://www.data.go.kr/data/15098335/fileData.do (예금보험공사 착오송금 반환지원 FAQ)</a:t>
            </a:r>
          </a:p>
          <a:p xmlns:a="http://schemas.openxmlformats.org/drawingml/2006/main">
            <a:r>
              <a:t>- https://www.data.go.kr/data/15063815/fileData.do (경찰청 보이스피싱 현황)</a:t>
            </a:r>
          </a:p>
          <a:p xmlns:a="http://schemas.openxmlformats.org/drawingml/2006/main">
            <a:r>
              <a:t>- https://www.data.go.kr/data/15157710/fileData.do (경찰청 지역별 보이스피싱 현황)</a:t>
            </a:r>
          </a:p>
          <a:p xmlns:a="http://schemas.openxmlformats.org/drawingml/2006/main">
            <a:r>
              <a:t>- https://www.data.go.kr/data/15021794/fileData.do (우체국금융개발원 금융사기 예방 정보)</a:t>
            </a:r>
          </a:p>
          <a:p xmlns:a="http://schemas.openxmlformats.org/drawingml/2006/main">
            <a:r>
              <a:t>- backend/app/data/official/official_dataset_registry.json (12 runtime datasets; license unrestricted)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구현 코드와 Docker 배포 설정: https://github.com/kkssyy1215/Silver_Finance_Guard_AI</a:t>
            </a:r>
          </a:p>
          <a:p xmlns:a="http://schemas.openxmlformats.org/drawingml/2006/main">
            <a:r>
              <a:t>- 배포 서비스: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실버 금융가드 AI 로컬 실행 화면 캡처 (390px 모바일 뷰포트, 2026-08-02).</a:t>
            </a:r>
          </a:p>
          <a:p xmlns:a="http://schemas.openxmlformats.org/drawingml/2006/main">
            <a:r>
              <a:t>반응형 화면 및 접근성 기능은 프로젝트 구현 범위입니다.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평가 보고서: backend/app/data/evaluation/risk_detection_report.json.</a:t>
            </a:r>
          </a:p>
          <a:p xmlns:a="http://schemas.openxmlformats.org/drawingml/2006/main">
            <a:r>
              <a:t>자동 테스트 및 프론트엔드 빌드 결과: repository test scripts (2026-08-02).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개발 로드맵 및 실행 구성: README.md, Dockerfile, render.yaml.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프로젝트 자체 기술 설명 및 제출 자료 요약.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7e5e46bb484c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7930c5bea433b" /><Relationship Type="http://schemas.openxmlformats.org/officeDocument/2006/relationships/slideLayout" Target="/ppt/slideLayouts/slideLayout1.xml" Id="Rb48b16d6e3c646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8b16d6e3c646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20a4b5fad4955" /><Relationship Type="http://schemas.openxmlformats.org/officeDocument/2006/relationships/notesSlide" Target="/ppt/notesSlides/notesSlide1.xml" Id="R3a53418525394c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aca0e49cb4a6f" /><Relationship Type="http://schemas.openxmlformats.org/officeDocument/2006/relationships/notesSlide" Target="/ppt/notesSlides/notesSlide2.xml" Id="R74d3e10f125548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978fcac9f4253" /><Relationship Type="http://schemas.openxmlformats.org/officeDocument/2006/relationships/notesSlide" Target="/ppt/notesSlides/notesSlide3.xml" Id="R8f6cdeef559c4b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b39811ae6477f" /><Relationship Type="http://schemas.openxmlformats.org/officeDocument/2006/relationships/notesSlide" Target="/ppt/notesSlides/notesSlide4.xml" Id="R7a669b2c2ec147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9c72a2de6473e" /><Relationship Type="http://schemas.openxmlformats.org/officeDocument/2006/relationships/image" Target="/ppt/media/image.jpeg" Id="R45e16813060849d3" /><Relationship Type="http://schemas.openxmlformats.org/officeDocument/2006/relationships/notesSlide" Target="/ppt/notesSlides/notesSlide5.xml" Id="R93ad2d1b1a9a44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4c919282843cf" /><Relationship Type="http://schemas.openxmlformats.org/officeDocument/2006/relationships/image" Target="/ppt/media/image2.jpeg" Id="Rb4855c17b80e4fa4" /><Relationship Type="http://schemas.openxmlformats.org/officeDocument/2006/relationships/notesSlide" Target="/ppt/notesSlides/notesSlide6.xml" Id="R61f6581542ec4d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d2c00d7e84bac" /><Relationship Type="http://schemas.openxmlformats.org/officeDocument/2006/relationships/notesSlide" Target="/ppt/notesSlides/notesSlide7.xml" Id="Ra9d19b11d7bf45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80228701b49bb" /><Relationship Type="http://schemas.openxmlformats.org/officeDocument/2006/relationships/notesSlide" Target="/ppt/notesSlides/notesSlide8.xml" Id="R49d77a77482749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750db35c043a1" /><Relationship Type="http://schemas.openxmlformats.org/officeDocument/2006/relationships/image" Target="/ppt/media/image3.jpeg" Id="R4cce6b75ea8649d7" /><Relationship Type="http://schemas.openxmlformats.org/officeDocument/2006/relationships/notesSlide" Target="/ppt/notesSlides/notesSlide9.xml" Id="R54752ed66fd04e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65326ee2342dc" /><Relationship Type="http://schemas.openxmlformats.org/officeDocument/2006/relationships/notesSlide" Target="/ppt/notesSlides/notesSlide10.xml" Id="R88d57bb052d44f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4c8d6b22e462f" /><Relationship Type="http://schemas.openxmlformats.org/officeDocument/2006/relationships/notesSlide" Target="/ppt/notesSlides/notesSlide11.xml" Id="Rb7c6daeb3e784b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c41fed50042af" /><Relationship Type="http://schemas.openxmlformats.org/officeDocument/2006/relationships/notesSlide" Target="/ppt/notesSlides/notesSlide12.xml" Id="Rf6483477a3514a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084A6FD-C41D-42B1-8E03-061D70A5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KB AI CHALLENGE · 기술설명서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01ADB9B-EB91-4275-923E-082267BD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555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실버 금융가드 AI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37B931-4523-4002-BE5F-A091591B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6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가입 전 위험은 미리 찾고,</a:t>
            </a:r>
          </a:p>
          <a:p xmlns:a="http://schemas.openxmlformats.org/drawingml/2006/main">
            <a:pPr algn="l">
              <a:buNone/>
              <a:defRPr sz="26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6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금융사고는 골든타임 안에 대응합니다.</a:t>
            </a:r>
          </a:p>
        </p:txBody>
      </p:sp>
      <p:sp>
        <p:nvSpPr>
          <p:cNvPr id="4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5BDF02C-9344-49DB-8AC0-E2295EE9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cover-vertical">
            <a:extLst xmlns:a="http://schemas.openxmlformats.org/drawingml/2006/main">
              <a:ext uri="{FF2B5EF4-FFF2-40B4-BE49-F238E27FC236}">
                <a16:creationId xmlns:a16="http://schemas.microsoft.com/office/drawing/2014/main" id="{D59B0E3D-8DE2-4339-B471-FC5576E0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52625"/>
            <a:ext cx="2000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PREVENT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RESPOND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2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PROTECT</a:t>
            </a:r>
          </a:p>
        </p:txBody>
      </p:sp>
      <p:sp>
        <p:nvSpPr>
          <p:cNvPr id="6" name="cover-date">
            <a:extLst xmlns:a="http://schemas.openxmlformats.org/drawingml/2006/main">
              <a:ext uri="{FF2B5EF4-FFF2-40B4-BE49-F238E27FC236}">
                <a16:creationId xmlns:a16="http://schemas.microsoft.com/office/drawing/2014/main" id="{65743A83-1B66-46DD-A6FA-574E6CF3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9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2026.08.02</a:t>
            </a:r>
          </a:p>
        </p:txBody>
      </p:sp>
    </p:spTree>
    <p:extLst>
      <p:ext uri="{BB962C8B-B14F-4D97-AF65-F5344CB8AC3E}">
        <p14:creationId xmlns:p14="http://schemas.microsoft.com/office/powerpoint/2010/main" val="3140090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2">
            <a:extLst xmlns:a="http://schemas.openxmlformats.org/drawingml/2006/main">
              <a:ext uri="{FF2B5EF4-FFF2-40B4-BE49-F238E27FC236}">
                <a16:creationId xmlns:a16="http://schemas.microsoft.com/office/drawing/2014/main" id="{C754E391-E604-429C-BF1D-2FFC8708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문제 정의와 필요성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30DF209-78FD-42EC-83FB-CB95D916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금융 피해는 이해하지 못한 순간부터 시작됩니다</a:t>
            </a:r>
          </a:p>
        </p:txBody>
      </p:sp>
      <p:cxnSp>
        <p:nvCxnSpPr>
          <p:cNvPr id="29" name="rule-2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0E11BA64-21EC-41E0-B064-A464B020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5" name="problem-num-0">
            <a:extLst xmlns:a="http://schemas.openxmlformats.org/drawingml/2006/main">
              <a:ext uri="{FF2B5EF4-FFF2-40B4-BE49-F238E27FC236}">
                <a16:creationId xmlns:a16="http://schemas.microsoft.com/office/drawing/2014/main" id="{03569CF1-BD19-41C2-BB72-34DF4C3A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6" name="problem-title-0">
            <a:extLst xmlns:a="http://schemas.openxmlformats.org/drawingml/2006/main">
              <a:ext uri="{FF2B5EF4-FFF2-40B4-BE49-F238E27FC236}">
                <a16:creationId xmlns:a16="http://schemas.microsoft.com/office/drawing/2014/main" id="{FEBC00ED-08D4-4794-8D53-1B42A4C6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가입 전</a:t>
            </a:r>
          </a:p>
        </p:txBody>
      </p:sp>
      <p:sp>
        <p:nvSpPr>
          <p:cNvPr id="7" name="problem-copy-0">
            <a:extLst xmlns:a="http://schemas.openxmlformats.org/drawingml/2006/main">
              <a:ext uri="{FF2B5EF4-FFF2-40B4-BE49-F238E27FC236}">
                <a16:creationId xmlns:a16="http://schemas.microsoft.com/office/drawing/2014/main" id="{00E35522-CE4C-4F94-A7CA-7B6F2BD5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긴 약관과 어려운 용어 때문에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불리한 조건을 놓칩니다.</a:t>
            </a:r>
          </a:p>
        </p:txBody>
      </p:sp>
      <p:sp>
        <p:nvSpPr>
          <p:cNvPr id="8" name="problem-num-1">
            <a:extLst xmlns:a="http://schemas.openxmlformats.org/drawingml/2006/main">
              <a:ext uri="{FF2B5EF4-FFF2-40B4-BE49-F238E27FC236}">
                <a16:creationId xmlns:a16="http://schemas.microsoft.com/office/drawing/2014/main" id="{C21F61FF-1887-42FA-920B-E557F1E2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9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470CAABC-AE91-4099-ACCC-8BF8566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상담 중</a:t>
            </a:r>
          </a:p>
        </p:txBody>
      </p:sp>
      <p:sp>
        <p:nvSpPr>
          <p:cNvPr id="10" name="problem-copy-1">
            <a:extLst xmlns:a="http://schemas.openxmlformats.org/drawingml/2006/main">
              <a:ext uri="{FF2B5EF4-FFF2-40B4-BE49-F238E27FC236}">
                <a16:creationId xmlns:a16="http://schemas.microsoft.com/office/drawing/2014/main" id="{4D0DC0AD-D450-4C26-A1D7-84C14D2C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설명 누락과 과장 표현을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그 자리에서 판단하기 어렵습니다.</a:t>
            </a:r>
          </a:p>
        </p:txBody>
      </p:sp>
      <p:sp>
        <p:nvSpPr>
          <p:cNvPr id="11" name="problem-num-2">
            <a:extLst xmlns:a="http://schemas.openxmlformats.org/drawingml/2006/main">
              <a:ext uri="{FF2B5EF4-FFF2-40B4-BE49-F238E27FC236}">
                <a16:creationId xmlns:a16="http://schemas.microsoft.com/office/drawing/2014/main" id="{57DAC384-13B8-4710-ABE7-B29C84F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B53225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B53225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2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DCCAE0EE-6F0D-4EB6-B3BD-6C0A050F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사고 직후</a:t>
            </a:r>
          </a:p>
        </p:txBody>
      </p:sp>
      <p:sp>
        <p:nvSpPr>
          <p:cNvPr id="13" name="problem-copy-2">
            <a:extLst xmlns:a="http://schemas.openxmlformats.org/drawingml/2006/main">
              <a:ext uri="{FF2B5EF4-FFF2-40B4-BE49-F238E27FC236}">
                <a16:creationId xmlns:a16="http://schemas.microsoft.com/office/drawing/2014/main" id="{9B130FE4-BA73-447C-8749-AB6E46E0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당황한 상태에서 신고 순서와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필요 서류를 찾느라 시간을 잃습니다.</a:t>
            </a:r>
          </a:p>
        </p:txBody>
      </p:sp>
      <p:sp>
        <p:nvSpPr>
          <p:cNvPr id="14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8A1B3FE9-1186-47C9-8EC2-F9582291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고령층에게 필요한 것은 더 많은 정보가 아니라, 지금 이해하고 바로 행동할 수 있는 안내입니다.</a:t>
            </a:r>
          </a:p>
        </p:txBody>
      </p:sp>
    </p:spTree>
    <p:extLst>
      <p:ext uri="{BB962C8B-B14F-4D97-AF65-F5344CB8AC3E}">
        <p14:creationId xmlns:p14="http://schemas.microsoft.com/office/powerpoint/2010/main" val="8802004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-3">
            <a:extLst xmlns:a="http://schemas.openxmlformats.org/drawingml/2006/main">
              <a:ext uri="{FF2B5EF4-FFF2-40B4-BE49-F238E27FC236}">
                <a16:creationId xmlns:a16="http://schemas.microsoft.com/office/drawing/2014/main" id="{CFDD3F0D-A95A-4E73-AEDB-54D80E1C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서비스 차별화 포인트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616FA51-F2DB-4FA8-8B80-0A522F43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피해 전 경고부터 피해 후 실행까지, 한 번에</a:t>
            </a:r>
          </a:p>
        </p:txBody>
      </p:sp>
      <p:cxnSp>
        <p:nvCxnSpPr>
          <p:cNvPr id="60" name="rule-3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5FCF0F19-C02D-43D4-BC36-958089C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5" name="thesis-left">
            <a:extLst xmlns:a="http://schemas.openxmlformats.org/drawingml/2006/main">
              <a:ext uri="{FF2B5EF4-FFF2-40B4-BE49-F238E27FC236}">
                <a16:creationId xmlns:a16="http://schemas.microsoft.com/office/drawing/2014/main" id="{FE06C853-1B7F-4024-BDDB-7AA81F2C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4972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hesis-right">
            <a:extLst xmlns:a="http://schemas.openxmlformats.org/drawingml/2006/main">
              <a:ext uri="{FF2B5EF4-FFF2-40B4-BE49-F238E27FC236}">
                <a16:creationId xmlns:a16="http://schemas.microsoft.com/office/drawing/2014/main" id="{A5933002-CF3F-4A41-8666-E52561D2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952625"/>
            <a:ext cx="4972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hesis-left-title">
            <a:extLst xmlns:a="http://schemas.openxmlformats.org/drawingml/2006/main">
              <a:ext uri="{FF2B5EF4-FFF2-40B4-BE49-F238E27FC236}">
                <a16:creationId xmlns:a16="http://schemas.microsoft.com/office/drawing/2014/main" id="{C798A3AE-82E6-42CB-A780-CFDF1AB3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2475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가입 전 예방</a:t>
            </a:r>
          </a:p>
        </p:txBody>
      </p:sp>
      <p:sp>
        <p:nvSpPr>
          <p:cNvPr id="8" name="thesis-left-body">
            <a:extLst xmlns:a="http://schemas.openxmlformats.org/drawingml/2006/main">
              <a:ext uri="{FF2B5EF4-FFF2-40B4-BE49-F238E27FC236}">
                <a16:creationId xmlns:a16="http://schemas.microsoft.com/office/drawing/2014/main" id="{AA8C0225-8274-41EB-B94E-B227127B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문자·약관·상담을 넣으면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위험 단어, 쉬운 설명, 확인 질문으로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가입 전 멈춰 볼 이유를 보여줍니다.</a:t>
            </a:r>
          </a:p>
        </p:txBody>
      </p:sp>
      <p:sp>
        <p:nvSpPr>
          <p:cNvPr id="9" name="thesis-right-title">
            <a:extLst xmlns:a="http://schemas.openxmlformats.org/drawingml/2006/main">
              <a:ext uri="{FF2B5EF4-FFF2-40B4-BE49-F238E27FC236}">
                <a16:creationId xmlns:a16="http://schemas.microsoft.com/office/drawing/2014/main" id="{E70068E6-0C92-4030-91F7-4A39B89C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3336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B53225"/>
                </a:solidFill>
                <a:latin typeface="NanumGothic"/>
                <a:ea typeface="NanumGothic"/>
                <a:cs typeface="NanumGothic"/>
              </a:defRPr>
            </a:pPr>
            <a:r>
              <a:rPr sz="2475" b="1">
                <a:solidFill>
                  <a:srgbClr val="B53225"/>
                </a:solidFill>
                <a:latin typeface="NanumGothic"/>
                <a:ea typeface="NanumGothic"/>
                <a:cs typeface="NanumGothic"/>
              </a:rPr>
              <a:t>사고 후 대응</a:t>
            </a:r>
          </a:p>
        </p:txBody>
      </p:sp>
      <p:sp>
        <p:nvSpPr>
          <p:cNvPr id="10" name="thesis-right-body">
            <a:extLst xmlns:a="http://schemas.openxmlformats.org/drawingml/2006/main">
              <a:ext uri="{FF2B5EF4-FFF2-40B4-BE49-F238E27FC236}">
                <a16:creationId xmlns:a16="http://schemas.microsoft.com/office/drawing/2014/main" id="{5E5742D0-2266-47F6-A55D-42DF6D4B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48000"/>
            <a:ext cx="4191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피해 유형을 나눈 뒤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전화, 증빙, 민원 초안을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9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시간 순서대로 바로 연결합니다.</a:t>
            </a:r>
          </a:p>
        </p:txBody>
      </p:sp>
      <p:cxnSp>
        <p:nvCxnSpPr>
          <p:cNvPr id="68" name="thesis-bridge"/>
          <p:cNvCxnSpPr/>
          <p:nvPr/>
        </p:nvCxnSpPr>
        <p:spPr>
          <a:xfrm xmlns:a="http://schemas.openxmlformats.org/drawingml/2006/main">
            <a:off x="5476875" y="3505200"/>
            <a:ext cx="11906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B57"/>
            </a:solidFill>
            <a:prstDash val="solid"/>
          </a:ln>
        </p:spPr>
      </p:cxnSp>
      <p:sp>
        <p:nvSpPr>
          <p:cNvPr id="12" name="thesis-bridge-text">
            <a:extLst xmlns:a="http://schemas.openxmlformats.org/drawingml/2006/main">
              <a:ext uri="{FF2B5EF4-FFF2-40B4-BE49-F238E27FC236}">
                <a16:creationId xmlns:a16="http://schemas.microsoft.com/office/drawing/2014/main" id="{CB1C93DA-A540-416E-BC86-8E7D4735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810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보호자 공유</a:t>
            </a:r>
          </a:p>
        </p:txBody>
      </p:sp>
      <p:sp>
        <p:nvSpPr>
          <p:cNvPr id="13" name="thesis-summary">
            <a:extLst xmlns:a="http://schemas.openxmlformats.org/drawingml/2006/main">
              <a:ext uri="{FF2B5EF4-FFF2-40B4-BE49-F238E27FC236}">
                <a16:creationId xmlns:a16="http://schemas.microsoft.com/office/drawing/2014/main" id="{7E214E5E-D7B4-46E6-B542-A931270A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054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차별점: 판단만 하는 챗봇이 아니라, 고령층이 바로 전화하고 확인하고 기록하게 만드는 실행형 보호 에이전트입니다.</a:t>
            </a:r>
          </a:p>
        </p:txBody>
      </p:sp>
    </p:spTree>
    <p:extLst>
      <p:ext uri="{BB962C8B-B14F-4D97-AF65-F5344CB8AC3E}">
        <p14:creationId xmlns:p14="http://schemas.microsoft.com/office/powerpoint/2010/main" val="1535793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E10EC891-3938-4D99-8770-43B18E13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사용 흐름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1D35927-2ECC-4ECA-A628-DDCF7EB0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어르신은 세 단계만 따라가면 됩니다</a:t>
            </a:r>
          </a:p>
        </p:txBody>
      </p:sp>
      <p:cxnSp>
        <p:nvCxnSpPr>
          <p:cNvPr id="38" name="rule-4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9D28F354-CE69-4DDF-B2FE-13F858CD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cxnSp>
        <p:nvCxnSpPr>
          <p:cNvPr id="40" name="journey-line"/>
          <p:cNvCxnSpPr/>
          <p:nvPr/>
        </p:nvCxnSpPr>
        <p:spPr>
          <a:xfrm xmlns:a="http://schemas.openxmlformats.org/drawingml/2006/main">
            <a:off x="1143000" y="3333750"/>
            <a:ext cx="9715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0"/>
            </a:solidFill>
            <a:prstDash val="solid"/>
          </a:ln>
        </p:spPr>
      </p:cxnSp>
      <p:sp>
        <p:nvSpPr>
          <p:cNvPr id="6" name="journey-dot-0">
            <a:extLst xmlns:a="http://schemas.openxmlformats.org/drawingml/2006/main">
              <a:ext uri="{FF2B5EF4-FFF2-40B4-BE49-F238E27FC236}">
                <a16:creationId xmlns:a16="http://schemas.microsoft.com/office/drawing/2014/main" id="{08980402-B85B-4A3F-9590-E1D98A5B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journey-label-0">
            <a:extLst xmlns:a="http://schemas.openxmlformats.org/drawingml/2006/main">
              <a:ext uri="{FF2B5EF4-FFF2-40B4-BE49-F238E27FC236}">
                <a16:creationId xmlns:a16="http://schemas.microsoft.com/office/drawing/2014/main" id="{CEF6F216-EA01-4B23-A847-1B4B3EEF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1. 넣기</a:t>
            </a:r>
          </a:p>
        </p:txBody>
      </p:sp>
      <p:sp>
        <p:nvSpPr>
          <p:cNvPr id="8" name="journey-body-0">
            <a:extLst xmlns:a="http://schemas.openxmlformats.org/drawingml/2006/main">
              <a:ext uri="{FF2B5EF4-FFF2-40B4-BE49-F238E27FC236}">
                <a16:creationId xmlns:a16="http://schemas.microsoft.com/office/drawing/2014/main" id="{CE5231BF-1951-4BD4-84AE-CA018EEB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사진·PDF·문자·음성</a:t>
            </a:r>
          </a:p>
        </p:txBody>
      </p:sp>
      <p:sp>
        <p:nvSpPr>
          <p:cNvPr id="9" name="journey-dot-1">
            <a:extLst xmlns:a="http://schemas.openxmlformats.org/drawingml/2006/main">
              <a:ext uri="{FF2B5EF4-FFF2-40B4-BE49-F238E27FC236}">
                <a16:creationId xmlns:a16="http://schemas.microsoft.com/office/drawing/2014/main" id="{237BD84A-6CD4-4C03-B67E-9CDF35A7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3E2A9780-2512-415A-9E7C-75DFBA15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2. 이해하기</a:t>
            </a:r>
          </a:p>
        </p:txBody>
      </p:sp>
      <p:sp>
        <p:nvSpPr>
          <p:cNvPr id="11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35EAB282-5C06-4C34-AD75-83B12328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쉬운 말·위험 이유·질문</a:t>
            </a:r>
          </a:p>
        </p:txBody>
      </p:sp>
      <p:sp>
        <p:nvSpPr>
          <p:cNvPr id="12" name="journey-dot-2">
            <a:extLst xmlns:a="http://schemas.openxmlformats.org/drawingml/2006/main">
              <a:ext uri="{FF2B5EF4-FFF2-40B4-BE49-F238E27FC236}">
                <a16:creationId xmlns:a16="http://schemas.microsoft.com/office/drawing/2014/main" id="{2590E23F-9938-4996-AEA8-2464456A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322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6036C4B4-46B3-4FEC-8177-F51E0640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3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3. 행동하기</a:t>
            </a:r>
          </a:p>
        </p:txBody>
      </p:sp>
      <p:sp>
        <p:nvSpPr>
          <p:cNvPr id="14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FE21553-C627-410A-9DD3-ADEB6CA7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전화·서류·민원·공유</a:t>
            </a:r>
          </a:p>
        </p:txBody>
      </p:sp>
      <p:sp>
        <p:nvSpPr>
          <p:cNvPr id="15" name="journey-note">
            <a:extLst xmlns:a="http://schemas.openxmlformats.org/drawingml/2006/main">
              <a:ext uri="{FF2B5EF4-FFF2-40B4-BE49-F238E27FC236}">
                <a16:creationId xmlns:a16="http://schemas.microsoft.com/office/drawing/2014/main" id="{80BB8372-96AE-4C0D-932D-F9F798B6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76875"/>
            <a:ext cx="1114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8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분석 결과를 그대로 믿게 하지 않고, 사용자가 원문을 고치고 공식 근거를 확인한 뒤 행동하도록 설계했습니다.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01756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5">
            <a:extLst xmlns:a="http://schemas.openxmlformats.org/drawingml/2006/main">
              <a:ext uri="{FF2B5EF4-FFF2-40B4-BE49-F238E27FC236}">
                <a16:creationId xmlns:a16="http://schemas.microsoft.com/office/drawing/2014/main" id="{E02470E6-B61A-4904-BAE3-67869990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핵심 기능 1 · 사전 예방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37E6966-E76F-4962-B423-D7C9E51A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위험을 단정하지 않고, 확인할 이유와 질문을 줍니다</a:t>
            </a:r>
          </a:p>
        </p:txBody>
      </p:sp>
      <p:cxnSp>
        <p:nvCxnSpPr>
          <p:cNvPr id="33" name="rule-5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8ADD78C8-3DD2-4CA6-BD7F-7A4E85E6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05</a:t>
            </a:r>
          </a:p>
        </p:txBody>
      </p:sp>
      <p:sp>
        <p:nvSpPr>
          <p:cNvPr id="5" name="bullet-mark-62-215-0">
            <a:extLst xmlns:a="http://schemas.openxmlformats.org/drawingml/2006/main">
              <a:ext uri="{FF2B5EF4-FFF2-40B4-BE49-F238E27FC236}">
                <a16:creationId xmlns:a16="http://schemas.microsoft.com/office/drawing/2014/main" id="{478ED72D-DC64-4A86-9174-317300D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6" name="bullet-text-62-215-0">
            <a:extLst xmlns:a="http://schemas.openxmlformats.org/drawingml/2006/main">
              <a:ext uri="{FF2B5EF4-FFF2-40B4-BE49-F238E27FC236}">
                <a16:creationId xmlns:a16="http://schemas.microsoft.com/office/drawing/2014/main" id="{0B0693D1-D818-477E-BF82-170CC721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위험 단어를 원문에서 바로 찾아 표시</a:t>
            </a:r>
          </a:p>
        </p:txBody>
      </p:sp>
      <p:sp>
        <p:nvSpPr>
          <p:cNvPr id="7" name="bullet-mark-62-215-1">
            <a:extLst xmlns:a="http://schemas.openxmlformats.org/drawingml/2006/main">
              <a:ext uri="{FF2B5EF4-FFF2-40B4-BE49-F238E27FC236}">
                <a16:creationId xmlns:a16="http://schemas.microsoft.com/office/drawing/2014/main" id="{BAA2B779-6E6F-4072-B4C8-B75786F7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908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8" name="bullet-text-62-215-1">
            <a:extLst xmlns:a="http://schemas.openxmlformats.org/drawingml/2006/main">
              <a:ext uri="{FF2B5EF4-FFF2-40B4-BE49-F238E27FC236}">
                <a16:creationId xmlns:a16="http://schemas.microsoft.com/office/drawing/2014/main" id="{5007C4A0-8128-4ECE-8110-851E30EF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결과는 '확인 필요'와 '주의 후보'로 구분</a:t>
            </a:r>
          </a:p>
        </p:txBody>
      </p:sp>
      <p:sp>
        <p:nvSpPr>
          <p:cNvPr id="9" name="bullet-mark-62-215-2">
            <a:extLst xmlns:a="http://schemas.openxmlformats.org/drawingml/2006/main">
              <a:ext uri="{FF2B5EF4-FFF2-40B4-BE49-F238E27FC236}">
                <a16:creationId xmlns:a16="http://schemas.microsoft.com/office/drawing/2014/main" id="{A83CDA17-43C1-47A6-B037-4AE358D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0" name="bullet-text-62-215-2">
            <a:extLst xmlns:a="http://schemas.openxmlformats.org/drawingml/2006/main">
              <a:ext uri="{FF2B5EF4-FFF2-40B4-BE49-F238E27FC236}">
                <a16:creationId xmlns:a16="http://schemas.microsoft.com/office/drawing/2014/main" id="{1DFEBED6-30A1-4CE7-B439-EBD65017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쉽게 풀고, 직원에게 물을 질문까지 제시</a:t>
            </a:r>
          </a:p>
        </p:txBody>
      </p:sp>
      <p:sp>
        <p:nvSpPr>
          <p:cNvPr id="11" name="bullet-mark-62-215-3">
            <a:extLst xmlns:a="http://schemas.openxmlformats.org/drawingml/2006/main">
              <a:ext uri="{FF2B5EF4-FFF2-40B4-BE49-F238E27FC236}">
                <a16:creationId xmlns:a16="http://schemas.microsoft.com/office/drawing/2014/main" id="{4C98D235-EEF9-4D49-83C6-378CD7E0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2" name="bullet-text-62-215-3">
            <a:extLst xmlns:a="http://schemas.openxmlformats.org/drawingml/2006/main">
              <a:ext uri="{FF2B5EF4-FFF2-40B4-BE49-F238E27FC236}">
                <a16:creationId xmlns:a16="http://schemas.microsoft.com/office/drawing/2014/main" id="{4EDDEC87-5F86-48CB-8760-010C7D22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공식 출처·발표일·원문 링크로 근거 공개</a:t>
            </a:r>
          </a:p>
        </p:txBody>
      </p:sp>
      <p:sp>
        <p:nvSpPr>
          <p:cNvPr id="13" name="risk-image-frame">
            <a:extLst xmlns:a="http://schemas.openxmlformats.org/drawingml/2006/main">
              <a:ext uri="{FF2B5EF4-FFF2-40B4-BE49-F238E27FC236}">
                <a16:creationId xmlns:a16="http://schemas.microsoft.com/office/drawing/2014/main" id="{3B409230-6060-4856-9229-E03FE8A7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48577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그림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16813060849d3"/>
          <a:srcRect xmlns:a="http://schemas.openxmlformats.org/drawingml/2006/main" l="8920" t="0" r="892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2000250"/>
            <a:ext cx="4591050" cy="3143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966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6">
            <a:extLst xmlns:a="http://schemas.openxmlformats.org/drawingml/2006/main">
              <a:ext uri="{FF2B5EF4-FFF2-40B4-BE49-F238E27FC236}">
                <a16:creationId xmlns:a16="http://schemas.microsoft.com/office/drawing/2014/main" id="{F1D33F6E-FEDA-4D51-843D-EE5FE2CF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핵심 기능 2 · 골든타임 대응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371D582D-739C-4C37-A655-D72C7C0B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피해 의심 순간, 분석보다 먼저 해야 할 일을 안내합니다</a:t>
            </a:r>
          </a:p>
        </p:txBody>
      </p:sp>
      <p:cxnSp>
        <p:nvCxnSpPr>
          <p:cNvPr id="35" name="rule-6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F272A47F-AD80-453B-A090-9AE19549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06</a:t>
            </a:r>
          </a:p>
        </p:txBody>
      </p:sp>
      <p:sp>
        <p:nvSpPr>
          <p:cNvPr id="5" name="incident-image-frame">
            <a:extLst xmlns:a="http://schemas.openxmlformats.org/drawingml/2006/main">
              <a:ext uri="{FF2B5EF4-FFF2-40B4-BE49-F238E27FC236}">
                <a16:creationId xmlns:a16="http://schemas.microsoft.com/office/drawing/2014/main" id="{D6038EB9-FD05-4016-AD32-AE25DEBB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476250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그림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55c17b80e4fa4"/>
          <a:srcRect xmlns:a="http://schemas.openxmlformats.org/drawingml/2006/main" l="6815" t="0" r="68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52625"/>
            <a:ext cx="453390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bullet-mark-650-200-0">
            <a:extLst xmlns:a="http://schemas.openxmlformats.org/drawingml/2006/main">
              <a:ext uri="{FF2B5EF4-FFF2-40B4-BE49-F238E27FC236}">
                <a16:creationId xmlns:a16="http://schemas.microsoft.com/office/drawing/2014/main" id="{3AD0F626-1325-420C-ACC8-E4898ADF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050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8" name="bullet-text-650-200-0">
            <a:extLst xmlns:a="http://schemas.openxmlformats.org/drawingml/2006/main">
              <a:ext uri="{FF2B5EF4-FFF2-40B4-BE49-F238E27FC236}">
                <a16:creationId xmlns:a16="http://schemas.microsoft.com/office/drawing/2014/main" id="{E309FE27-75CC-4711-873B-32D96498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사고 유형을 빠르게 나누고 긴급도를 표시</a:t>
            </a:r>
          </a:p>
        </p:txBody>
      </p:sp>
      <p:sp>
        <p:nvSpPr>
          <p:cNvPr id="9" name="bullet-mark-650-200-1">
            <a:extLst xmlns:a="http://schemas.openxmlformats.org/drawingml/2006/main">
              <a:ext uri="{FF2B5EF4-FFF2-40B4-BE49-F238E27FC236}">
                <a16:creationId xmlns:a16="http://schemas.microsoft.com/office/drawing/2014/main" id="{9E6C4B29-423E-4DD3-8B76-7CD9B787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0" name="bullet-text-650-200-1">
            <a:extLst xmlns:a="http://schemas.openxmlformats.org/drawingml/2006/main">
              <a:ext uri="{FF2B5EF4-FFF2-40B4-BE49-F238E27FC236}">
                <a16:creationId xmlns:a16="http://schemas.microsoft.com/office/drawing/2014/main" id="{43CA413C-5C75-42F1-9DCE-21FB7FF2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은행·112·1332에 바로 연결</a:t>
            </a:r>
          </a:p>
        </p:txBody>
      </p:sp>
      <p:sp>
        <p:nvSpPr>
          <p:cNvPr id="11" name="bullet-mark-650-200-2">
            <a:extLst xmlns:a="http://schemas.openxmlformats.org/drawingml/2006/main">
              <a:ext uri="{FF2B5EF4-FFF2-40B4-BE49-F238E27FC236}">
                <a16:creationId xmlns:a16="http://schemas.microsoft.com/office/drawing/2014/main" id="{2550629A-BB6A-4EED-91E9-CA76112D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2" name="bullet-text-650-200-2">
            <a:extLst xmlns:a="http://schemas.openxmlformats.org/drawingml/2006/main">
              <a:ext uri="{FF2B5EF4-FFF2-40B4-BE49-F238E27FC236}">
                <a16:creationId xmlns:a16="http://schemas.microsoft.com/office/drawing/2014/main" id="{A3F8C8FC-92D5-4C20-8D2A-8F72F207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즉시·10분 안·오늘·이후 순서로 안내</a:t>
            </a:r>
          </a:p>
        </p:txBody>
      </p:sp>
      <p:sp>
        <p:nvSpPr>
          <p:cNvPr id="13" name="bullet-mark-650-200-3">
            <a:extLst xmlns:a="http://schemas.openxmlformats.org/drawingml/2006/main">
              <a:ext uri="{FF2B5EF4-FFF2-40B4-BE49-F238E27FC236}">
                <a16:creationId xmlns:a16="http://schemas.microsoft.com/office/drawing/2014/main" id="{72408642-AD9B-4C63-82CB-6EC0CC8E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9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4" name="bullet-text-650-200-3">
            <a:extLst xmlns:a="http://schemas.openxmlformats.org/drawingml/2006/main">
              <a:ext uri="{FF2B5EF4-FFF2-40B4-BE49-F238E27FC236}">
                <a16:creationId xmlns:a16="http://schemas.microsoft.com/office/drawing/2014/main" id="{706C5EFD-1F7B-4A0F-AD33-9BCA2B75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증빙 목록과 민원 초안을 한 번에 정리</a:t>
            </a:r>
          </a:p>
        </p:txBody>
      </p:sp>
      <p:sp>
        <p:nvSpPr>
          <p:cNvPr id="15" name="bullet-mark-650-200-4">
            <a:extLst xmlns:a="http://schemas.openxmlformats.org/drawingml/2006/main">
              <a:ext uri="{FF2B5EF4-FFF2-40B4-BE49-F238E27FC236}">
                <a16:creationId xmlns:a16="http://schemas.microsoft.com/office/drawing/2014/main" id="{CF3ECF6E-067F-4F6E-A78B-45568789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6" name="bullet-text-650-200-4">
            <a:extLst xmlns:a="http://schemas.openxmlformats.org/drawingml/2006/main">
              <a:ext uri="{FF2B5EF4-FFF2-40B4-BE49-F238E27FC236}">
                <a16:creationId xmlns:a16="http://schemas.microsoft.com/office/drawing/2014/main" id="{8C64EB44-0955-4CC4-80BB-C46E693B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244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개인정보를 가린 보호자 공유까지 지원</a:t>
            </a:r>
          </a:p>
        </p:txBody>
      </p:sp>
    </p:spTree>
    <p:extLst>
      <p:ext uri="{BB962C8B-B14F-4D97-AF65-F5344CB8AC3E}">
        <p14:creationId xmlns:p14="http://schemas.microsoft.com/office/powerpoint/2010/main" val="17559556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7">
            <a:extLst xmlns:a="http://schemas.openxmlformats.org/drawingml/2006/main">
              <a:ext uri="{FF2B5EF4-FFF2-40B4-BE49-F238E27FC236}">
                <a16:creationId xmlns:a16="http://schemas.microsoft.com/office/drawing/2014/main" id="{00AE5D3A-9ED5-4569-A6C6-969E3954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정보수집과 데이터 분석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23A6702E-C071-4BA7-8BBC-8F164048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판단 근거는 사용 허가된 공식 자료로 구성했습니다</a:t>
            </a:r>
          </a:p>
        </p:txBody>
      </p:sp>
      <p:cxnSp>
        <p:nvCxnSpPr>
          <p:cNvPr id="86" name="rule-7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705A6DF7-63BE-49A6-9F7F-A55078C7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07</a:t>
            </a:r>
          </a:p>
        </p:txBody>
      </p:sp>
      <p:sp>
        <p:nvSpPr>
          <p:cNvPr id="5" name="data-stat-0">
            <a:extLst xmlns:a="http://schemas.openxmlformats.org/drawingml/2006/main">
              <a:ext uri="{FF2B5EF4-FFF2-40B4-BE49-F238E27FC236}">
                <a16:creationId xmlns:a16="http://schemas.microsoft.com/office/drawing/2014/main" id="{4298DCDE-EBA8-4BDE-9357-9A102A1A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12종</a:t>
            </a:r>
          </a:p>
        </p:txBody>
      </p:sp>
      <p:sp>
        <p:nvSpPr>
          <p:cNvPr id="6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FD7F7218-7C44-489B-984F-7B692367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실행 데이터</a:t>
            </a:r>
          </a:p>
        </p:txBody>
      </p:sp>
      <p:sp>
        <p:nvSpPr>
          <p:cNvPr id="7" name="data-stat-1">
            <a:extLst xmlns:a="http://schemas.openxmlformats.org/drawingml/2006/main">
              <a:ext uri="{FF2B5EF4-FFF2-40B4-BE49-F238E27FC236}">
                <a16:creationId xmlns:a16="http://schemas.microsoft.com/office/drawing/2014/main" id="{181E488B-0129-4847-85DA-09B0D8FF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229건</a:t>
            </a:r>
          </a:p>
        </p:txBody>
      </p:sp>
      <p:sp>
        <p:nvSpPr>
          <p:cNvPr id="8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86EF02A-FEE5-4302-8D0A-54370F8A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금융용어</a:t>
            </a:r>
          </a:p>
        </p:txBody>
      </p:sp>
      <p:sp>
        <p:nvSpPr>
          <p:cNvPr id="9" name="data-stat-2">
            <a:extLst xmlns:a="http://schemas.openxmlformats.org/drawingml/2006/main">
              <a:ext uri="{FF2B5EF4-FFF2-40B4-BE49-F238E27FC236}">
                <a16:creationId xmlns:a16="http://schemas.microsoft.com/office/drawing/2014/main" id="{6979E6F8-8DC1-4734-9CAF-84536C1B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4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566건</a:t>
            </a:r>
          </a:p>
        </p:txBody>
      </p:sp>
      <p:sp>
        <p:nvSpPr>
          <p:cNvPr id="10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2BBD1EF7-92A9-4503-8579-2C65C28F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소비자 상담 사례</a:t>
            </a:r>
          </a:p>
        </p:txBody>
      </p:sp>
      <p:sp>
        <p:nvSpPr>
          <p:cNvPr id="11" name="data-stat-3">
            <a:extLst xmlns:a="http://schemas.openxmlformats.org/drawingml/2006/main">
              <a:ext uri="{FF2B5EF4-FFF2-40B4-BE49-F238E27FC236}">
                <a16:creationId xmlns:a16="http://schemas.microsoft.com/office/drawing/2014/main" id="{C6A84A1B-278D-46C9-A2D0-FCED09E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B53225"/>
                </a:solidFill>
                <a:latin typeface="NanumGothic"/>
                <a:ea typeface="NanumGothic"/>
                <a:cs typeface="NanumGothic"/>
              </a:defRPr>
            </a:pPr>
            <a:r>
              <a:rPr sz="3450" b="1">
                <a:solidFill>
                  <a:srgbClr val="B53225"/>
                </a:solidFill>
                <a:latin typeface="NanumGothic"/>
                <a:ea typeface="NanumGothic"/>
                <a:cs typeface="NanumGothic"/>
              </a:rPr>
              <a:t>0종</a:t>
            </a:r>
          </a:p>
        </p:txBody>
      </p:sp>
      <p:sp>
        <p:nvSpPr>
          <p:cNvPr id="12" name="data-label-3">
            <a:extLst xmlns:a="http://schemas.openxmlformats.org/drawingml/2006/main">
              <a:ext uri="{FF2B5EF4-FFF2-40B4-BE49-F238E27FC236}">
                <a16:creationId xmlns:a16="http://schemas.microsoft.com/office/drawing/2014/main" id="{7E99E8B9-22BC-46B9-AB89-69752E49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제한 자료 실행</a:t>
            </a:r>
          </a:p>
        </p:txBody>
      </p:sp>
      <p:cxnSp>
        <p:nvCxnSpPr>
          <p:cNvPr id="96" name="data-divider"/>
          <p:cNvCxnSpPr/>
          <p:nvPr/>
        </p:nvCxnSpPr>
        <p:spPr>
          <a:xfrm xmlns:a="http://schemas.openxmlformats.org/drawingml/2006/main">
            <a:off x="495300" y="3429000"/>
            <a:ext cx="111918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14" name="data-left-title">
            <a:extLst xmlns:a="http://schemas.openxmlformats.org/drawingml/2006/main">
              <a:ext uri="{FF2B5EF4-FFF2-40B4-BE49-F238E27FC236}">
                <a16:creationId xmlns:a16="http://schemas.microsoft.com/office/drawing/2014/main" id="{96AAA2EA-DD4A-420C-B1FB-EF2DAC0C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주요 출처</a:t>
            </a:r>
          </a:p>
        </p:txBody>
      </p:sp>
      <p:sp>
        <p:nvSpPr>
          <p:cNvPr id="15" name="bullet-mark-52-450-0">
            <a:extLst xmlns:a="http://schemas.openxmlformats.org/drawingml/2006/main">
              <a:ext uri="{FF2B5EF4-FFF2-40B4-BE49-F238E27FC236}">
                <a16:creationId xmlns:a16="http://schemas.microsoft.com/office/drawing/2014/main" id="{4260E840-986E-4C2D-BFF7-F5721421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6" name="bullet-text-52-450-0">
            <a:extLst xmlns:a="http://schemas.openxmlformats.org/drawingml/2006/main">
              <a:ext uri="{FF2B5EF4-FFF2-40B4-BE49-F238E27FC236}">
                <a16:creationId xmlns:a16="http://schemas.microsoft.com/office/drawing/2014/main" id="{570CB612-1062-4EF2-9D16-B8E34E3B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금융위원회·금융감독원</a:t>
            </a:r>
          </a:p>
        </p:txBody>
      </p:sp>
      <p:sp>
        <p:nvSpPr>
          <p:cNvPr id="17" name="bullet-mark-52-450-1">
            <a:extLst xmlns:a="http://schemas.openxmlformats.org/drawingml/2006/main">
              <a:ext uri="{FF2B5EF4-FFF2-40B4-BE49-F238E27FC236}">
                <a16:creationId xmlns:a16="http://schemas.microsoft.com/office/drawing/2014/main" id="{FBD63B54-CF90-47A9-BA79-48CB5706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053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8" name="bullet-text-52-450-1">
            <a:extLst xmlns:a="http://schemas.openxmlformats.org/drawingml/2006/main">
              <a:ext uri="{FF2B5EF4-FFF2-40B4-BE49-F238E27FC236}">
                <a16:creationId xmlns:a16="http://schemas.microsoft.com/office/drawing/2014/main" id="{6F68CC36-7CD8-47A9-B053-8CBEA652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예금보험공사·서민금융진흥원</a:t>
            </a:r>
          </a:p>
        </p:txBody>
      </p:sp>
      <p:sp>
        <p:nvSpPr>
          <p:cNvPr id="19" name="bullet-mark-52-450-2">
            <a:extLst xmlns:a="http://schemas.openxmlformats.org/drawingml/2006/main">
              <a:ext uri="{FF2B5EF4-FFF2-40B4-BE49-F238E27FC236}">
                <a16:creationId xmlns:a16="http://schemas.microsoft.com/office/drawing/2014/main" id="{06809512-BC8A-46F0-924A-2DE096A8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244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20" name="bullet-text-52-450-2">
            <a:extLst xmlns:a="http://schemas.openxmlformats.org/drawingml/2006/main">
              <a:ext uri="{FF2B5EF4-FFF2-40B4-BE49-F238E27FC236}">
                <a16:creationId xmlns:a16="http://schemas.microsoft.com/office/drawing/2014/main" id="{70165BC3-EEF1-489F-845E-9CC67D62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공정거래위원회·서민금융진흥원</a:t>
            </a:r>
          </a:p>
        </p:txBody>
      </p:sp>
      <p:sp>
        <p:nvSpPr>
          <p:cNvPr id="21" name="bullet-mark-52-450-3">
            <a:extLst xmlns:a="http://schemas.openxmlformats.org/drawingml/2006/main">
              <a:ext uri="{FF2B5EF4-FFF2-40B4-BE49-F238E27FC236}">
                <a16:creationId xmlns:a16="http://schemas.microsoft.com/office/drawing/2014/main" id="{75892B36-3C6C-4B1C-91A4-FD4D870D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43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22" name="bullet-text-52-450-3">
            <a:extLst xmlns:a="http://schemas.openxmlformats.org/drawingml/2006/main">
              <a:ext uri="{FF2B5EF4-FFF2-40B4-BE49-F238E27FC236}">
                <a16:creationId xmlns:a16="http://schemas.microsoft.com/office/drawing/2014/main" id="{DEDE4DAE-7388-4721-9E62-6DC6C86C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경찰청·우체국금융개발원</a:t>
            </a:r>
          </a:p>
        </p:txBody>
      </p:sp>
      <p:sp>
        <p:nvSpPr>
          <p:cNvPr id="23" name="data-right-title">
            <a:extLst xmlns:a="http://schemas.openxmlformats.org/drawingml/2006/main">
              <a:ext uri="{FF2B5EF4-FFF2-40B4-BE49-F238E27FC236}">
                <a16:creationId xmlns:a16="http://schemas.microsoft.com/office/drawing/2014/main" id="{BB147AFC-8B51-423F-97BD-D58CC384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33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분석 방식</a:t>
            </a:r>
          </a:p>
        </p:txBody>
      </p:sp>
      <p:sp>
        <p:nvSpPr>
          <p:cNvPr id="24" name="bullet-mark-660-450-0">
            <a:extLst xmlns:a="http://schemas.openxmlformats.org/drawingml/2006/main">
              <a:ext uri="{FF2B5EF4-FFF2-40B4-BE49-F238E27FC236}">
                <a16:creationId xmlns:a16="http://schemas.microsoft.com/office/drawing/2014/main" id="{961B0B09-BA38-4857-B0C4-765AB82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862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25" name="bullet-text-660-450-0">
            <a:extLst xmlns:a="http://schemas.openxmlformats.org/drawingml/2006/main">
              <a:ext uri="{FF2B5EF4-FFF2-40B4-BE49-F238E27FC236}">
                <a16:creationId xmlns:a16="http://schemas.microsoft.com/office/drawing/2014/main" id="{69430A3A-B4DA-4006-AC54-660D0C7D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862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출처·발표일·원문 링크 보존</a:t>
            </a:r>
          </a:p>
        </p:txBody>
      </p:sp>
      <p:sp>
        <p:nvSpPr>
          <p:cNvPr id="26" name="bullet-mark-660-450-1">
            <a:extLst xmlns:a="http://schemas.openxmlformats.org/drawingml/2006/main">
              <a:ext uri="{FF2B5EF4-FFF2-40B4-BE49-F238E27FC236}">
                <a16:creationId xmlns:a16="http://schemas.microsoft.com/office/drawing/2014/main" id="{17DEFD1A-1510-4B8F-9CBC-91CCBF33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27" name="bullet-text-660-450-1">
            <a:extLst xmlns:a="http://schemas.openxmlformats.org/drawingml/2006/main">
              <a:ext uri="{FF2B5EF4-FFF2-40B4-BE49-F238E27FC236}">
                <a16:creationId xmlns:a16="http://schemas.microsoft.com/office/drawing/2014/main" id="{F76C1AD9-5012-4262-A38F-8B31931D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규칙·공식 FAQ·통계를 역할별 분리</a:t>
            </a:r>
          </a:p>
        </p:txBody>
      </p:sp>
      <p:sp>
        <p:nvSpPr>
          <p:cNvPr id="28" name="bullet-mark-660-450-2">
            <a:extLst xmlns:a="http://schemas.openxmlformats.org/drawingml/2006/main">
              <a:ext uri="{FF2B5EF4-FFF2-40B4-BE49-F238E27FC236}">
                <a16:creationId xmlns:a16="http://schemas.microsoft.com/office/drawing/2014/main" id="{3720CC4E-3BE2-4DA6-9399-85DC4223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244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29" name="bullet-text-660-450-2">
            <a:extLst xmlns:a="http://schemas.openxmlformats.org/drawingml/2006/main">
              <a:ext uri="{FF2B5EF4-FFF2-40B4-BE49-F238E27FC236}">
                <a16:creationId xmlns:a16="http://schemas.microsoft.com/office/drawing/2014/main" id="{07149CE1-F496-426C-B066-CDB7AF47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244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검색 결과를 정확히 일치·관련 용어로 구분</a:t>
            </a:r>
          </a:p>
        </p:txBody>
      </p:sp>
      <p:sp>
        <p:nvSpPr>
          <p:cNvPr id="30" name="bullet-mark-660-450-3">
            <a:extLst xmlns:a="http://schemas.openxmlformats.org/drawingml/2006/main">
              <a:ext uri="{FF2B5EF4-FFF2-40B4-BE49-F238E27FC236}">
                <a16:creationId xmlns:a16="http://schemas.microsoft.com/office/drawing/2014/main" id="{82D293E1-1C27-4820-B987-BA8798A3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43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31" name="bullet-text-660-450-3">
            <a:extLst xmlns:a="http://schemas.openxmlformats.org/drawingml/2006/main">
              <a:ext uri="{FF2B5EF4-FFF2-40B4-BE49-F238E27FC236}">
                <a16:creationId xmlns:a16="http://schemas.microsoft.com/office/drawing/2014/main" id="{950446BA-BE3C-4F35-B324-111E9713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제한·미확인 자료는 실행·배포에서 제외</a:t>
            </a:r>
          </a:p>
        </p:txBody>
      </p:sp>
    </p:spTree>
    <p:extLst>
      <p:ext uri="{BB962C8B-B14F-4D97-AF65-F5344CB8AC3E}">
        <p14:creationId xmlns:p14="http://schemas.microsoft.com/office/powerpoint/2010/main" val="10143557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8">
            <a:extLst xmlns:a="http://schemas.openxmlformats.org/drawingml/2006/main">
              <a:ext uri="{FF2B5EF4-FFF2-40B4-BE49-F238E27FC236}">
                <a16:creationId xmlns:a16="http://schemas.microsoft.com/office/drawing/2014/main" id="{DEFFA739-9528-4079-82D1-5F0566B8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시스템 아키텍처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5606991-8001-483C-AC49-C5095662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규칙 기반 판단과 공식 근거 검색을 결합했습니다</a:t>
            </a:r>
          </a:p>
        </p:txBody>
      </p:sp>
      <p:cxnSp>
        <p:nvCxnSpPr>
          <p:cNvPr id="60" name="rule-8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43E3D6EF-CC5C-4306-9044-2E339711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08</a:t>
            </a:r>
          </a:p>
        </p:txBody>
      </p:sp>
      <p:cxnSp>
        <p:nvCxnSpPr>
          <p:cNvPr id="62" name="arch-arrow-0"/>
          <p:cNvCxnSpPr/>
          <p:nvPr/>
        </p:nvCxnSpPr>
        <p:spPr>
          <a:xfrm xmlns:a="http://schemas.openxmlformats.org/drawingml/2006/main">
            <a:off x="21240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63" name="arch-arrow-1"/>
          <p:cNvCxnSpPr/>
          <p:nvPr/>
        </p:nvCxnSpPr>
        <p:spPr>
          <a:xfrm xmlns:a="http://schemas.openxmlformats.org/drawingml/2006/main">
            <a:off x="46005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64" name="arch-arrow-2"/>
          <p:cNvCxnSpPr/>
          <p:nvPr/>
        </p:nvCxnSpPr>
        <p:spPr>
          <a:xfrm xmlns:a="http://schemas.openxmlformats.org/drawingml/2006/main">
            <a:off x="70770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65" name="arch-arrow-3"/>
          <p:cNvCxnSpPr/>
          <p:nvPr/>
        </p:nvCxnSpPr>
        <p:spPr>
          <a:xfrm xmlns:a="http://schemas.openxmlformats.org/drawingml/2006/main">
            <a:off x="95535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sp>
        <p:nvSpPr>
          <p:cNvPr id="9" name="arch-node-0">
            <a:extLst xmlns:a="http://schemas.openxmlformats.org/drawingml/2006/main">
              <a:ext uri="{FF2B5EF4-FFF2-40B4-BE49-F238E27FC236}">
                <a16:creationId xmlns:a16="http://schemas.microsoft.com/office/drawing/2014/main" id="{4044336A-0A15-4A22-81C1-63003BA7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arch-title-0">
            <a:extLst xmlns:a="http://schemas.openxmlformats.org/drawingml/2006/main">
              <a:ext uri="{FF2B5EF4-FFF2-40B4-BE49-F238E27FC236}">
                <a16:creationId xmlns:a16="http://schemas.microsoft.com/office/drawing/2014/main" id="{BB725701-26E6-472A-95AA-51620884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1" name="arch-body-0">
            <a:extLst xmlns:a="http://schemas.openxmlformats.org/drawingml/2006/main">
              <a:ext uri="{FF2B5EF4-FFF2-40B4-BE49-F238E27FC236}">
                <a16:creationId xmlns:a16="http://schemas.microsoft.com/office/drawing/2014/main" id="{C09D261C-C281-4985-B688-8A6D30D2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텍스트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사진·PDF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음성</a:t>
            </a:r>
          </a:p>
        </p:txBody>
      </p:sp>
      <p:sp>
        <p:nvSpPr>
          <p:cNvPr id="12" name="arch-node-1">
            <a:extLst xmlns:a="http://schemas.openxmlformats.org/drawingml/2006/main">
              <a:ext uri="{FF2B5EF4-FFF2-40B4-BE49-F238E27FC236}">
                <a16:creationId xmlns:a16="http://schemas.microsoft.com/office/drawing/2014/main" id="{7B63873D-53FA-462E-BD41-4747973D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arch-title-1">
            <a:extLst xmlns:a="http://schemas.openxmlformats.org/drawingml/2006/main">
              <a:ext uri="{FF2B5EF4-FFF2-40B4-BE49-F238E27FC236}">
                <a16:creationId xmlns:a16="http://schemas.microsoft.com/office/drawing/2014/main" id="{2917B3C8-69DE-4286-BEF1-163F9C6D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전처리</a:t>
            </a:r>
          </a:p>
        </p:txBody>
      </p:sp>
      <p:sp>
        <p:nvSpPr>
          <p:cNvPr id="14" name="arch-body-1">
            <a:extLst xmlns:a="http://schemas.openxmlformats.org/drawingml/2006/main">
              <a:ext uri="{FF2B5EF4-FFF2-40B4-BE49-F238E27FC236}">
                <a16:creationId xmlns:a16="http://schemas.microsoft.com/office/drawing/2014/main" id="{B1734CF0-DCC6-4030-B40E-FA4A0F3F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OCR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문장 분리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개인정보 가림</a:t>
            </a:r>
          </a:p>
        </p:txBody>
      </p:sp>
      <p:sp>
        <p:nvSpPr>
          <p:cNvPr id="15" name="arch-node-2">
            <a:extLst xmlns:a="http://schemas.openxmlformats.org/drawingml/2006/main">
              <a:ext uri="{FF2B5EF4-FFF2-40B4-BE49-F238E27FC236}">
                <a16:creationId xmlns:a16="http://schemas.microsoft.com/office/drawing/2014/main" id="{AB9ED297-BBAC-450F-BBCE-90419223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arch-title-2">
            <a:extLst xmlns:a="http://schemas.openxmlformats.org/drawingml/2006/main">
              <a:ext uri="{FF2B5EF4-FFF2-40B4-BE49-F238E27FC236}">
                <a16:creationId xmlns:a16="http://schemas.microsoft.com/office/drawing/2014/main" id="{8553CB91-6F4E-432B-BD41-4E1C953B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판단</a:t>
            </a:r>
          </a:p>
        </p:txBody>
      </p:sp>
      <p:sp>
        <p:nvSpPr>
          <p:cNvPr id="17" name="arch-body-2">
            <a:extLst xmlns:a="http://schemas.openxmlformats.org/drawingml/2006/main">
              <a:ext uri="{FF2B5EF4-FFF2-40B4-BE49-F238E27FC236}">
                <a16:creationId xmlns:a16="http://schemas.microsoft.com/office/drawing/2014/main" id="{F94E8C70-7C09-43AA-8049-091822EF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위험 규칙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사고 분류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긴급도</a:t>
            </a:r>
          </a:p>
        </p:txBody>
      </p:sp>
      <p:sp>
        <p:nvSpPr>
          <p:cNvPr id="18" name="arch-node-3">
            <a:extLst xmlns:a="http://schemas.openxmlformats.org/drawingml/2006/main">
              <a:ext uri="{FF2B5EF4-FFF2-40B4-BE49-F238E27FC236}">
                <a16:creationId xmlns:a16="http://schemas.microsoft.com/office/drawing/2014/main" id="{FCB00CA8-AD1D-474C-AA14-BCF52A60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arch-title-3">
            <a:extLst xmlns:a="http://schemas.openxmlformats.org/drawingml/2006/main">
              <a:ext uri="{FF2B5EF4-FFF2-40B4-BE49-F238E27FC236}">
                <a16:creationId xmlns:a16="http://schemas.microsoft.com/office/drawing/2014/main" id="{858BE11B-FFFC-4C59-9C62-FBB2279B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근거</a:t>
            </a:r>
          </a:p>
        </p:txBody>
      </p:sp>
      <p:sp>
        <p:nvSpPr>
          <p:cNvPr id="20" name="arch-body-3">
            <a:extLst xmlns:a="http://schemas.openxmlformats.org/drawingml/2006/main">
              <a:ext uri="{FF2B5EF4-FFF2-40B4-BE49-F238E27FC236}">
                <a16:creationId xmlns:a16="http://schemas.microsoft.com/office/drawing/2014/main" id="{6693FD55-8E58-4008-9FFB-4D3DF352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공식 기준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공식 FAQ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사례 검색</a:t>
            </a:r>
          </a:p>
        </p:txBody>
      </p:sp>
      <p:sp>
        <p:nvSpPr>
          <p:cNvPr id="21" name="arch-node-4">
            <a:extLst xmlns:a="http://schemas.openxmlformats.org/drawingml/2006/main">
              <a:ext uri="{FF2B5EF4-FFF2-40B4-BE49-F238E27FC236}">
                <a16:creationId xmlns:a16="http://schemas.microsoft.com/office/drawing/2014/main" id="{28F15357-3FF9-40AB-AB4F-19E8FDFF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arch-title-4">
            <a:extLst xmlns:a="http://schemas.openxmlformats.org/drawingml/2006/main">
              <a:ext uri="{FF2B5EF4-FFF2-40B4-BE49-F238E27FC236}">
                <a16:creationId xmlns:a16="http://schemas.microsoft.com/office/drawing/2014/main" id="{6D8F1A58-35C7-48EA-AC82-9E9354F9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출력</a:t>
            </a:r>
          </a:p>
        </p:txBody>
      </p:sp>
      <p:sp>
        <p:nvSpPr>
          <p:cNvPr id="23" name="arch-body-4">
            <a:extLst xmlns:a="http://schemas.openxmlformats.org/drawingml/2006/main">
              <a:ext uri="{FF2B5EF4-FFF2-40B4-BE49-F238E27FC236}">
                <a16:creationId xmlns:a16="http://schemas.microsoft.com/office/drawing/2014/main" id="{8D937737-0EC4-4A9C-8331-C104A754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쉬운 설명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행동 계획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문서·공유</a:t>
            </a:r>
          </a:p>
        </p:txBody>
      </p:sp>
      <p:sp>
        <p:nvSpPr>
          <p:cNvPr id="24" name="arch-stack">
            <a:extLst xmlns:a="http://schemas.openxmlformats.org/drawingml/2006/main">
              <a:ext uri="{FF2B5EF4-FFF2-40B4-BE49-F238E27FC236}">
                <a16:creationId xmlns:a16="http://schemas.microsoft.com/office/drawing/2014/main" id="{47B0050A-5FDC-46EE-A7FF-F805B0C4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Next.js + TypeScript  |  FastAPI + Python  |  Tesseract OCR  |  Web Speech API / Whisper  |  Docker</a:t>
            </a:r>
          </a:p>
        </p:txBody>
      </p:sp>
      <p:sp>
        <p:nvSpPr>
          <p:cNvPr id="25" name="arch-deploy">
            <a:extLst xmlns:a="http://schemas.openxmlformats.org/drawingml/2006/main">
              <a:ext uri="{FF2B5EF4-FFF2-40B4-BE49-F238E27FC236}">
                <a16:creationId xmlns:a16="http://schemas.microsoft.com/office/drawing/2014/main" id="{AB053670-3AF2-48FA-A215-DF9DB219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886450"/>
            <a:ext cx="771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프론트와 API를 단일 주소로 배포해 연결 오류를 줄였습니다.</a:t>
            </a:r>
          </a:p>
        </p:txBody>
      </p:sp>
    </p:spTree>
    <p:extLst>
      <p:ext uri="{BB962C8B-B14F-4D97-AF65-F5344CB8AC3E}">
        <p14:creationId xmlns:p14="http://schemas.microsoft.com/office/powerpoint/2010/main" val="10863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kicker-9">
            <a:extLst xmlns:a="http://schemas.openxmlformats.org/drawingml/2006/main">
              <a:ext uri="{FF2B5EF4-FFF2-40B4-BE49-F238E27FC236}">
                <a16:creationId xmlns:a16="http://schemas.microsoft.com/office/drawing/2014/main" id="{E70FAD09-22D3-4C46-8A20-6A49A627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PC·모바일 동시 지원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BF77BD9-22A7-4028-91DE-14BA7DC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1914414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집에서는 PC로 확인하고, 현장에서는 휴대폰으로 바로 대응합니다</a:t>
            </a:r>
          </a:p>
        </p:txBody>
      </p:sp>
      <p:cxnSp>
        <p:nvCxnSpPr>
          <p:cNvPr id="37" name="rule-9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82ACADB4-8A67-42D0-979E-02ED407A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09</a:t>
            </a:r>
          </a:p>
        </p:txBody>
      </p:sp>
      <p:sp>
        <p:nvSpPr>
          <p:cNvPr id="5" name="contrast-frame">
            <a:extLst xmlns:a="http://schemas.openxmlformats.org/drawingml/2006/main">
              <a:ext uri="{FF2B5EF4-FFF2-40B4-BE49-F238E27FC236}">
                <a16:creationId xmlns:a16="http://schemas.microsoft.com/office/drawing/2014/main" id="{E532DF26-58A9-417E-A7C1-0D608184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38300"/>
            <a:ext cx="4810125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그림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ce6b75ea8649d7"/>
          <a:srcRect xmlns:a="http://schemas.openxmlformats.org/drawingml/2006/main" l="0" t="18897" r="0" b="18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6982" y="1771650"/>
            <a:ext cx="3183912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bullet-mark-630-185-0">
            <a:extLst xmlns:a="http://schemas.openxmlformats.org/drawingml/2006/main">
              <a:ext uri="{FF2B5EF4-FFF2-40B4-BE49-F238E27FC236}">
                <a16:creationId xmlns:a16="http://schemas.microsoft.com/office/drawing/2014/main" id="{E88CCDD2-C762-488E-96C8-EA07572F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621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8" name="bullet-text-630-185-0">
            <a:extLst xmlns:a="http://schemas.openxmlformats.org/drawingml/2006/main">
              <a:ext uri="{FF2B5EF4-FFF2-40B4-BE49-F238E27FC236}">
                <a16:creationId xmlns:a16="http://schemas.microsoft.com/office/drawing/2014/main" id="{D915F3EA-05B0-4B72-BB4C-48F0FFB2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621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컴퓨터: 문서·근거·질문을 넓은 화면에서 비교</a:t>
            </a:r>
          </a:p>
        </p:txBody>
      </p:sp>
      <p:sp>
        <p:nvSpPr>
          <p:cNvPr id="9" name="bullet-mark-630-185-1">
            <a:extLst xmlns:a="http://schemas.openxmlformats.org/drawingml/2006/main">
              <a:ext uri="{FF2B5EF4-FFF2-40B4-BE49-F238E27FC236}">
                <a16:creationId xmlns:a16="http://schemas.microsoft.com/office/drawing/2014/main" id="{E283675C-4E10-44F9-937E-4907385E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28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0" name="bullet-text-630-185-1">
            <a:extLst xmlns:a="http://schemas.openxmlformats.org/drawingml/2006/main">
              <a:ext uri="{FF2B5EF4-FFF2-40B4-BE49-F238E27FC236}">
                <a16:creationId xmlns:a16="http://schemas.microsoft.com/office/drawing/2014/main" id="{08026571-D124-4C7B-B552-599A995F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모바일: 받은 문자와 사고 상황을 바로 입력</a:t>
            </a:r>
          </a:p>
        </p:txBody>
      </p:sp>
      <p:sp>
        <p:nvSpPr>
          <p:cNvPr id="11" name="bullet-mark-630-185-2">
            <a:extLst xmlns:a="http://schemas.openxmlformats.org/drawingml/2006/main">
              <a:ext uri="{FF2B5EF4-FFF2-40B4-BE49-F238E27FC236}">
                <a16:creationId xmlns:a16="http://schemas.microsoft.com/office/drawing/2014/main" id="{D8AB12F5-C2C7-4354-9C29-4E5EDBEC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956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2" name="bullet-text-630-185-2">
            <a:extLst xmlns:a="http://schemas.openxmlformats.org/drawingml/2006/main">
              <a:ext uri="{FF2B5EF4-FFF2-40B4-BE49-F238E27FC236}">
                <a16:creationId xmlns:a16="http://schemas.microsoft.com/office/drawing/2014/main" id="{FF27E508-FD73-43EF-A609-FFC0B85E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956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큰 글씨·고대비·큰 버튼을 모든 화면에 적용</a:t>
            </a:r>
          </a:p>
        </p:txBody>
      </p:sp>
      <p:sp>
        <p:nvSpPr>
          <p:cNvPr id="13" name="bullet-mark-630-185-3">
            <a:extLst xmlns:a="http://schemas.openxmlformats.org/drawingml/2006/main">
              <a:ext uri="{FF2B5EF4-FFF2-40B4-BE49-F238E27FC236}">
                <a16:creationId xmlns:a16="http://schemas.microsoft.com/office/drawing/2014/main" id="{088604B6-99AE-4CC5-86EA-D8B5D9DA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623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4" name="bullet-text-630-185-3">
            <a:extLst xmlns:a="http://schemas.openxmlformats.org/drawingml/2006/main">
              <a:ext uri="{FF2B5EF4-FFF2-40B4-BE49-F238E27FC236}">
                <a16:creationId xmlns:a16="http://schemas.microsoft.com/office/drawing/2014/main" id="{88500E68-3F89-44D4-B19F-89AD9728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623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계좌번호·주민번호·비밀번호 자동 경고·마스킹</a:t>
            </a:r>
          </a:p>
        </p:txBody>
      </p:sp>
      <p:sp>
        <p:nvSpPr>
          <p:cNvPr id="15" name="bullet-mark-630-185-4">
            <a:extLst xmlns:a="http://schemas.openxmlformats.org/drawingml/2006/main">
              <a:ext uri="{FF2B5EF4-FFF2-40B4-BE49-F238E27FC236}">
                <a16:creationId xmlns:a16="http://schemas.microsoft.com/office/drawing/2014/main" id="{CCA453C8-B26F-4253-A1CB-A6D892BD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291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6" name="bullet-text-630-185-4">
            <a:extLst xmlns:a="http://schemas.openxmlformats.org/drawingml/2006/main">
              <a:ext uri="{FF2B5EF4-FFF2-40B4-BE49-F238E27FC236}">
                <a16:creationId xmlns:a16="http://schemas.microsoft.com/office/drawing/2014/main" id="{C8FD89B9-72D0-4A28-A7CA-8606A38B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OCR·음성 인식 결과를 사용자가 직접 수정</a:t>
            </a:r>
          </a:p>
        </p:txBody>
      </p:sp>
      <p:sp>
        <p:nvSpPr>
          <p:cNvPr id="17" name="bullet-mark-630-185-5">
            <a:extLst xmlns:a="http://schemas.openxmlformats.org/drawingml/2006/main">
              <a:ext uri="{FF2B5EF4-FFF2-40B4-BE49-F238E27FC236}">
                <a16:creationId xmlns:a16="http://schemas.microsoft.com/office/drawing/2014/main" id="{BB798D8C-B2BB-418E-915F-A128A82A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95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•</a:t>
            </a:r>
          </a:p>
        </p:txBody>
      </p:sp>
      <p:sp>
        <p:nvSpPr>
          <p:cNvPr id="18" name="bullet-text-630-185-5">
            <a:extLst xmlns:a="http://schemas.openxmlformats.org/drawingml/2006/main">
              <a:ext uri="{FF2B5EF4-FFF2-40B4-BE49-F238E27FC236}">
                <a16:creationId xmlns:a16="http://schemas.microsoft.com/office/drawing/2014/main" id="{A89C9A82-F88F-4973-9C1F-51F33D1D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읽어주기와 개인정보 없는 보호자 공유</a:t>
            </a:r>
          </a:p>
        </p:txBody>
      </p:sp>
    </p:spTree>
    <p:extLst>
      <p:ext uri="{BB962C8B-B14F-4D97-AF65-F5344CB8AC3E}">
        <p14:creationId xmlns:p14="http://schemas.microsoft.com/office/powerpoint/2010/main" val="7069821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10">
            <a:extLst xmlns:a="http://schemas.openxmlformats.org/drawingml/2006/main">
              <a:ext uri="{FF2B5EF4-FFF2-40B4-BE49-F238E27FC236}">
                <a16:creationId xmlns:a16="http://schemas.microsoft.com/office/drawing/2014/main" id="{849F6676-7FD9-4BB9-9D94-EEE2AB9F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기술적 완성도와 검증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083B2354-FF42-4AB2-A75C-81698B8C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정확도만 보지 않고, 오탐과 실행 안정성까지 확인했습니다</a:t>
            </a:r>
          </a:p>
        </p:txBody>
      </p:sp>
      <p:cxnSp>
        <p:nvCxnSpPr>
          <p:cNvPr id="30" name="rule-10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10">
            <a:extLst xmlns:a="http://schemas.openxmlformats.org/drawingml/2006/main">
              <a:ext uri="{FF2B5EF4-FFF2-40B4-BE49-F238E27FC236}">
                <a16:creationId xmlns:a16="http://schemas.microsoft.com/office/drawing/2014/main" id="{CC0AFD14-A852-4216-A479-CA72CD10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5" name="eval-context">
            <a:extLst xmlns:a="http://schemas.openxmlformats.org/drawingml/2006/main">
              <a:ext uri="{FF2B5EF4-FFF2-40B4-BE49-F238E27FC236}">
                <a16:creationId xmlns:a16="http://schemas.microsoft.com/office/drawing/2014/main" id="{CDA32122-FE74-47FF-9DF5-B38F1619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8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위험 문장과 정상 문장을 같은 평가표에 넣고, 자동 테스트·정적 검사·프로덕션 빌드까지 반복 검증했습니다.</a:t>
            </a:r>
          </a:p>
        </p:txBody>
      </p:sp>
      <p:sp>
        <p:nvSpPr>
          <p:cNvPr id="6" name="eval-panel-0">
            <a:extLst xmlns:a="http://schemas.openxmlformats.org/drawingml/2006/main">
              <a:ext uri="{FF2B5EF4-FFF2-40B4-BE49-F238E27FC236}">
                <a16:creationId xmlns:a16="http://schemas.microsoft.com/office/drawing/2014/main" id="{FE4C2B2C-90DC-4CE7-8BE5-664A17E6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eval-value-0">
            <a:extLst xmlns:a="http://schemas.openxmlformats.org/drawingml/2006/main">
              <a:ext uri="{FF2B5EF4-FFF2-40B4-BE49-F238E27FC236}">
                <a16:creationId xmlns:a16="http://schemas.microsoft.com/office/drawing/2014/main" id="{3FEB0E96-1B23-4CA9-AE4F-BE29D765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40</a:t>
            </a:r>
          </a:p>
        </p:txBody>
      </p:sp>
      <p:sp>
        <p:nvSpPr>
          <p:cNvPr id="8" name="eval-label-0">
            <a:extLst xmlns:a="http://schemas.openxmlformats.org/drawingml/2006/main">
              <a:ext uri="{FF2B5EF4-FFF2-40B4-BE49-F238E27FC236}">
                <a16:creationId xmlns:a16="http://schemas.microsoft.com/office/drawing/2014/main" id="{04DE93E6-F724-406E-A04A-43A8D939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내부 평가 문장</a:t>
            </a:r>
          </a:p>
        </p:txBody>
      </p:sp>
      <p:sp>
        <p:nvSpPr>
          <p:cNvPr id="9" name="eval-panel-1">
            <a:extLst xmlns:a="http://schemas.openxmlformats.org/drawingml/2006/main">
              <a:ext uri="{FF2B5EF4-FFF2-40B4-BE49-F238E27FC236}">
                <a16:creationId xmlns:a16="http://schemas.microsoft.com/office/drawing/2014/main" id="{8340090B-58B4-4A7A-8EF0-EC12C4B7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eval-value-1">
            <a:extLst xmlns:a="http://schemas.openxmlformats.org/drawingml/2006/main">
              <a:ext uri="{FF2B5EF4-FFF2-40B4-BE49-F238E27FC236}">
                <a16:creationId xmlns:a16="http://schemas.microsoft.com/office/drawing/2014/main" id="{B809B8C8-D774-4591-9C5E-D59B3BB1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100%</a:t>
            </a:r>
          </a:p>
        </p:txBody>
      </p:sp>
      <p:sp>
        <p:nvSpPr>
          <p:cNvPr id="11" name="eval-label-1">
            <a:extLst xmlns:a="http://schemas.openxmlformats.org/drawingml/2006/main">
              <a:ext uri="{FF2B5EF4-FFF2-40B4-BE49-F238E27FC236}">
                <a16:creationId xmlns:a16="http://schemas.microsoft.com/office/drawing/2014/main" id="{AE6DDE58-9BEB-4DCA-BF02-1D29D817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위험 문장 탐지율</a:t>
            </a:r>
          </a:p>
        </p:txBody>
      </p:sp>
      <p:sp>
        <p:nvSpPr>
          <p:cNvPr id="12" name="eval-panel-2">
            <a:extLst xmlns:a="http://schemas.openxmlformats.org/drawingml/2006/main">
              <a:ext uri="{FF2B5EF4-FFF2-40B4-BE49-F238E27FC236}">
                <a16:creationId xmlns:a16="http://schemas.microsoft.com/office/drawing/2014/main" id="{996187CF-BC19-40F1-B1F4-ACAED6F6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eval-value-2">
            <a:extLst xmlns:a="http://schemas.openxmlformats.org/drawingml/2006/main">
              <a:ext uri="{FF2B5EF4-FFF2-40B4-BE49-F238E27FC236}">
                <a16:creationId xmlns:a16="http://schemas.microsoft.com/office/drawing/2014/main" id="{AA968494-E52D-49F0-A10D-74A521EC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B53225"/>
                </a:solidFill>
                <a:latin typeface="NanumGothic"/>
                <a:ea typeface="NanumGothic"/>
                <a:cs typeface="NanumGothic"/>
              </a:defRPr>
            </a:pPr>
            <a:r>
              <a:rPr sz="4950" b="1">
                <a:solidFill>
                  <a:srgbClr val="B53225"/>
                </a:solidFill>
                <a:latin typeface="NanumGothic"/>
                <a:ea typeface="NanumGothic"/>
                <a:cs typeface="NanumGothic"/>
              </a:rPr>
              <a:t>0%</a:t>
            </a:r>
          </a:p>
        </p:txBody>
      </p:sp>
      <p:sp>
        <p:nvSpPr>
          <p:cNvPr id="14" name="eval-label-2">
            <a:extLst xmlns:a="http://schemas.openxmlformats.org/drawingml/2006/main">
              <a:ext uri="{FF2B5EF4-FFF2-40B4-BE49-F238E27FC236}">
                <a16:creationId xmlns:a16="http://schemas.microsoft.com/office/drawing/2014/main" id="{ACA27325-7D24-40AB-83D9-1B35DCBA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정상 문장 오탐률</a:t>
            </a:r>
          </a:p>
        </p:txBody>
      </p:sp>
      <p:sp>
        <p:nvSpPr>
          <p:cNvPr id="15" name="eval-tests">
            <a:extLst xmlns:a="http://schemas.openxmlformats.org/drawingml/2006/main">
              <a:ext uri="{FF2B5EF4-FFF2-40B4-BE49-F238E27FC236}">
                <a16:creationId xmlns:a16="http://schemas.microsoft.com/office/drawing/2014/main" id="{CF013CC8-5071-465B-9F7B-76470CE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531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자동 테스트 22개 통과  ·  TypeScript 검사 통과  ·  정식 빌드 통과  ·  높은 등급 취약점 0개</a:t>
            </a:r>
          </a:p>
        </p:txBody>
      </p:sp>
    </p:spTree>
    <p:extLst>
      <p:ext uri="{BB962C8B-B14F-4D97-AF65-F5344CB8AC3E}">
        <p14:creationId xmlns:p14="http://schemas.microsoft.com/office/powerpoint/2010/main" val="121978362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-11">
            <a:extLst xmlns:a="http://schemas.openxmlformats.org/drawingml/2006/main">
              <a:ext uri="{FF2B5EF4-FFF2-40B4-BE49-F238E27FC236}">
                <a16:creationId xmlns:a16="http://schemas.microsoft.com/office/drawing/2014/main" id="{04DBB9D9-53C5-4870-A4E0-9229A0EA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개발 계획의 구체성과 실현 가능성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EDDEDAEC-93A1-4430-A517-97AFC5B5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설계부터 배포까지 일반 개발 절차로 완성했습니다</a:t>
            </a:r>
          </a:p>
        </p:txBody>
      </p:sp>
      <p:cxnSp>
        <p:nvCxnSpPr>
          <p:cNvPr id="50" name="rule-11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11">
            <a:extLst xmlns:a="http://schemas.openxmlformats.org/drawingml/2006/main">
              <a:ext uri="{FF2B5EF4-FFF2-40B4-BE49-F238E27FC236}">
                <a16:creationId xmlns:a16="http://schemas.microsoft.com/office/drawing/2014/main" id="{EF750B22-73DC-486A-9378-B4F08132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cxnSp>
        <p:nvCxnSpPr>
          <p:cNvPr id="52" name="roadmap-line"/>
          <p:cNvCxnSpPr/>
          <p:nvPr/>
        </p:nvCxnSpPr>
        <p:spPr>
          <a:xfrm xmlns:a="http://schemas.openxmlformats.org/drawingml/2006/main">
            <a:off x="904875" y="3333750"/>
            <a:ext cx="10287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0"/>
            </a:solidFill>
            <a:prstDash val="solid"/>
          </a:ln>
        </p:spPr>
      </p:cxnSp>
      <p:sp>
        <p:nvSpPr>
          <p:cNvPr id="6" name="roadmap-dot-0">
            <a:extLst xmlns:a="http://schemas.openxmlformats.org/drawingml/2006/main">
              <a:ext uri="{FF2B5EF4-FFF2-40B4-BE49-F238E27FC236}">
                <a16:creationId xmlns:a16="http://schemas.microsoft.com/office/drawing/2014/main" id="{0328BAF7-A5B1-4C63-A80E-1A5A98EB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oadmap-num-0">
            <a:extLst xmlns:a="http://schemas.openxmlformats.org/drawingml/2006/main">
              <a:ext uri="{FF2B5EF4-FFF2-40B4-BE49-F238E27FC236}">
                <a16:creationId xmlns:a16="http://schemas.microsoft.com/office/drawing/2014/main" id="{FD1AB789-A203-40DC-A4F6-D62A15D1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8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DF3DB2D0-A380-491B-A3F9-0D16218E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문제·UX 설계</a:t>
            </a:r>
          </a:p>
        </p:txBody>
      </p:sp>
      <p:sp>
        <p:nvSpPr>
          <p:cNvPr id="9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2A8AA07-1DB5-4623-B576-A4BE62FE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시나리오·명세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API·ERD</a:t>
            </a:r>
          </a:p>
        </p:txBody>
      </p:sp>
      <p:sp>
        <p:nvSpPr>
          <p:cNvPr id="10" name="roadmap-dot-1">
            <a:extLst xmlns:a="http://schemas.openxmlformats.org/drawingml/2006/main">
              <a:ext uri="{FF2B5EF4-FFF2-40B4-BE49-F238E27FC236}">
                <a16:creationId xmlns:a16="http://schemas.microsoft.com/office/drawing/2014/main" id="{13C1409F-9EAA-4775-9A5E-880C7F18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admap-num-1">
            <a:extLst xmlns:a="http://schemas.openxmlformats.org/drawingml/2006/main">
              <a:ext uri="{FF2B5EF4-FFF2-40B4-BE49-F238E27FC236}">
                <a16:creationId xmlns:a16="http://schemas.microsoft.com/office/drawing/2014/main" id="{C191DBB0-A6C9-41A2-925D-8474825D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2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D5E4C21B-F43F-4EEE-8F1C-AD3AB55D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공식 데이터</a:t>
            </a:r>
          </a:p>
        </p:txBody>
      </p:sp>
      <p:sp>
        <p:nvSpPr>
          <p:cNvPr id="13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A5740CB9-F608-478C-9E20-6709E664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수집·정제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출처 레지스트리</a:t>
            </a:r>
          </a:p>
        </p:txBody>
      </p:sp>
      <p:sp>
        <p:nvSpPr>
          <p:cNvPr id="14" name="roadmap-dot-2">
            <a:extLst xmlns:a="http://schemas.openxmlformats.org/drawingml/2006/main">
              <a:ext uri="{FF2B5EF4-FFF2-40B4-BE49-F238E27FC236}">
                <a16:creationId xmlns:a16="http://schemas.microsoft.com/office/drawing/2014/main" id="{8596A802-E0D8-4827-A272-B2C236DF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roadmap-num-2">
            <a:extLst xmlns:a="http://schemas.openxmlformats.org/drawingml/2006/main">
              <a:ext uri="{FF2B5EF4-FFF2-40B4-BE49-F238E27FC236}">
                <a16:creationId xmlns:a16="http://schemas.microsoft.com/office/drawing/2014/main" id="{80DF5E9B-5390-4E46-93B1-7B78BA80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6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20D83DA7-A781-4E15-8992-18539EF2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핵심 엔진</a:t>
            </a:r>
          </a:p>
        </p:txBody>
      </p:sp>
      <p:sp>
        <p:nvSpPr>
          <p:cNvPr id="17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E79B2295-0029-40D2-AB4C-11CC57DD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위험 탐지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사고 대응</a:t>
            </a:r>
          </a:p>
        </p:txBody>
      </p:sp>
      <p:sp>
        <p:nvSpPr>
          <p:cNvPr id="18" name="roadmap-dot-3">
            <a:extLst xmlns:a="http://schemas.openxmlformats.org/drawingml/2006/main">
              <a:ext uri="{FF2B5EF4-FFF2-40B4-BE49-F238E27FC236}">
                <a16:creationId xmlns:a16="http://schemas.microsoft.com/office/drawing/2014/main" id="{A005A72B-88DB-40F3-9477-235579EE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roadmap-num-3">
            <a:extLst xmlns:a="http://schemas.openxmlformats.org/drawingml/2006/main">
              <a:ext uri="{FF2B5EF4-FFF2-40B4-BE49-F238E27FC236}">
                <a16:creationId xmlns:a16="http://schemas.microsoft.com/office/drawing/2014/main" id="{9F07127B-BB27-4F16-9CC2-0D4FA108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0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4EB4905E-DD29-4C37-8940-509C1EA7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고령층 UX</a:t>
            </a:r>
          </a:p>
        </p:txBody>
      </p:sp>
      <p:sp>
        <p:nvSpPr>
          <p:cNvPr id="21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8A954ADB-01E9-4416-B2C8-709FC13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접근성·보호자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개인정보</a:t>
            </a:r>
          </a:p>
        </p:txBody>
      </p:sp>
      <p:sp>
        <p:nvSpPr>
          <p:cNvPr id="22" name="roadmap-dot-4">
            <a:extLst xmlns:a="http://schemas.openxmlformats.org/drawingml/2006/main">
              <a:ext uri="{FF2B5EF4-FFF2-40B4-BE49-F238E27FC236}">
                <a16:creationId xmlns:a16="http://schemas.microsoft.com/office/drawing/2014/main" id="{68F7C141-20D2-4DA7-9CF3-C113DB05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322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admap-num-4">
            <a:extLst xmlns:a="http://schemas.openxmlformats.org/drawingml/2006/main">
              <a:ext uri="{FF2B5EF4-FFF2-40B4-BE49-F238E27FC236}">
                <a16:creationId xmlns:a16="http://schemas.microsoft.com/office/drawing/2014/main" id="{89637F86-0615-4F6D-A2EC-0A439AA1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B53225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B53225"/>
                </a:solidFill>
                <a:latin typeface="NanumGothic"/>
                <a:ea typeface="NanumGothic"/>
                <a:cs typeface="NanumGothic"/>
              </a:rPr>
              <a:t>05</a:t>
            </a:r>
          </a:p>
        </p:txBody>
      </p:sp>
      <p:sp>
        <p:nvSpPr>
          <p:cNvPr id="24" name="roadmap-title-4">
            <a:extLst xmlns:a="http://schemas.openxmlformats.org/drawingml/2006/main">
              <a:ext uri="{FF2B5EF4-FFF2-40B4-BE49-F238E27FC236}">
                <a16:creationId xmlns:a16="http://schemas.microsoft.com/office/drawing/2014/main" id="{A05ABE81-C5F0-4F52-BA55-20200177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검증·배포</a:t>
            </a:r>
          </a:p>
        </p:txBody>
      </p:sp>
      <p:sp>
        <p:nvSpPr>
          <p:cNvPr id="25" name="roadmap-body-4">
            <a:extLst xmlns:a="http://schemas.openxmlformats.org/drawingml/2006/main">
              <a:ext uri="{FF2B5EF4-FFF2-40B4-BE49-F238E27FC236}">
                <a16:creationId xmlns:a16="http://schemas.microsoft.com/office/drawing/2014/main" id="{142E8310-CC1D-4FDF-9F8B-855EA83A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테스트·보안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Docker 배포</a:t>
            </a:r>
          </a:p>
        </p:txBody>
      </p:sp>
      <p:sp>
        <p:nvSpPr>
          <p:cNvPr id="26" name="roadmap-live">
            <a:extLst xmlns:a="http://schemas.openxmlformats.org/drawingml/2006/main">
              <a:ext uri="{FF2B5EF4-FFF2-40B4-BE49-F238E27FC236}">
                <a16:creationId xmlns:a16="http://schemas.microsoft.com/office/drawing/2014/main" id="{37BDF3E1-3F65-49AA-A0FC-D140EDFA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roadmap-live-text">
            <a:extLst xmlns:a="http://schemas.openxmlformats.org/drawingml/2006/main">
              <a:ext uri="{FF2B5EF4-FFF2-40B4-BE49-F238E27FC236}">
                <a16:creationId xmlns:a16="http://schemas.microsoft.com/office/drawing/2014/main" id="{5C314B65-FF74-4411-AF74-7BDD3B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51497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B4A73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B4A73"/>
                </a:solidFill>
                <a:latin typeface="NanumGothic"/>
                <a:ea typeface="NanumGothic"/>
                <a:cs typeface="NanumGothic"/>
              </a:rPr>
              <a:t>제출용 프로토타입 실행 확인  ·  Docker 기반 배포 구성 완료</a:t>
            </a:r>
          </a:p>
        </p:txBody>
      </p:sp>
    </p:spTree>
    <p:extLst>
      <p:ext uri="{BB962C8B-B14F-4D97-AF65-F5344CB8AC3E}">
        <p14:creationId xmlns:p14="http://schemas.microsoft.com/office/powerpoint/2010/main" val="20513498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E855479-4675-4D8C-9751-B866F8AB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6B57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0B6B57"/>
                </a:solidFill>
                <a:latin typeface="NanumGothic"/>
                <a:ea typeface="NanumGothic"/>
                <a:cs typeface="NanumGothic"/>
              </a:rPr>
              <a:t>실버 금융가드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5113D18-1F64-4D02-8D6E-57FA7316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876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465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알아듣기 어려운 금융을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11820"/>
                </a:solidFill>
                <a:latin typeface="NanumGothic"/>
                <a:ea typeface="NanumGothic"/>
                <a:cs typeface="NanumGothic"/>
              </a:defRPr>
            </a:pPr>
            <a:r>
              <a:rPr sz="4650" b="1">
                <a:solidFill>
                  <a:srgbClr val="111820"/>
                </a:solidFill>
                <a:latin typeface="NanumGothic"/>
                <a:ea typeface="NanumGothic"/>
                <a:cs typeface="NanumGothic"/>
              </a:rPr>
              <a:t>바로 행동할 수 있는 보호로</a:t>
            </a:r>
          </a:p>
        </p:txBody>
      </p:sp>
      <p:sp>
        <p:nvSpPr>
          <p:cNvPr id="3" name="close-pitch">
            <a:extLst xmlns:a="http://schemas.openxmlformats.org/drawingml/2006/main">
              <a:ext uri="{FF2B5EF4-FFF2-40B4-BE49-F238E27FC236}">
                <a16:creationId xmlns:a16="http://schemas.microsoft.com/office/drawing/2014/main" id="{74098822-B3AD-49BA-BE3F-C607539A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87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사전 경고 · 골든타임 대응 · 공식 근거 · PC·모바일 접근성 · 보호자 연결</a:t>
            </a:r>
          </a:p>
        </p:txBody>
      </p:sp>
      <p:sp>
        <p:nvSpPr>
          <p:cNvPr id="4" name="close-url-box">
            <a:extLst xmlns:a="http://schemas.openxmlformats.org/drawingml/2006/main">
              <a:ext uri="{FF2B5EF4-FFF2-40B4-BE49-F238E27FC236}">
                <a16:creationId xmlns:a16="http://schemas.microsoft.com/office/drawing/2014/main" id="{98D9AD8C-1F41-4151-9287-475A33C6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00625"/>
            <a:ext cx="11191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close-url">
            <a:extLst xmlns:a="http://schemas.openxmlformats.org/drawingml/2006/main">
              <a:ext uri="{FF2B5EF4-FFF2-40B4-BE49-F238E27FC236}">
                <a16:creationId xmlns:a16="http://schemas.microsoft.com/office/drawing/2014/main" id="{9B6A033B-030F-4B5E-B493-4438053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1064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환경: PC · 모바일 웹 브라우저</a:t>
            </a:r>
          </a:p>
        </p:txBody>
      </p:sp>
      <p:sp>
        <p:nvSpPr>
          <p:cNvPr id="6" name="close-repo">
            <a:extLst xmlns:a="http://schemas.openxmlformats.org/drawingml/2006/main">
              <a:ext uri="{FF2B5EF4-FFF2-40B4-BE49-F238E27FC236}">
                <a16:creationId xmlns:a16="http://schemas.microsoft.com/office/drawing/2014/main" id="{B11D5DFE-3D12-438A-91A7-547D609C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24550"/>
            <a:ext cx="1119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8636F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8636F"/>
                </a:solidFill>
                <a:latin typeface="NanumGothic"/>
                <a:ea typeface="NanumGothic"/>
                <a:cs typeface="NanumGothic"/>
              </a:rPr>
              <a:t>제출 자료: 기술설명서 · 프로토타입 · 소스 코드</a:t>
            </a:r>
          </a:p>
        </p:txBody>
      </p:sp>
    </p:spTree>
    <p:extLst>
      <p:ext uri="{BB962C8B-B14F-4D97-AF65-F5344CB8AC3E}">
        <p14:creationId xmlns:p14="http://schemas.microsoft.com/office/powerpoint/2010/main" val="2756291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2026-08-01T17:00:38.0340000Z</dcterms:created>
  <dcterms:modified xsi:type="dcterms:W3CDTF">2026-08-01T17:00:38.0340000Z</dcterms:modified>
</coreProperties>
</file>